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10% = 직접 입점 / 5% = 중개(사무국이 대신 등록·운영) — fee-resolver.ts, platform_fee_pct_direct·brokered 라이브 실측 2026-10-06. 오른쪽은 urdeal.kr 홈 라이브 캡처(홈이 지도다).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덱의 심장. 개별 가게 광고가 아니라 "회비로 모아 쓴 공동 사업" 과 비교한다. 비교 축은 돈이 나가는 시점·오는 사람·혜택 범위·측정 가능성 넷뿐이고 성과 수치는 전부 배제했다.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장 전부 urdeal.kr 라이브 캡처. 이용권은 즉시판매 단일가(공동구매로 모이는 구조가 아니다 — groupbuy-instant-sale.md). 사용은 QR 또는 확인코드.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10% 는 직접 입점 기준(platform_fee_pct_direct=10, fee_channel_rates_enabled=true · 2026-10-06 라이브 실측). 카드 수수료는 유어딜 몫 안에서 부담(commission-budget.ts pg_reserve). 정산 수수료 0: payouts-generate.ts 가 net 그대로 보낸다.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상품 2915(홍대 돈가스 버크셔) 2026-10-12 D1 실측: 정가 14,500 / 판매가 7,500 → 수수료 750 → 입금 6,750. 값은 deck-common FACTS.sample* 하나에서 온다. 사용분만 정산: platform_settings.payout_requires_voucher_use=true(실측). 만료 미사용분 100% 환불: auto-settlement.ts handleExpiredVoucherRefunds.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09-15 참고 덱 "이런 브랜드에게 추천합니다" 장치. 네 번째(미사용분 환불)는 가게에 불리한 사실이고 그래서 먼저 말한다. 시간대 제한: 이용권 메뉴·사용 조건 필드. 수량 자동 마감: group_buy_max.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 처리: group-buy-voucher.routes.ts(QR + store_code 확인코드, 1회 소각). 오른쪽은 /seller/scan 실제 UI 를 예시 데이터로 렌더한 캡처. 인출선은 쓰지 않았다 — 이 캡처의 좌표를 실측하지 않았고, 안 맞는 인출선은 없는 것보다 나쁘다.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payouts-generate.ts: 주간 집계, 최소 1만원 이월, 승인·송금은 사람이 한다. 사용분만: platform_settings.payout_requires_voucher_use=true(2026-10-06 실측). 계좌 변경 owner 전용: store-operator-model §9.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홈이 지도: HomeRoute → RestaurantMapPage(모바일). 도시별 페이지: REGION_PAGES_ENABLED=true, /region/*. 온누리 뱃지: seller_meta.onnuri_merchant=1 → 상세 enrich(detail-meta-enrich.ts). ⚠️ 상권 단위 묶음 페이지는 없다 — 그 사실을 슬라이드가 직접 말한다. 노출·트래픽은 약속하지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숫자: /api/admin/ads/influencer-pool/stats 2026-10-12 실측(total 337,842 · with_contact 65,431 · naver_blog 299,363 · youtube 20,584) — FACTS 가 단일 출처라 슬라이드는 자동 갱신된다. 소개비는 매장이 정하고 매장 몫에서 나간다(broker-share.ts 머리말 · actor-benefit-map Q2-1). 캡처는 연락처를 가린 상태.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직접 10% / 중개 5%: fee-resolver.ts, platform_fee_pct_direct·brokered(2026-10-06 실측 켜짐). 소유자 지정·계좌 owner 전용: store-operator-model §7·§9. "유어딜이 대신 만들어 드립니다" 는 대표 운영 약속. 상인회 몫의 구조는 다음 장이 숫자로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구조: broker-share.ts — 재원은 매장 몫(debit seller:{id}), 유어딜 5% 불변. 상한 BROKER_SHARE_PCT_MAX=50 · BROKER_TERMS_SUM_MAX=90. 적립 레일은 인플루언서와 같다(influencer_attributions source=broker_share → 성숙·원천징수·지급센터 그대로). ✅ 2026-10-12 라이브 실측: broker_share_enabled=true 이고 influencer_attributions(source=broker_share) **1행**(seller 26 · 620원 · pending · 10-07) — 10-06 의 0행에서 바뀌었다. 슬라이드도 "적립 1건 · 송금은 아직" 으로 고쳤다(적립≠송금: 성숙은 payout_requires_voucher_use=true 게이트, 송금은 어드민 [송금 처리]). 대행사 덱 §14 도 같은 커밋에서 뒤집었다 — 두 덱이 어긋나지 않는다. 최소 지급액 10만원도 두 덱에 같이 적었다(중개 몫은 인플루언서 레일이라 매장 레일의 1만원과 다르다 — cron/influencer-payout.ts DEFAULT_PAYOUT_MIN=100_000 · 라이브 influencer_payout_min=100000).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필드는 seller-stores.routes.ts 실재(채널·국세청 확인·등록증·소유자 코드). 자동 승인은 없다(three-decks-plan §0-4 "약속 금지"). 승인 소요는 현장 운영 기준이고 코드가 보장하는 값이 아니다. 캡처 둘은 /store/new 실제 UI 를 예시 데이터로 렌더한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입점 요청 장. 요청 셋은 상인회가 할 수 있는 최소 행동으로 잡았다(설득은 우리가 한다). 숫자는 FACTS(2026-10-12 실측): 활성 이용권 359건 중 이용권을 올린 실제 매장 2건(홍대돈까스 seller 14 · 달빛한스푼 seller 26 — 둘 다 결제 주문 1건씩 있다). 승인 매장은 10곳이지만 그중 2곳이 [테스트] 계정이고 중복·장소명도 섞여 있어 **슬라이드에 안 쓴다**(deck-common FACTS 주석 참조). 노출·트래픽은 약속하지 않고 "첫 자리" 라는 순서만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약속하는 것은 "숫자를 보여 준다" 하나뿐이다. 연락처는 FACTS. 오른쪽은 유어샵 라이브 캡처.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673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우리동네 이용권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240280"/>
            <a:ext cx="5120640" cy="12865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393832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상인회 서비스 소개서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448696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 회원 매장에 드리는 서비스 소개와 입점 요청입니다.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내는 돈 없이, 팔린 뒤에만 수수료 10%.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85800" y="5989320"/>
            <a:ext cx="1082009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61081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리스터코퍼레이션 · 사업자등록번호 479-09-02930 · urdeal.kr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762695" y="61081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10월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3276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문서의 내용을 무단으로 복제·전재·재배포할 수 없습니다.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상인회 소개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14300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spc="-14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상권에 손님을 부르는 일,</a:t>
            </a:r>
            <a:endParaRPr lang="en-US" sz="3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600" b="1" spc="-14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이번에는 돈을 먼저 쓰지 않으셔도 됩니다.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9718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 매장이 미리 내는 돈은 0원입니다. 손님이 먼저 결제하고 가게로 옵니다.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474720"/>
            <a:ext cx="6949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공동 전단, 상권 축제, 배달앱 쿠폰. 지금까지는 상인회가 비용을 먼저 모아 쓰고, 효과는 끝난 뒤에 짐작했습니다. 유어딜은 우리 가게 이용권을 온라인에서 할인가로 미리 파는 곳입니다. 손님이 결제를 마치고 그 표를 들고 가게에 옵니다. 사장님이 내는 것은 팔린 이용권의 수수료 10%, 그것이 전부입니다.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846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2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0원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5486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 매장이 미리 내는 돈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3017520" y="4846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2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10%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3017520" y="5486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팔린 뒤에만 내는 수수료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349240" y="4846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2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5%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5349240" y="5486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상인회가 대신 운영하면</a:t>
            </a:r>
            <a:endParaRPr lang="en-US" sz="10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8002" y="747042"/>
            <a:ext cx="2997247" cy="57296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6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상인회 소개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spc="-12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상인회와 함께하는가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1546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상권이 지금까지 써 온 방식과 무엇이 다른지 먼저 말씀드립니다. 숫자와 조건을 앞에 놓고 시작하겠습니다.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4114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4114800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지금까지의 방식과 다른 점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44622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4462272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유어딜이 하는 일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480974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4809744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겪는 네 단계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· 왜 상인회와 함께하는가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상인회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지금까지는 상인회가 돈을 먼저 모아 썼습니다.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효과를 확인할 방법이 없으면 다음 해에도 같은 결정을 반복하게 됩니다.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39572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3063240" y="2395728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돈이 나가는 시점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239572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오는 사람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2395728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혜택이 닿는 범위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0241280" y="2395728"/>
            <a:ext cx="11000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 확인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85800" y="2688336"/>
            <a:ext cx="1082009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276148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공동 전단·현수막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2761488"/>
            <a:ext cx="2350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제작비 선지불 (회비)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577840" y="276148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 수 없음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955280" y="2761488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전단에 실린 몇 집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10241280" y="2761488"/>
            <a:ext cx="110002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 수 없음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85800" y="3255264"/>
            <a:ext cx="1082009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329184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 축제·행사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063240" y="3291840"/>
            <a:ext cx="2350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행사비 선지불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577840" y="329184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그날 지나간 사람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7955280" y="3291840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부스를 낸 집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10241280" y="3291840"/>
            <a:ext cx="110002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당일 체감뿐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85800" y="3785616"/>
            <a:ext cx="1082009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" y="3822192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배달앱 쿠폰·광고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3063240" y="3822192"/>
            <a:ext cx="2350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매달 광고비 선지불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5577840" y="3822192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클릭한 사람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7955280" y="3822192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따로 가입한 집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10241280" y="3822192"/>
            <a:ext cx="110002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클릭 수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85800" y="4315968"/>
            <a:ext cx="1082009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5800" y="4352544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체험단·블로그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3063240" y="4352544"/>
            <a:ext cx="2350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대행비 선지불에 무료 식사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5577840" y="4352544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공짜로 먹으러 온 체험단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7955280" y="4352544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섭외된 집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10241280" y="4352544"/>
            <a:ext cx="110002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후기 몇 개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85800" y="4846320"/>
            <a:ext cx="1082009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48640" y="4846320"/>
            <a:ext cx="11094415" cy="530352"/>
          </a:xfrm>
          <a:prstGeom prst="roundRect">
            <a:avLst>
              <a:gd name="adj" fmla="val 17241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85800" y="4882896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3063240" y="4882896"/>
            <a:ext cx="2350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팔린 뒤에만 수수료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5577840" y="4882896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결제까지 마친 손님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7955280" y="4882896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등록한 모든 회원 매장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10241280" y="4882896"/>
            <a:ext cx="110002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몇 장 팔렸고 몇 명 왔는지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685800" y="5669280"/>
            <a:ext cx="10820095" cy="548640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005840" y="56692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-30" kern="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지금까지는 상인회가 먼저 돈을 냈습니다. </a:t>
            </a:r>
            <a:pPr algn="ctr"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유어딜은 손님이 먼저 냅니다. 안 팔리면 아무도 아무것도 내지 않습니다.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· 왜 상인회와 함께하는가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상인회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배달앱이 아닙니다. 우리 가게로 오게 하는 표를 미리 파는 곳입니다.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19072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온라인에서 할인가로 사고, 그 표를 들고 가게에 와서 씁니다. 배달도 택배도 반품도 없습니다.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242465" y="2130552"/>
            <a:ext cx="365760" cy="365760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242465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29" y="2543109"/>
            <a:ext cx="1787832" cy="34177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0040" y="5952744"/>
            <a:ext cx="2210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찾기: 홈에서 동네 이용권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356133" y="2130552"/>
            <a:ext cx="365760" cy="365760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356133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5098" y="2543109"/>
            <a:ext cx="1787832" cy="341770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433709" y="5952744"/>
            <a:ext cx="2210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결제: 정가와 할인가를 함께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469802" y="2130552"/>
            <a:ext cx="365760" cy="365760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469802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766" y="2543109"/>
            <a:ext cx="1787832" cy="34177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547377" y="5952744"/>
            <a:ext cx="2210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발급: 결제 즉시 내 이용권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10583470" y="2130552"/>
            <a:ext cx="365760" cy="365760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10583470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2435" y="2543109"/>
            <a:ext cx="1787832" cy="341770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661046" y="5952744"/>
            <a:ext cx="2210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사용: 매장에서 QR 또는 확인코드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6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상인회 소개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spc="-12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매장이 내는 것과 받는 것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1546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수수료 하나뿐입니다. 가입비도 월 이용료도 광고비도 없습니다. 숨은 비용이 있는지 한 장에 모아 보여 드립니다.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4114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4114800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한 장의 돈 흐름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44622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4462272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팔리는 실제 이용권으로 계산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480974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4809744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설명회에서 가장 많이 나오는 질문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51572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5157216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사장님이 하는 일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0" y="55046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955280" y="5504688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· 매장이 내는 것과 받는 것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상인회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10,000원짜리 이용권 한 장이 팔리면 이렇게 됩니다.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685800" y="1965960"/>
            <a:ext cx="493776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78408" y="2130552"/>
            <a:ext cx="4352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장이 팔릴 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978408" y="2450592"/>
            <a:ext cx="27856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결제한 금액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3372307" y="2450592"/>
            <a:ext cx="195864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10,000원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78408" y="2843784"/>
            <a:ext cx="4352544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78408" y="2871216"/>
            <a:ext cx="27856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수수료 10%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3372307" y="2871216"/>
            <a:ext cx="195864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−1,000원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78408" y="3291840"/>
            <a:ext cx="27856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수수료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3372307" y="3291840"/>
            <a:ext cx="195864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0원 (유어딜이 냅니다)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78408" y="3685032"/>
            <a:ext cx="4352544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78408" y="3712464"/>
            <a:ext cx="27856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 계좌에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3372307" y="3712464"/>
            <a:ext cx="195864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9,000원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446227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수수료(현재 약 2.75%, 카드사 정책에 따라 바뀔 수 있음)는 유어딜이 자기 몫 안에서 냅니다.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989320" y="1965960"/>
            <a:ext cx="5516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숨은 비용이 있는지 한 줄씩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989320" y="228600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8275320" y="22860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흔한 오해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9692640" y="2286000"/>
            <a:ext cx="1676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989320" y="2560320"/>
            <a:ext cx="551657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989320" y="2615184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가입비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275320" y="2615184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있겠지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9692640" y="2615184"/>
            <a:ext cx="167609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0원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989320" y="3008376"/>
            <a:ext cx="551657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989320" y="3044952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이용료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275320" y="3044952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있겠지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9692640" y="3044952"/>
            <a:ext cx="167609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0원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989320" y="3438144"/>
            <a:ext cx="551657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989320" y="3474720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상위 노출비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8275320" y="3474720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내야 뜨겠지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9692640" y="3474720"/>
            <a:ext cx="167609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0원. 파는 자리는 돈으로 사지 않습니다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989320" y="3867912"/>
            <a:ext cx="551657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989320" y="3904488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수수료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8275320" y="3904488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떼겠지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9692640" y="3904488"/>
            <a:ext cx="167609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0원. 유어딜이 자기 몫에서 냅니다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5989320" y="4297680"/>
            <a:ext cx="551657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989320" y="4334256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 수수료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8275320" y="4334256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송금할 때 떼겠지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9692640" y="4334256"/>
            <a:ext cx="167609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0원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5989320" y="4727448"/>
            <a:ext cx="551657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989320" y="4764024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장도 안 팔린 달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8275320" y="4764024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기본료는 내겠지</a:t>
            </a:r>
            <a:endParaRPr lang="en-US" sz="1050" dirty="0"/>
          </a:p>
        </p:txBody>
      </p:sp>
      <p:sp>
        <p:nvSpPr>
          <p:cNvPr id="47" name="Text 44"/>
          <p:cNvSpPr txBox="1"/>
          <p:nvPr/>
        </p:nvSpPr>
        <p:spPr>
          <a:xfrm>
            <a:off x="9692640" y="4764024"/>
            <a:ext cx="167609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0원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5989320" y="5157216"/>
            <a:ext cx="551657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85800" y="5669280"/>
            <a:ext cx="10820095" cy="502920"/>
          </a:xfrm>
          <a:prstGeom prst="roundRect">
            <a:avLst>
              <a:gd name="adj" fmla="val 18182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05840" y="5669280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수수료는 팔린 뒤에만, 한 번만 나갑니다. </a:t>
            </a:r>
            <a:pPr algn="ctr" indent="0" marL="0">
              <a:buNone/>
            </a:pPr>
            <a:r>
              <a:rPr lang="en-US" sz="1200" spc="-30" kern="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상인회 회비처럼 미리 모아 두는 돈이 없습니다.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· 매장이 내는 것과 받는 것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상인회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팔리고 있는 실제 이용권으로 계산해 보면.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685800" y="1965960"/>
            <a:ext cx="539496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1005840" y="21488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라이브에 올라 있는 실제 매장 이용권 (프리미엄 돈가스 1인 세트)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2468880"/>
            <a:ext cx="30431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정가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3621024" y="246888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14,500원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2871216"/>
            <a:ext cx="30431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판매가 (할인율은 사장님이 정합니다)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3621024" y="287121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7,500원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005840" y="3246120"/>
            <a:ext cx="475488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05840" y="3273552"/>
            <a:ext cx="30431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10%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3621024" y="3273552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−750원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3675888"/>
            <a:ext cx="30431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수수료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3621024" y="3675888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0원 (유어딜이 냅니다)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005840" y="4050792"/>
            <a:ext cx="475488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05840" y="4078224"/>
            <a:ext cx="30431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 계좌에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3621024" y="4078224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6,750원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459028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할인한 만큼은 손님을 오게 하는 값입니다. 그래서 한가한 시간대와 남는 메뉴에 거는 것이 맞습니다. 점심 줄이 서는 시간을 굳이 할인하실 이유가 없습니다.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446520" y="1965960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084832"/>
            <a:ext cx="219456" cy="219456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086600" y="1965960"/>
            <a:ext cx="4419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결제가 먼저입니다</a:t>
            </a:r>
            <a:endParaRPr lang="en-US" sz="1450" dirty="0"/>
          </a:p>
        </p:txBody>
      </p:sp>
      <p:sp>
        <p:nvSpPr>
          <p:cNvPr id="25" name="Text 21"/>
          <p:cNvSpPr txBox="1"/>
          <p:nvPr/>
        </p:nvSpPr>
        <p:spPr>
          <a:xfrm>
            <a:off x="7086600" y="2350008"/>
            <a:ext cx="4419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이용권은 후기 약속이 아니라 매출입니다. 손님이 오기 전에 돈이 들어옵니다.</a:t>
            </a:r>
            <a:endParaRPr lang="en-US" sz="1080" dirty="0"/>
          </a:p>
        </p:txBody>
      </p:sp>
      <p:sp>
        <p:nvSpPr>
          <p:cNvPr id="26" name="Shape 22"/>
          <p:cNvSpPr/>
          <p:nvPr/>
        </p:nvSpPr>
        <p:spPr>
          <a:xfrm>
            <a:off x="6446520" y="3227832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3346704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7086600" y="3227832"/>
            <a:ext cx="4419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온 손님은 정산되지 않습니다</a:t>
            </a:r>
            <a:endParaRPr lang="en-US" sz="1450" dirty="0"/>
          </a:p>
        </p:txBody>
      </p:sp>
      <p:sp>
        <p:nvSpPr>
          <p:cNvPr id="29" name="Text 24"/>
          <p:cNvSpPr txBox="1"/>
          <p:nvPr/>
        </p:nvSpPr>
        <p:spPr>
          <a:xfrm>
            <a:off x="7086600" y="3611880"/>
            <a:ext cx="4419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 대상은 손님이 실제로 쓴 표뿐입니다. 쓰지 않고 기간이 지나면 손님에게 전액 환불되고, 그 처리는 유어딜이 합니다.</a:t>
            </a:r>
            <a:endParaRPr lang="en-US" sz="1080" dirty="0"/>
          </a:p>
        </p:txBody>
      </p:sp>
      <p:sp>
        <p:nvSpPr>
          <p:cNvPr id="30" name="Shape 25"/>
          <p:cNvSpPr/>
          <p:nvPr/>
        </p:nvSpPr>
        <p:spPr>
          <a:xfrm>
            <a:off x="6446520" y="4489704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608576"/>
            <a:ext cx="219456" cy="219456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7086600" y="4489704"/>
            <a:ext cx="4419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손해 보는 구조를 만들 수 없습니다</a:t>
            </a:r>
            <a:endParaRPr lang="en-US" sz="1450" dirty="0"/>
          </a:p>
        </p:txBody>
      </p:sp>
      <p:sp>
        <p:nvSpPr>
          <p:cNvPr id="33" name="Text 27"/>
          <p:cNvSpPr txBox="1"/>
          <p:nvPr/>
        </p:nvSpPr>
        <p:spPr>
          <a:xfrm>
            <a:off x="7086600" y="4873752"/>
            <a:ext cx="4419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할인율, 수량, 유효기간, 쓸 수 있는 시간대를 전부 사장님이 정합니다. 수량이 차면 자동으로 멈춥니다.</a:t>
            </a:r>
            <a:endParaRPr lang="en-US" sz="1080" dirty="0"/>
          </a:p>
        </p:txBody>
      </p:sp>
      <p:sp>
        <p:nvSpPr>
          <p:cNvPr id="34" name="Shape 28"/>
          <p:cNvSpPr/>
          <p:nvPr/>
        </p:nvSpPr>
        <p:spPr>
          <a:xfrm>
            <a:off x="685800" y="5724144"/>
            <a:ext cx="10820095" cy="402336"/>
          </a:xfrm>
          <a:prstGeom prst="roundRect">
            <a:avLst>
              <a:gd name="adj" fmla="val 22727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1005840" y="5724144"/>
            <a:ext cx="101800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-30" kern="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체험단 한 팀에 나가는 무료 식사값이면, </a:t>
            </a:r>
            <a:pPr algn="ctr"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유어딜에서는 돈을 낸 손님이 옵니다.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· 매장이 내는 것과 받는 것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상인회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설명회에서 가장 많이 나오는 질문 넷입니다.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373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사장님들이 하신 말씀을 그대로 적었습니다.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057400"/>
            <a:ext cx="10820095" cy="841248"/>
          </a:xfrm>
          <a:prstGeom prst="roundRect">
            <a:avLst>
              <a:gd name="adj" fmla="val 15217"/>
            </a:avLst>
          </a:prstGeom>
          <a:solidFill>
            <a:srgbClr val="1D1F29"/>
          </a:solidFill>
          <a:ln w="12700">
            <a:solidFill>
              <a:srgbClr val="1D1F2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0120" y="2249424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368296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05740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기계를 바꿔야 하나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3566160" y="2203704"/>
            <a:ext cx="3108960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 rot="16200000">
            <a:off x="3438144" y="2386584"/>
            <a:ext cx="182880" cy="18288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767328" y="220370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"POS 새로 들이는 건 못 합니다."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258568"/>
            <a:ext cx="155448" cy="1554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33488" y="2203704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 연동이 없습니다. 손님 폰의 코드를 확인하면 끝입니다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532888"/>
            <a:ext cx="155448" cy="1554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33488" y="2478024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 폰이나 태블릿 하나로 됩니다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685800" y="2999232"/>
            <a:ext cx="10820095" cy="841248"/>
          </a:xfrm>
          <a:prstGeom prst="roundRect">
            <a:avLst>
              <a:gd name="adj" fmla="val 15217"/>
            </a:avLst>
          </a:prstGeom>
          <a:solidFill>
            <a:srgbClr val="1D1F29"/>
          </a:solidFill>
          <a:ln w="12700">
            <a:solidFill>
              <a:srgbClr val="1D1F29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960120" y="3191256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3310128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554480" y="2999232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바쁜 시간에 몰리면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3566160" y="3145536"/>
            <a:ext cx="3108960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 rot="16200000">
            <a:off x="3438144" y="3328416"/>
            <a:ext cx="182880" cy="18288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3767328" y="314553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"점심에는 줄을 서는데 더 못 받아요."</a:t>
            </a:r>
            <a:endParaRPr lang="en-US" sz="11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3200400"/>
            <a:ext cx="155448" cy="1554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333488" y="3145536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쓸 수 있는 시간대를 사장님이 정할 수 있습니다</a:t>
            </a:r>
            <a:endParaRPr lang="en-US" sz="105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0" y="3474720"/>
            <a:ext cx="155448" cy="155448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333488" y="3419856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수량도 정합니다. 다 팔리면 자동으로 멈춥니다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685800" y="3941064"/>
            <a:ext cx="10820095" cy="841248"/>
          </a:xfrm>
          <a:prstGeom prst="roundRect">
            <a:avLst>
              <a:gd name="adj" fmla="val 15217"/>
            </a:avLst>
          </a:prstGeom>
          <a:solidFill>
            <a:srgbClr val="1D1F29"/>
          </a:solidFill>
          <a:ln w="12700">
            <a:solidFill>
              <a:srgbClr val="1D1F29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960120" y="4133088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992" y="4251960"/>
            <a:ext cx="219456" cy="219456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554480" y="3941064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단골까지 깎아 주나</a:t>
            </a:r>
            <a:endParaRPr lang="en-US" sz="1350" dirty="0"/>
          </a:p>
        </p:txBody>
      </p:sp>
      <p:sp>
        <p:nvSpPr>
          <p:cNvPr id="34" name="Shape 24"/>
          <p:cNvSpPr/>
          <p:nvPr/>
        </p:nvSpPr>
        <p:spPr>
          <a:xfrm>
            <a:off x="3566160" y="4087368"/>
            <a:ext cx="3108960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 rot="16200000">
            <a:off x="3438144" y="4270248"/>
            <a:ext cx="182880" cy="18288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3767328" y="40873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"원래 오던 손님을 깎아 주면 손해죠."</a:t>
            </a:r>
            <a:endParaRPr lang="en-US" sz="11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0" y="4142232"/>
            <a:ext cx="155448" cy="155448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7333488" y="4087368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이용권은 유어딜에서 찾아온 새 손님이 들고 옵니다</a:t>
            </a:r>
            <a:endParaRPr lang="en-US" sz="105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4416552"/>
            <a:ext cx="155448" cy="155448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7333488" y="4361688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단골 할인은 가게에서 하시던 대로 따로 두시면 됩니다</a:t>
            </a:r>
            <a:endParaRPr lang="en-US" sz="1050" dirty="0"/>
          </a:p>
        </p:txBody>
      </p:sp>
      <p:sp>
        <p:nvSpPr>
          <p:cNvPr id="41" name="Shape 29"/>
          <p:cNvSpPr/>
          <p:nvPr/>
        </p:nvSpPr>
        <p:spPr>
          <a:xfrm>
            <a:off x="685800" y="4882896"/>
            <a:ext cx="10820095" cy="841248"/>
          </a:xfrm>
          <a:prstGeom prst="roundRect">
            <a:avLst>
              <a:gd name="adj" fmla="val 15217"/>
            </a:avLst>
          </a:prstGeom>
          <a:solidFill>
            <a:srgbClr val="1D1F29"/>
          </a:solidFill>
          <a:ln w="12700">
            <a:solidFill>
              <a:srgbClr val="1D1F29"/>
            </a:solidFill>
            <a:prstDash val="solid"/>
          </a:ln>
        </p:spPr>
      </p:sp>
      <p:sp>
        <p:nvSpPr>
          <p:cNvPr id="42" name="Shape 30"/>
          <p:cNvSpPr/>
          <p:nvPr/>
        </p:nvSpPr>
        <p:spPr>
          <a:xfrm>
            <a:off x="960120" y="5074920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8992" y="5193792"/>
            <a:ext cx="219456" cy="219456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1554480" y="4882896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 놓고 안 오면</a:t>
            </a:r>
            <a:endParaRPr lang="en-US" sz="1350" dirty="0"/>
          </a:p>
        </p:txBody>
      </p:sp>
      <p:sp>
        <p:nvSpPr>
          <p:cNvPr id="45" name="Shape 32"/>
          <p:cNvSpPr/>
          <p:nvPr/>
        </p:nvSpPr>
        <p:spPr>
          <a:xfrm>
            <a:off x="3566160" y="5029200"/>
            <a:ext cx="3108960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33"/>
          <p:cNvSpPr/>
          <p:nvPr/>
        </p:nvSpPr>
        <p:spPr>
          <a:xfrm rot="16200000">
            <a:off x="3438144" y="5212080"/>
            <a:ext cx="182880" cy="18288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34"/>
          <p:cNvSpPr txBox="1"/>
          <p:nvPr/>
        </p:nvSpPr>
        <p:spPr>
          <a:xfrm>
            <a:off x="3767328" y="5029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"안 오는 사람 돈은 어떻게 됩니까."</a:t>
            </a:r>
            <a:endParaRPr lang="en-US" sz="1100" dirty="0"/>
          </a:p>
        </p:txBody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86600" y="5084064"/>
            <a:ext cx="155448" cy="155448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7333488" y="5029200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기간이 지나면 손님에게 전액 환불됩니다. 유어딜이 처리합니다</a:t>
            </a:r>
            <a:endParaRPr lang="en-US" sz="1050" dirty="0"/>
          </a:p>
        </p:txBody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86600" y="5358384"/>
            <a:ext cx="155448" cy="155448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7333488" y="5303520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 안 온 손님 돈은 가게 몫이 아닙니다. 쓴 표만 정산됩니다</a:t>
            </a:r>
            <a:endParaRPr lang="en-US" sz="1050" dirty="0"/>
          </a:p>
        </p:txBody>
      </p:sp>
      <p:sp>
        <p:nvSpPr>
          <p:cNvPr id="52" name="Shape 37"/>
          <p:cNvSpPr/>
          <p:nvPr/>
        </p:nvSpPr>
        <p:spPr>
          <a:xfrm>
            <a:off x="685800" y="5797296"/>
            <a:ext cx="10820095" cy="402336"/>
          </a:xfrm>
          <a:prstGeom prst="roundRect">
            <a:avLst>
              <a:gd name="adj" fmla="val 22727"/>
            </a:avLst>
          </a:prstGeom>
          <a:solidFill>
            <a:srgbClr val="1D1F29"/>
          </a:solidFill>
          <a:ln w="12700">
            <a:solidFill>
              <a:srgbClr val="1D1F29"/>
            </a:solidFill>
            <a:prstDash val="solid"/>
          </a:ln>
        </p:spPr>
      </p:sp>
      <p:sp>
        <p:nvSpPr>
          <p:cNvPr id="53" name="Text 38"/>
          <p:cNvSpPr txBox="1"/>
          <p:nvPr/>
        </p:nvSpPr>
        <p:spPr>
          <a:xfrm>
            <a:off x="1005840" y="5797296"/>
            <a:ext cx="101800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spc="-3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유어딜이 유리하게 숨겨 둔 조건은 </a:t>
            </a:r>
            <a:pPr algn="ctr" indent="0" marL="0">
              <a:buNone/>
            </a:pPr>
            <a:r>
              <a:rPr lang="en-US" sz="115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네 가지 안에 없습니다. 네 번째가 특히 그렇습니다.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 매장이 내는 것과 받는 것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상인회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사장님이 하실 일은 둘입니다.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오면 코드를 확인하는 것, 그리고 가끔 수량을 손보는 것.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194560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31343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1945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오면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25603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폰으로 손님의 QR 을 찍거나, 손님이 보여 주는 확인코드를 눌러 처리합니다. 한 번 쓴 표는 다시 쓸 수 없습니다. 영수증을 따로 쓰실 일도 없습니다.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85800" y="3383280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50215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38328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가끔 손볼 때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37490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가격, 수량, 유효기간, 쓸 수 있는 시간대는 언제든 바꿉니다. 재료가 떨어졌으면 판매를 잠시 멈추면 됩니다. 계약 기간이 없으니 그만두는 것도 사장님 마음입니다.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85800" y="4572000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69087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457200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궁금할 때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49377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몇 장 팔렸고 몇 명이 왔고 얼마가 들어올지가 매장 화면에 늘 떠 있습니다.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85800" y="5760720"/>
            <a:ext cx="6035040" cy="402336"/>
          </a:xfrm>
          <a:prstGeom prst="roundRect">
            <a:avLst>
              <a:gd name="adj" fmla="val 22727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1005840" y="5760720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spc="-30" kern="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손님을 찾아오게 하는 일, 결제, 환불, 취소는 </a:t>
            </a:r>
            <a:pPr algn="ctr" indent="0" marL="0">
              <a:buNone/>
            </a:pPr>
            <a:r>
              <a:rPr lang="en-US" sz="11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전부 유어딜이 합니다.</a:t>
            </a:r>
            <a:endParaRPr lang="en-US" sz="11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7603" y="810923"/>
            <a:ext cx="2786914" cy="532759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412480" y="6044184"/>
            <a:ext cx="30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처리 화면 (예시 데이터)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 매장이 내는 것과 받는 것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상인회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돈은 언제, 어떻게 들어오나요.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11680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정산되나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2860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실제로 쓴 이용권만 모읍니다. 팔렸지만 아직 안 쓴 표는 들어 있지 않습니다.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706624"/>
            <a:ext cx="630936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816352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언제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09067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단위로 집계해서 등록해 두신 계좌로 들어옵니다. 신청하실 것이 없습니다.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5800" y="3511296"/>
            <a:ext cx="630936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621024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최소 금액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89534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주에 모인 금액이 1만원 이 안 되면 다음 주로 넘어가 합산됩니다.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85800" y="4315968"/>
            <a:ext cx="630936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4425696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떼는 것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470001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수수료 10% 외에 정산 수수료는 없습니다. 집계된 금액이 그대로 들어옵니다.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85800" y="5120640"/>
            <a:ext cx="630936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5230368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계좌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550468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 계좌는 사장님 본인만 등록하고 바꿉니다. 운영을 누구에게 맡기셔도 그렇습니다.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85800" y="5943600"/>
            <a:ext cx="6309360" cy="502920"/>
          </a:xfrm>
          <a:prstGeom prst="roundRect">
            <a:avLst>
              <a:gd name="adj" fmla="val 18182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05840" y="59436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spc="-30" kern="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상인회가 대신 운영해도 손님이 낸 돈은 </a:t>
            </a:r>
            <a:pPr algn="ctr" indent="0" marL="0">
              <a:buNone/>
            </a:pPr>
            <a:r>
              <a:rPr lang="en-US" sz="11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계좌로만 갑니다.</a:t>
            </a:r>
            <a:endParaRPr lang="en-US" sz="115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1923" y="810923"/>
            <a:ext cx="2786914" cy="532759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686800" y="6044184"/>
            <a:ext cx="30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 화면 (예시 데이터)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6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상인회 소개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spc="-12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상권이 함께 들어오면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1546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집만 들어오셔도 됩니다. 다만 같이 들어오시면 손님이 보는 화면에서 우리 상권이 같이 채워집니다.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4114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4114800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보는 자리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44622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4462272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온누리상품권 가맹 표시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480974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4809744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소개할 사람을 찾는 일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 · 상권이 함께 들어오면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상인회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집만 들어오셔도 되지만, 같이 들어오면 지도가 채워집니다.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유어딜의 첫 화면은 지도입니다. 손님은 자기 위치 주변에 있는 이용권부터 봅니다.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148840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26771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14884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지도에서 같이 보입니다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2514600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등록한 매장은 홈 지도에 핀으로 뜹니다. 회원 매장이 여럿 들어오면 그 골목에 핀이 모여 손님 눈에 상권으로 보입니다.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85800" y="3264408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38328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26440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도시별 페이지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3630168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도시 단위 페이지가 있어서 그 지역 이용권이 한곳에 모입니다. 검색에서도 그 주소로 찾아옵니다.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85800" y="4379976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498848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437997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온누리상품권 가맹 표시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4745736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가맹 매장이면 상세 화면에 표시가 붙습니다. 사업자정보에서 한 번 체크하시면 됩니다.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85800" y="5440680"/>
            <a:ext cx="5943600" cy="804672"/>
          </a:xfrm>
          <a:prstGeom prst="roundRect">
            <a:avLst>
              <a:gd name="adj" fmla="val 15909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960120" y="555955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아직 없는 것도 말씀드립니다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960120" y="580644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 하나만 묶어 보여 주는 전용 페이지는 아직 없습니다. 지금은 지도와 도시별 페이지에 각 매장이 뜹니다.</a:t>
            </a:r>
            <a:endParaRPr lang="en-US" sz="10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1883" y="810923"/>
            <a:ext cx="2786914" cy="532759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366760" y="6044184"/>
            <a:ext cx="30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상세 화면 (라이브)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 · 상권이 함께 들어오면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상인회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소개할 사람을 상인회가 찾아다니지 않아도 됩니다.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37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동네 글을 쓰는 분들의 연락처를 유어딜이 모아 두고 관리합니다. 사장님은 소개비 몇 퍼센트를 낼지만 정하시면 됩니다.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-8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337,842명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모아 둔 사람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269748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-8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65,431명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연락처가 붙은 사람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70916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-8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299,363명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4709160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네이버 블로그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72084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-8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20,584명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6720840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유튜브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10월 기준 실측입니다. 이 숫자는 모아 둔 연락처 수이고, 글을 써 주겠다고 약속한 사람 수가 아닙니다.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85800" y="3703320"/>
            <a:ext cx="768096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84048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소개비는 어떻게 정합니까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85800" y="4251960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42519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1033272" y="4224528"/>
            <a:ext cx="6327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사장님이 정합니다. 유어딜이 정한 고정 요율이 없습니다. 판매가의 몇 퍼센트로 제안하시면 됩니다.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685800" y="4727448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4727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1033272" y="4700016"/>
            <a:ext cx="6327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소개비는 매장 몫 안에서 나갑니다. 유어딜 수수료가 올라가는 것이 아닙니다.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685800" y="5202936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" y="52029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1033272" y="5175504"/>
            <a:ext cx="6327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소개한 링크로 팔린 건에만 붙습니다. 글만 쓰고 안 팔리면 나가는 돈이 없습니다.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7516368" y="3721608"/>
            <a:ext cx="4059936" cy="1180094"/>
          </a:xfrm>
          <a:prstGeom prst="roundRect">
            <a:avLst>
              <a:gd name="adj" fmla="val 108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794760"/>
            <a:ext cx="3913632" cy="103379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7589520" y="501143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내부 관리 화면. 이메일은 가렸습니다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85800" y="5669280"/>
            <a:ext cx="10820095" cy="457200"/>
          </a:xfrm>
          <a:prstGeom prst="roundRect">
            <a:avLst>
              <a:gd name="adj" fmla="val 20000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1005840" y="5669280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-30" kern="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돈을 주고 글을 받는 방식이 아닙니다. </a:t>
            </a:r>
            <a:pPr algn="ctr"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팔린 뒤에, 팔린 만큼만 나갑니다.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6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상인회 소개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4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spc="-12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시작하는 방법과 요청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1546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폰이 익숙하지 않은 사장님도 시작하실 수 있게 길을 셋으로 나눠 두었습니다. 마지막 장에 상인회에 드리는 요청이 있습니다.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4114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4114800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 길과 수수료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44622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4462272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절차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480974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0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4809744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상인회에 드리는 세 가지 요청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4 · 시작하는 방법과 요청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상인회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길은 셋입니다. 어느 길이든 손님이 낸 돈은 매장 계좌로만 갑니다.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10512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사장님이 직접 하시면 수수료 10%, 상인회가 대신 등록하고 운영하면 5% 입니다.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331720"/>
            <a:ext cx="3454298" cy="457200"/>
          </a:xfrm>
          <a:prstGeom prst="roundRect">
            <a:avLst>
              <a:gd name="adj" fmla="val 24000"/>
            </a:avLst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33172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-3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사장님이 직접 (수수료 10%)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2926080"/>
            <a:ext cx="345429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3172968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3172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1252728" y="3154680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urdeal.kr 에서 카카오로 로그인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914400" y="3593592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3593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1252728" y="3575304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지도에서 내 가게 찾기</a:t>
            </a:r>
            <a:endParaRPr lang="en-US" sz="1030" dirty="0"/>
          </a:p>
        </p:txBody>
      </p:sp>
      <p:sp>
        <p:nvSpPr>
          <p:cNvPr id="17" name="Shape 14"/>
          <p:cNvSpPr/>
          <p:nvPr/>
        </p:nvSpPr>
        <p:spPr>
          <a:xfrm>
            <a:off x="914400" y="4014216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400" y="4014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1252728" y="3995928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사업자등록증 사진 한 장</a:t>
            </a:r>
            <a:endParaRPr lang="en-US" sz="1030" dirty="0"/>
          </a:p>
        </p:txBody>
      </p:sp>
      <p:sp>
        <p:nvSpPr>
          <p:cNvPr id="20" name="Shape 17"/>
          <p:cNvSpPr/>
          <p:nvPr/>
        </p:nvSpPr>
        <p:spPr>
          <a:xfrm>
            <a:off x="914400" y="4434840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14400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1252728" y="4416552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문자 받고 첫 이용권 올리기</a:t>
            </a:r>
            <a:endParaRPr lang="en-US" sz="1030" dirty="0"/>
          </a:p>
        </p:txBody>
      </p:sp>
      <p:sp>
        <p:nvSpPr>
          <p:cNvPr id="23" name="Shape 20"/>
          <p:cNvSpPr/>
          <p:nvPr/>
        </p:nvSpPr>
        <p:spPr>
          <a:xfrm>
            <a:off x="914400" y="485546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4400" y="4855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1252728" y="4837176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 오면 코드 확인</a:t>
            </a:r>
            <a:endParaRPr lang="en-US" sz="1030" dirty="0"/>
          </a:p>
        </p:txBody>
      </p:sp>
      <p:sp>
        <p:nvSpPr>
          <p:cNvPr id="26" name="Shape 23"/>
          <p:cNvSpPr/>
          <p:nvPr/>
        </p:nvSpPr>
        <p:spPr>
          <a:xfrm>
            <a:off x="914400" y="5276088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5276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1252728" y="5257800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정산 확인</a:t>
            </a:r>
            <a:endParaRPr lang="en-US" sz="1030" dirty="0"/>
          </a:p>
        </p:txBody>
      </p:sp>
      <p:sp>
        <p:nvSpPr>
          <p:cNvPr id="29" name="Shape 26"/>
          <p:cNvSpPr/>
          <p:nvPr/>
        </p:nvSpPr>
        <p:spPr>
          <a:xfrm>
            <a:off x="914400" y="5559552"/>
            <a:ext cx="2997098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400" y="562356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10분이면 끝납니다. 막히면 카카오톡 채널에 "등록 도와주세요"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368698" y="2331720"/>
            <a:ext cx="3454298" cy="457200"/>
          </a:xfrm>
          <a:prstGeom prst="roundRect">
            <a:avLst>
              <a:gd name="adj" fmla="val 24000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68698" y="233172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유어딜이 대신 (수수료 10%)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4368698" y="2926080"/>
            <a:ext cx="345429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597298" y="3172968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597298" y="3172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4935626" y="3154680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카카오톡 채널에 "등록 도와주세요"</a:t>
            </a:r>
            <a:endParaRPr lang="en-US" sz="1030" dirty="0"/>
          </a:p>
        </p:txBody>
      </p:sp>
      <p:sp>
        <p:nvSpPr>
          <p:cNvPr id="37" name="Shape 34"/>
          <p:cNvSpPr/>
          <p:nvPr/>
        </p:nvSpPr>
        <p:spPr>
          <a:xfrm>
            <a:off x="4597298" y="3593592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597298" y="3593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4935626" y="3575304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전화로 메뉴, 가격, 사진을 받습니다</a:t>
            </a:r>
            <a:endParaRPr lang="en-US" sz="1030" dirty="0"/>
          </a:p>
        </p:txBody>
      </p:sp>
      <p:sp>
        <p:nvSpPr>
          <p:cNvPr id="40" name="Shape 37"/>
          <p:cNvSpPr/>
          <p:nvPr/>
        </p:nvSpPr>
        <p:spPr>
          <a:xfrm>
            <a:off x="4597298" y="4014216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597298" y="4014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42" name="Text 39"/>
          <p:cNvSpPr txBox="1"/>
          <p:nvPr/>
        </p:nvSpPr>
        <p:spPr>
          <a:xfrm>
            <a:off x="4935626" y="3995928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유어딜이 매장과 첫 이용권을 만듭니다</a:t>
            </a:r>
            <a:endParaRPr lang="en-US" sz="1030" dirty="0"/>
          </a:p>
        </p:txBody>
      </p:sp>
      <p:sp>
        <p:nvSpPr>
          <p:cNvPr id="43" name="Shape 40"/>
          <p:cNvSpPr/>
          <p:nvPr/>
        </p:nvSpPr>
        <p:spPr>
          <a:xfrm>
            <a:off x="4597298" y="4434840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597298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4935626" y="4416552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사장님은 등록증 사진과 승인 확인만</a:t>
            </a:r>
            <a:endParaRPr lang="en-US" sz="1030" dirty="0"/>
          </a:p>
        </p:txBody>
      </p:sp>
      <p:sp>
        <p:nvSpPr>
          <p:cNvPr id="46" name="Shape 43"/>
          <p:cNvSpPr/>
          <p:nvPr/>
        </p:nvSpPr>
        <p:spPr>
          <a:xfrm>
            <a:off x="4597298" y="485546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597298" y="4855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50" dirty="0"/>
          </a:p>
        </p:txBody>
      </p:sp>
      <p:sp>
        <p:nvSpPr>
          <p:cNvPr id="48" name="Text 45"/>
          <p:cNvSpPr txBox="1"/>
          <p:nvPr/>
        </p:nvSpPr>
        <p:spPr>
          <a:xfrm>
            <a:off x="4935626" y="4837176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 오면 코드 확인</a:t>
            </a:r>
            <a:endParaRPr lang="en-US" sz="1030" dirty="0"/>
          </a:p>
        </p:txBody>
      </p:sp>
      <p:sp>
        <p:nvSpPr>
          <p:cNvPr id="49" name="Shape 46"/>
          <p:cNvSpPr/>
          <p:nvPr/>
        </p:nvSpPr>
        <p:spPr>
          <a:xfrm>
            <a:off x="4597298" y="5276088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597298" y="5276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50" dirty="0"/>
          </a:p>
        </p:txBody>
      </p:sp>
      <p:sp>
        <p:nvSpPr>
          <p:cNvPr id="51" name="Text 48"/>
          <p:cNvSpPr txBox="1"/>
          <p:nvPr/>
        </p:nvSpPr>
        <p:spPr>
          <a:xfrm>
            <a:off x="4935626" y="5257800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정산 확인</a:t>
            </a:r>
            <a:endParaRPr lang="en-US" sz="1030" dirty="0"/>
          </a:p>
        </p:txBody>
      </p:sp>
      <p:sp>
        <p:nvSpPr>
          <p:cNvPr id="52" name="Shape 49"/>
          <p:cNvSpPr/>
          <p:nvPr/>
        </p:nvSpPr>
        <p:spPr>
          <a:xfrm>
            <a:off x="4597298" y="5559552"/>
            <a:ext cx="2997098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597298" y="562356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폰이 익숙하지 않으셔도 됩니다. 사람이 대신 합니다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8051597" y="2331720"/>
            <a:ext cx="3454298" cy="457200"/>
          </a:xfrm>
          <a:prstGeom prst="roundRect">
            <a:avLst>
              <a:gd name="adj" fmla="val 24000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8051597" y="233172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상인회가 중개 (수수료 5%)</a:t>
            </a:r>
            <a:endParaRPr lang="en-US" sz="1250" dirty="0"/>
          </a:p>
        </p:txBody>
      </p:sp>
      <p:sp>
        <p:nvSpPr>
          <p:cNvPr id="56" name="Shape 53"/>
          <p:cNvSpPr/>
          <p:nvPr/>
        </p:nvSpPr>
        <p:spPr>
          <a:xfrm>
            <a:off x="8051597" y="2926080"/>
            <a:ext cx="345429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8280197" y="3172968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80197" y="3172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59" name="Text 56"/>
          <p:cNvSpPr txBox="1"/>
          <p:nvPr/>
        </p:nvSpPr>
        <p:spPr>
          <a:xfrm>
            <a:off x="8618525" y="3154680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사무국이 매장을 "중개" 로 등록</a:t>
            </a:r>
            <a:endParaRPr lang="en-US" sz="1030" dirty="0"/>
          </a:p>
        </p:txBody>
      </p:sp>
      <p:sp>
        <p:nvSpPr>
          <p:cNvPr id="60" name="Shape 57"/>
          <p:cNvSpPr/>
          <p:nvPr/>
        </p:nvSpPr>
        <p:spPr>
          <a:xfrm>
            <a:off x="8280197" y="3593592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280197" y="3593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8618525" y="3575304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등록할 때 상인회 몫 퍼센트를 함께 정합니다</a:t>
            </a:r>
            <a:endParaRPr lang="en-US" sz="1030" dirty="0"/>
          </a:p>
        </p:txBody>
      </p:sp>
      <p:sp>
        <p:nvSpPr>
          <p:cNvPr id="63" name="Shape 60"/>
          <p:cNvSpPr/>
          <p:nvPr/>
        </p:nvSpPr>
        <p:spPr>
          <a:xfrm>
            <a:off x="8280197" y="4014216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280197" y="4014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65" name="Text 62"/>
          <p:cNvSpPr txBox="1"/>
          <p:nvPr/>
        </p:nvSpPr>
        <p:spPr>
          <a:xfrm>
            <a:off x="8618525" y="3995928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사장님은 본인 카카오로 소유자 확인</a:t>
            </a:r>
            <a:endParaRPr lang="en-US" sz="1030" dirty="0"/>
          </a:p>
        </p:txBody>
      </p:sp>
      <p:sp>
        <p:nvSpPr>
          <p:cNvPr id="66" name="Shape 63"/>
          <p:cNvSpPr/>
          <p:nvPr/>
        </p:nvSpPr>
        <p:spPr>
          <a:xfrm>
            <a:off x="8280197" y="4434840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280197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68" name="Text 65"/>
          <p:cNvSpPr txBox="1"/>
          <p:nvPr/>
        </p:nvSpPr>
        <p:spPr>
          <a:xfrm>
            <a:off x="8618525" y="4416552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 계좌는 사장님만 등록</a:t>
            </a:r>
            <a:endParaRPr lang="en-US" sz="1030" dirty="0"/>
          </a:p>
        </p:txBody>
      </p:sp>
      <p:sp>
        <p:nvSpPr>
          <p:cNvPr id="69" name="Shape 66"/>
          <p:cNvSpPr/>
          <p:nvPr/>
        </p:nvSpPr>
        <p:spPr>
          <a:xfrm>
            <a:off x="8280197" y="485546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280197" y="4855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50" dirty="0"/>
          </a:p>
        </p:txBody>
      </p:sp>
      <p:sp>
        <p:nvSpPr>
          <p:cNvPr id="71" name="Text 68"/>
          <p:cNvSpPr txBox="1"/>
          <p:nvPr/>
        </p:nvSpPr>
        <p:spPr>
          <a:xfrm>
            <a:off x="8618525" y="4837176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운영은 사무국이 대신</a:t>
            </a:r>
            <a:endParaRPr lang="en-US" sz="1030" dirty="0"/>
          </a:p>
        </p:txBody>
      </p:sp>
      <p:sp>
        <p:nvSpPr>
          <p:cNvPr id="72" name="Shape 69"/>
          <p:cNvSpPr/>
          <p:nvPr/>
        </p:nvSpPr>
        <p:spPr>
          <a:xfrm>
            <a:off x="8280197" y="5276088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80197" y="5276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50" dirty="0"/>
          </a:p>
        </p:txBody>
      </p:sp>
      <p:sp>
        <p:nvSpPr>
          <p:cNvPr id="74" name="Text 71"/>
          <p:cNvSpPr txBox="1"/>
          <p:nvPr/>
        </p:nvSpPr>
        <p:spPr>
          <a:xfrm>
            <a:off x="8618525" y="5257800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 오면 코드 확인</a:t>
            </a:r>
            <a:endParaRPr lang="en-US" sz="1030" dirty="0"/>
          </a:p>
        </p:txBody>
      </p:sp>
      <p:sp>
        <p:nvSpPr>
          <p:cNvPr id="75" name="Shape 72"/>
          <p:cNvSpPr/>
          <p:nvPr/>
        </p:nvSpPr>
        <p:spPr>
          <a:xfrm>
            <a:off x="8280197" y="5559552"/>
            <a:ext cx="2997098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280197" y="562356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사무국은 계좌를 못 건드립니다. 권한은 사장님이 언제든 회수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4 · 시작하는 방법과 요청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상인회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상인회가 대신 운영하실 때의 몫은 이렇게 정합니다.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수수료가 두 번 나가지 않습니다. 유어딜이 떼는 것은 중개 매장 5% 하나뿐입니다.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240280"/>
            <a:ext cx="345429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941832" y="2404872"/>
            <a:ext cx="29422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941832" y="2670048"/>
            <a:ext cx="294223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spc="-10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5%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941832" y="3218688"/>
            <a:ext cx="294223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중개로 등록된 매장의 수수료입니다. 직접 등록하시면 10% 이고, 사무국이 대신 운영하시면 여기까지 내려갑니다.</a:t>
            </a:r>
            <a:endParaRPr lang="en-US" sz="1030" dirty="0"/>
          </a:p>
        </p:txBody>
      </p:sp>
      <p:sp>
        <p:nvSpPr>
          <p:cNvPr id="12" name="Shape 9"/>
          <p:cNvSpPr/>
          <p:nvPr/>
        </p:nvSpPr>
        <p:spPr>
          <a:xfrm>
            <a:off x="4368698" y="2240280"/>
            <a:ext cx="345429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624730" y="2404872"/>
            <a:ext cx="29422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624730" y="2670048"/>
            <a:ext cx="294223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spc="-10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나머지</a:t>
            </a:r>
            <a:endParaRPr lang="en-US" sz="2500" dirty="0"/>
          </a:p>
        </p:txBody>
      </p:sp>
      <p:sp>
        <p:nvSpPr>
          <p:cNvPr id="15" name="Text 12"/>
          <p:cNvSpPr txBox="1"/>
          <p:nvPr/>
        </p:nvSpPr>
        <p:spPr>
          <a:xfrm>
            <a:off x="4624730" y="3218688"/>
            <a:ext cx="294223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낸 돈에서 유어딜 몫을 뺀 전부가 매장 몫입니다. 아래 두 가지는 이 안에서 나갑니다.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8051597" y="2240280"/>
            <a:ext cx="3454298" cy="2103120"/>
          </a:xfrm>
          <a:prstGeom prst="roundRect">
            <a:avLst>
              <a:gd name="adj" fmla="val 6087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07629" y="2404872"/>
            <a:ext cx="29422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상인회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307629" y="2670048"/>
            <a:ext cx="294223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spc="-10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때 정한 %</a:t>
            </a:r>
            <a:endParaRPr lang="en-US" sz="2500" dirty="0"/>
          </a:p>
        </p:txBody>
      </p:sp>
      <p:sp>
        <p:nvSpPr>
          <p:cNvPr id="19" name="Text 16"/>
          <p:cNvSpPr txBox="1"/>
          <p:nvPr/>
        </p:nvSpPr>
        <p:spPr>
          <a:xfrm>
            <a:off x="8307629" y="3218688"/>
            <a:ext cx="294223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몫 안에서 나갑니다. 상한은 50% 이고, 소개비 상한과 합쳐 90% 를 넘길 수 없습니다. 매장에 남는 것이 있어야 하기 때문입니다.</a:t>
            </a:r>
            <a:endParaRPr lang="en-US" sz="103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45262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상인회 몫은 어떻게 받습니까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85800" y="4937760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4937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1033272" y="4910328"/>
            <a:ext cx="7516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매장에 청구하지 않습니다. 팔린 만큼 유어딜이 계산해서 상인회 계좌로 직접 보냅니다.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685800" y="5376672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5376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1033272" y="5349240"/>
            <a:ext cx="7516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세금 원천징수도 유어딜이 계산해서 처리합니다. 지급 내역은 화면에 남습니다.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685800" y="5815584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5800" y="58155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1033272" y="5788152"/>
            <a:ext cx="7516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퍼센트를 0 으로 두시면 유어딜을 거치지 않습니다. 그때는 상인회와 매장이 알아서 정하시면 됩니다.</a:t>
            </a:r>
            <a:endParaRPr lang="en-US" sz="1020" dirty="0"/>
          </a:p>
        </p:txBody>
      </p:sp>
      <p:sp>
        <p:nvSpPr>
          <p:cNvPr id="30" name="Shape 27"/>
          <p:cNvSpPr/>
          <p:nvPr/>
        </p:nvSpPr>
        <p:spPr>
          <a:xfrm>
            <a:off x="8732520" y="4526280"/>
            <a:ext cx="2773375" cy="1572768"/>
          </a:xfrm>
          <a:prstGeom prst="roundRect">
            <a:avLst>
              <a:gd name="adj" fmla="val 8140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961120" y="4654296"/>
            <a:ext cx="2361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적립은 시작됐고, 송금은 아직입니다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961120" y="4910328"/>
            <a:ext cx="23618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98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기능은 켜져 있고 2026-10-12 기준 실제 주문에서 적립이 1건 생겼습니다. 다만 적립은 송금이 아닙니다 — 손님이 이용권을 쓴 것이 확인되면 익고, 쌓인 금액이 10만원 을 넘으면 매월 1일에 보냅니다. 아직 보낸 건은 없습니다.</a:t>
            </a:r>
            <a:endParaRPr lang="en-US" sz="9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4 · 시작하는 방법과 요청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상인회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등록은 10분, 승인은 사람이 확인합니다.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승인이 아닙니다. 사업자등록증과 가게를 사람이 보고 승인합니다.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27" y="2017487"/>
            <a:ext cx="2050748" cy="39203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20040" y="5907024"/>
            <a:ext cx="24281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가게 찾기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810" y="2017487"/>
            <a:ext cx="2050748" cy="392030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428123" y="5907024"/>
            <a:ext cx="24281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운영하나요</a:t>
            </a:r>
            <a:endParaRPr lang="en-US" sz="1050" dirty="0"/>
          </a:p>
        </p:txBody>
      </p:sp>
      <p:sp>
        <p:nvSpPr>
          <p:cNvPr id="12" name="Text 7"/>
          <p:cNvSpPr txBox="1"/>
          <p:nvPr/>
        </p:nvSpPr>
        <p:spPr>
          <a:xfrm>
            <a:off x="4993405" y="2240280"/>
            <a:ext cx="65124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필요합니까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4993405" y="2651760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993405" y="2651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5340877" y="2624328"/>
            <a:ext cx="6165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사업자등록증 사진 한 장. 대표자 이름과 등록번호가 보이면 됩니다.</a:t>
            </a:r>
            <a:endParaRPr lang="en-US" sz="1020" dirty="0"/>
          </a:p>
        </p:txBody>
      </p:sp>
      <p:sp>
        <p:nvSpPr>
          <p:cNvPr id="16" name="Shape 11"/>
          <p:cNvSpPr/>
          <p:nvPr/>
        </p:nvSpPr>
        <p:spPr>
          <a:xfrm>
            <a:off x="4993405" y="3163824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993405" y="31638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5340877" y="3136392"/>
            <a:ext cx="6165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가게 전화번호와 주소. 지도에서 가게를 찾아 고르시면 주소는 자동으로 들어갑니다.</a:t>
            </a:r>
            <a:endParaRPr lang="en-US" sz="1020" dirty="0"/>
          </a:p>
        </p:txBody>
      </p:sp>
      <p:sp>
        <p:nvSpPr>
          <p:cNvPr id="19" name="Shape 14"/>
          <p:cNvSpPr/>
          <p:nvPr/>
        </p:nvSpPr>
        <p:spPr>
          <a:xfrm>
            <a:off x="4993405" y="3675888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993405" y="3675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5340877" y="3648456"/>
            <a:ext cx="6165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정산받을 계좌. 사장님 본인 계좌여야 합니다.</a:t>
            </a:r>
            <a:endParaRPr lang="en-US" sz="1020" dirty="0"/>
          </a:p>
        </p:txBody>
      </p:sp>
      <p:sp>
        <p:nvSpPr>
          <p:cNvPr id="22" name="Shape 17"/>
          <p:cNvSpPr/>
          <p:nvPr/>
        </p:nvSpPr>
        <p:spPr>
          <a:xfrm>
            <a:off x="4993405" y="4187952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993405" y="41879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5340877" y="4160520"/>
            <a:ext cx="6165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이용권으로 팔 메뉴 하나와 가격. 하나만 있어도 시작됩니다.</a:t>
            </a:r>
            <a:endParaRPr lang="en-US" sz="1020" dirty="0"/>
          </a:p>
        </p:txBody>
      </p:sp>
      <p:sp>
        <p:nvSpPr>
          <p:cNvPr id="25" name="Text 20"/>
          <p:cNvSpPr txBox="1"/>
          <p:nvPr/>
        </p:nvSpPr>
        <p:spPr>
          <a:xfrm>
            <a:off x="4993405" y="4946904"/>
            <a:ext cx="65124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승인까지 얼마나 걸립니까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4993405" y="5358384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993405" y="53583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5340877" y="5330952"/>
            <a:ext cx="6165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서류가 맞으면 영업일 기준 하루 안에 봅니다. 승인되면 문자로 알려드립니다.</a:t>
            </a:r>
            <a:endParaRPr lang="en-US" sz="1020" dirty="0"/>
          </a:p>
        </p:txBody>
      </p:sp>
      <p:sp>
        <p:nvSpPr>
          <p:cNvPr id="29" name="Shape 24"/>
          <p:cNvSpPr/>
          <p:nvPr/>
        </p:nvSpPr>
        <p:spPr>
          <a:xfrm>
            <a:off x="4993405" y="5870448"/>
            <a:ext cx="237744" cy="2377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4993405" y="5870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31" name="Text 26"/>
          <p:cNvSpPr txBox="1"/>
          <p:nvPr/>
        </p:nvSpPr>
        <p:spPr>
          <a:xfrm>
            <a:off x="5340877" y="5843016"/>
            <a:ext cx="6165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2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반려되면 무엇이 안 맞는지 적어 보냅니다. 다시 올리시면 됩니다.</a:t>
            </a:r>
            <a:endParaRPr lang="en-US" sz="10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4 · 시작하는 방법과 요청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상인회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상인회에 세 가지를 부탁드립니다.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 매장을 설득하는 일은 유어딜이 하겠습니다. 자리만 만들어 주시면 됩니다.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194560"/>
            <a:ext cx="3454298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41832" y="2359152"/>
            <a:ext cx="365760" cy="365760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41832" y="2359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941832" y="2798064"/>
            <a:ext cx="29422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설명회 자리 한 번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41832" y="3154680"/>
            <a:ext cx="29422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3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사무국 회의실에서 30분이면 됩니다. 유어딜이 찾아갑니다. 회원분들이 묻고 싶은 것을 그 자리에서 답하겠습니다.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4368698" y="2194560"/>
            <a:ext cx="3454298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24730" y="2359152"/>
            <a:ext cx="365760" cy="365760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24730" y="2359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4624730" y="2798064"/>
            <a:ext cx="29422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희망 매장 명단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624730" y="3154680"/>
            <a:ext cx="29422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3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가게 이름, 업종, 대표 메뉴, 연락처만 주시면 됩니다. 등록은 유어딜이 전화로 대신 하겠습니다.</a:t>
            </a:r>
            <a:endParaRPr lang="en-US" sz="1030" dirty="0"/>
          </a:p>
        </p:txBody>
      </p:sp>
      <p:sp>
        <p:nvSpPr>
          <p:cNvPr id="18" name="Shape 15"/>
          <p:cNvSpPr/>
          <p:nvPr/>
        </p:nvSpPr>
        <p:spPr>
          <a:xfrm>
            <a:off x="8051597" y="2194560"/>
            <a:ext cx="3454298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307629" y="2359152"/>
            <a:ext cx="365760" cy="365760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307629" y="2359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8307629" y="2798064"/>
            <a:ext cx="29422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 안내 한 번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307629" y="3154680"/>
            <a:ext cx="29422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3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단톡방이나 게시판에 안내문 한 장. 안내문은 유어딜이 상권 이름을 넣어 만들어 드립니다.</a:t>
            </a:r>
            <a:endParaRPr lang="en-US" sz="103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422452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유어딜이 드리는 것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85800" y="4535424"/>
            <a:ext cx="402336" cy="402336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407" y="4640031"/>
            <a:ext cx="193121" cy="193121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234440" y="4535424"/>
            <a:ext cx="206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대행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1234440" y="4800600"/>
            <a:ext cx="206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전화로 받아 적어 대신 등록합니다</a:t>
            </a:r>
            <a:endParaRPr lang="en-US" sz="980" dirty="0"/>
          </a:p>
        </p:txBody>
      </p:sp>
      <p:sp>
        <p:nvSpPr>
          <p:cNvPr id="28" name="Shape 24"/>
          <p:cNvSpPr/>
          <p:nvPr/>
        </p:nvSpPr>
        <p:spPr>
          <a:xfrm>
            <a:off x="3390824" y="4535424"/>
            <a:ext cx="402336" cy="402336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431" y="4640031"/>
            <a:ext cx="193121" cy="193121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3939464" y="4535424"/>
            <a:ext cx="206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사진과 메뉴 정리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3939464" y="4800600"/>
            <a:ext cx="206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사진이 없으면 찍어 드립니다</a:t>
            </a:r>
            <a:endParaRPr lang="en-US" sz="980" dirty="0"/>
          </a:p>
        </p:txBody>
      </p:sp>
      <p:sp>
        <p:nvSpPr>
          <p:cNvPr id="32" name="Shape 27"/>
          <p:cNvSpPr/>
          <p:nvPr/>
        </p:nvSpPr>
        <p:spPr>
          <a:xfrm>
            <a:off x="6095848" y="4535424"/>
            <a:ext cx="402336" cy="402336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455" y="4640031"/>
            <a:ext cx="193121" cy="193121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6644488" y="4535424"/>
            <a:ext cx="206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사무국 화면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6644488" y="4800600"/>
            <a:ext cx="206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 매장 판매를 한 화면에서</a:t>
            </a:r>
            <a:endParaRPr lang="en-US" sz="980" dirty="0"/>
          </a:p>
        </p:txBody>
      </p:sp>
      <p:sp>
        <p:nvSpPr>
          <p:cNvPr id="36" name="Shape 30"/>
          <p:cNvSpPr/>
          <p:nvPr/>
        </p:nvSpPr>
        <p:spPr>
          <a:xfrm>
            <a:off x="8800871" y="4535424"/>
            <a:ext cx="402336" cy="402336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5479" y="4640031"/>
            <a:ext cx="193121" cy="193121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9349511" y="4535424"/>
            <a:ext cx="206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수수료 5%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9349511" y="4800600"/>
            <a:ext cx="206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사무국이 대신 운영하시는 경우</a:t>
            </a:r>
            <a:endParaRPr lang="en-US" sz="980" dirty="0"/>
          </a:p>
        </p:txBody>
      </p:sp>
      <p:sp>
        <p:nvSpPr>
          <p:cNvPr id="40" name="Shape 33"/>
          <p:cNvSpPr/>
          <p:nvPr/>
        </p:nvSpPr>
        <p:spPr>
          <a:xfrm>
            <a:off x="685800" y="5376672"/>
            <a:ext cx="10820095" cy="877824"/>
          </a:xfrm>
          <a:prstGeom prst="roundRect">
            <a:avLst>
              <a:gd name="adj" fmla="val 14583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960120" y="5541264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정직하게 말씀드립니다</a:t>
            </a:r>
            <a:endParaRPr lang="en-US" sz="1250" dirty="0"/>
          </a:p>
        </p:txBody>
      </p:sp>
      <p:sp>
        <p:nvSpPr>
          <p:cNvPr id="42" name="Text 35"/>
          <p:cNvSpPr txBox="1"/>
          <p:nvPr/>
        </p:nvSpPr>
        <p:spPr>
          <a:xfrm>
            <a:off x="960120" y="5852160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유어딜은 초기 서비스입니다. 2026-10-12 기준 판매 중인 이용권 359건 가운데 실제 매장이 올린 것은 2건이고, 나머지는 시범 운영을 위한 예시입니다. 손님 수를 약속하는 대신 조건을 숫자로 먼저 공개합니다. 먼저 들어오시는 매장이 그 지역과 업종의 첫 자리를 가져갑니다.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4 · 시작하는 방법과 요청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상인회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3716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spc="-12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상권에 손님이 오는지는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400" b="1" spc="-12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숫자로 보여 드리겠습니다.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0175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몇 장 팔렸고 몇 명이 왔는지가 매장 화면에 그대로 남습니다. 올해 쓴 돈이 효과가 있었는지 짐작하지 않으셔도 됩니다.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" y="3931920"/>
            <a:ext cx="7132320" cy="0"/>
          </a:xfrm>
          <a:prstGeom prst="line">
            <a:avLst/>
          </a:prstGeom>
          <a:noFill/>
          <a:ln w="9525">
            <a:solidFill>
              <a:srgbClr val="3A3D4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카카오톡 채널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269748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pf.kakao.com/_AITdn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4206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"상인회 설명회 문의" 라고 보내 주세요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4681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2697480" y="4681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jiwon@ur-team.com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989320" y="4681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 이름과 회원 매장 수를 적어 주세요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51572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2697480" y="51572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urdeal.kr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989320" y="51572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보는 화면을 먼저 보셔도 됩니다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6080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리스터코퍼레이션 · 사업자등록번호 479-09-02930</a:t>
            </a: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5844" y="966244"/>
            <a:ext cx="2576581" cy="49255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 title(slide, text, { dark = false, y = 1.15, size = 27, w = W - 2 * M } = {}) {
    T(slide, text, { x: M, y, w, h: 0.9, fontSize: size, bold: true, color: dark ? C.darkText : C.ink, valign: 'top', lineSpacingMultiple: 1.15, charSpacing: -0.6 });
  }</dc:title>
  <dc:subject>PptxGenJS Presentation</dc:subject>
  <dc:creator>리스터코퍼레이션</dc:creator>
  <cp:lastModifiedBy>리스터코퍼레이션</cp:lastModifiedBy>
  <cp:revision>1</cp:revision>
  <dcterms:created xsi:type="dcterms:W3CDTF">2026-10-12T14:01:12Z</dcterms:created>
  <dcterms:modified xsi:type="dcterms:W3CDTF">2026-10-12T14:01:12Z</dcterms:modified>
</cp:coreProperties>
</file>