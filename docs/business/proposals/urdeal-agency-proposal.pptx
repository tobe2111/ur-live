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매장 순수취</c:v>
                </c:pt>
              </c:strCache>
            </c:strRef>
          </c:tx>
          <c:spPr>
            <a:solidFill>
              <a:srgbClr val="1C69EF"/>
            </a:solidFill>
            <a:effectLst/>
          </c:spPr>
          <c:invertIfNegative val="0"/>
          <c:dLbls>
            <c:numFmt formatCode="0&quot;%&quot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Malgun Gothic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직접 입점</c:v>
                  </c:pt>
                  <c:pt idx="1">
                    <c:v>대행사 경유, 보수 5%</c:v>
                  </c:pt>
                  <c:pt idx="2">
                    <c:v>대행사 경유, 보수 10%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90</c:v>
                </c:pt>
                <c:pt idx="1">
                  <c:v>90</c:v>
                </c:pt>
                <c:pt idx="2">
                  <c:v>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대행사 보수</c:v>
                </c:pt>
              </c:strCache>
            </c:strRef>
          </c:tx>
          <c:spPr>
            <a:solidFill>
              <a:srgbClr val="8FB4F5"/>
            </a:solidFill>
            <a:effectLst/>
          </c:spPr>
          <c:invertIfNegative val="0"/>
          <c:dLbls>
            <c:numFmt formatCode="0&quot;%&quot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Malgun Gothic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직접 입점</c:v>
                  </c:pt>
                  <c:pt idx="1">
                    <c:v>대행사 경유, 보수 5%</c:v>
                  </c:pt>
                  <c:pt idx="2">
                    <c:v>대행사 경유, 보수 10%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5</c:v>
                </c:pt>
                <c:pt idx="2">
                  <c:v>10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유어딜 수수료</c:v>
                </c:pt>
              </c:strCache>
            </c:strRef>
          </c:tx>
          <c:spPr>
            <a:solidFill>
              <a:srgbClr val="C9C5C1"/>
            </a:solidFill>
            <a:effectLst/>
          </c:spPr>
          <c:invertIfNegative val="0"/>
          <c:dLbls>
            <c:numFmt formatCode="0&quot;%&quot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Malgun Gothic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직접 입점</c:v>
                  </c:pt>
                  <c:pt idx="1">
                    <c:v>대행사 경유, 보수 5%</c:v>
                  </c:pt>
                  <c:pt idx="2">
                    <c:v>대행사 경유, 보수 10%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</c:v>
                </c:pt>
                <c:pt idx="1">
                  <c:v>5</c:v>
                </c:pt>
                <c:pt idx="2">
                  <c:v>5</c:v>
                </c:pt>
              </c:numCache>
            </c:numRef>
          </c:val>
        </c:ser>
        <c:dLbls>
          <c:numFmt formatCode="0&quot;%&quot;;;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Malgun Gothic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181C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6E2DE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5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solidFill>
          <a:srgbClr val="F8F7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6E6B68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F8F7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핵심 메시지 하나: 유어딜은 대행사에게 지급하지 않고, 중개 매장에서 5%만 뗀다. 대행사 보수는 매장 몫 95% 안에서 매장과 직접 정한다.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제품 정의. 숫자는 2026-09-07 urdeal.kr 공개 API 실측(활성 이용권 338건).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제품 정체성(2026-07-08 대표 확정): 쇼핑 공구의 벤더/에이전시 중개 모델을 오프라인 매장 이용권으로 옮긴 것. 쇼핑 벤더가 준비된 대행사 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시장 규모는 사업계획서 B-1 공개 통계. 경쟁사 비교와 재무 추정은 대표 요청으로 제외.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2026-09-04 대표 확정. store_channel direct=10% / brokered=5% (fee-resolver.ts 기본값, 어드민 조정 가능). 유어딜 정산에 중개사 지급은 등장하지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머니 경로 SSOT: fee-resolver.ts (5%/10%), seller_influencer_deals(매장 부담 소개비), 중개사 보수는 유어딜 장부 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구조 설명용 가정 숫자. 대행사 보수 5%p까지는 매장이 직접 입점보다 손해 보지 않는다는 점이 대행사의 첫 설득 문장이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사업계획서 C-2 "중개사가 얻는 것" 확장. 전용 대시보드는 2026-09-04 삭제됨. 자랑하지 말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라우트는 2026-09-07 main 기준 실재. 별도 대행사 화면은 없다(2026-09-04 삭제).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숫자는 /api/admin/ads/influencer-pool/stats 2026-09-07 실측. 발송은 대표가 직접 판단(자동 콜드 발송 없음).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store-operator-model.md §7.7: 운영자 마스킹·403 게이트·operating summary 정직성. 실제 403 발생은 staging 확인 몫이라 "서버가 막는다"까지만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소비자 경로: 홈 지도(/), 상세(/group-buy/:id) 토스 결제, /my-vouchers 지갑, 매장 QR/PIN 사용.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입점 절차: 카카오 로그인 → 사업자 인증(/seller/business-info) → 승인(일치 시 자동) → 매장 등록(/seller/stores) → 이용권 등록(/seller/products/quick).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FAQ 출처: 사업계획서 C-3, 셀러 가이드 "중개사 몫". 연락처는 사업계획서 A-2.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84048"/>
            <a:ext cx="941832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9436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 대행사 제휴 제안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10865815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223760" y="0"/>
            <a:ext cx="4967935" cy="6858000"/>
          </a:xfrm>
          <a:prstGeom prst="rect">
            <a:avLst/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84048"/>
            <a:ext cx="941832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94360" y="16002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대행사 제휴 제안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594360" y="1965960"/>
            <a:ext cx="6309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4000" b="1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매장을 모아 운영하고,</a:t>
            </a:r>
            <a:endParaRPr lang="en-US" sz="4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4000" b="1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매장에게서 받으세요.</a:t>
            </a:r>
            <a:endParaRPr lang="en-US" sz="4000" dirty="0"/>
          </a:p>
        </p:txBody>
      </p:sp>
      <p:sp>
        <p:nvSpPr>
          <p:cNvPr id="9" name="Text 5"/>
          <p:cNvSpPr txBox="1"/>
          <p:nvPr/>
        </p:nvSpPr>
        <p:spPr>
          <a:xfrm>
            <a:off x="594360" y="397764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유어딜은 식당, 카페, 미용, 숙박 이용권을 온라인 할인가로 파는 로컬 커머스입니다.</a:t>
            </a:r>
            <a:endParaRPr lang="en-US" sz="13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대행사가 데려와 운영하는 매장에서 유어딜은 5%만 뗍니다. 나머지 95%는 매장 몫이고, 대행사 보수는 그 안에서 매장과 직접 정합니다.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594360" y="5989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리스터코퍼레이션  |  2026년 9월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7863840" y="1783080"/>
            <a:ext cx="36576" cy="749808"/>
          </a:xfrm>
          <a:prstGeom prst="rect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92440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대행사가 하는 일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092440" y="2048256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매장을 데려오고, 대신 운영한다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7863840" y="2926080"/>
            <a:ext cx="36576" cy="749808"/>
          </a:xfrm>
          <a:prstGeom prst="rect">
            <a:avLst/>
          </a:prstGeom>
          <a:solidFill>
            <a:srgbClr val="3A3D44"/>
          </a:solidFill>
          <a:ln w="12700">
            <a:solidFill>
              <a:srgbClr val="3A3D44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092440" y="2880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매장이 하는 일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8092440" y="3191256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딜과 소개비를 정한다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7863840" y="4069080"/>
            <a:ext cx="36576" cy="749808"/>
          </a:xfrm>
          <a:prstGeom prst="rect">
            <a:avLst/>
          </a:prstGeom>
          <a:solidFill>
            <a:srgbClr val="3A3D44"/>
          </a:solidFill>
          <a:ln w="12700">
            <a:solidFill>
              <a:srgbClr val="3A3D44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092440" y="4023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유어딜이 하는 일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8092440" y="4334256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결제, 정산, QR 확인, 세금</a:t>
            </a:r>
            <a:endParaRPr lang="en-US" sz="1900" dirty="0"/>
          </a:p>
        </p:txBody>
      </p:sp>
      <p:sp>
        <p:nvSpPr>
          <p:cNvPr id="20" name="Text 16"/>
          <p:cNvSpPr txBox="1"/>
          <p:nvPr/>
        </p:nvSpPr>
        <p:spPr>
          <a:xfrm>
            <a:off x="8092440" y="52578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재고도, 택배도, 반품 응대도 이 구조에 없습니다.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이용권은 매장에서 쓰는 권리라, 물건이 오가지 않습니다.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84048"/>
            <a:ext cx="941832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9436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 대행사 제휴 제안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10865815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9601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배송되는 물건이 아니라,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동네에서 쓰는 권리를 팝니다.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2331720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소비자는 온라인에서 할인가로 미리 사고, 매장에 가서 QR이나 PIN으로 씁니다. 택배가 오가지 않으니 품절, 오배송, 반품이라는 사고가 애초에 없습니다. 미사용분은 100% 자동 환불되어 고객 응대가 매장이나 대행사로 흘러오지 않습니다.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94360" y="4343400"/>
            <a:ext cx="45720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68680" y="44805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338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5257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중 이용권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2880360" y="448056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2880360" y="52578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이용권 카테고리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식사, 미용, 숙소, 액티비티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5669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urdeal.kr 2026년 9월 7일 기준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806440" y="960120"/>
            <a:ext cx="5790895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989320" y="1289304"/>
            <a:ext cx="502920" cy="50292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050" y="1415034"/>
            <a:ext cx="251460" cy="2514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675120" y="11155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이용권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6675120" y="1435608"/>
            <a:ext cx="47393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식당, 미용, 숙박, 액티비티를 할인가로 미리 구매한 뒤 매장에서 QR이나 PIN으로 사용합니다. 유효기간은 매장이 정합니다.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806440" y="2240280"/>
            <a:ext cx="5790895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989320" y="2569464"/>
            <a:ext cx="502920" cy="50292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050" y="2695194"/>
            <a:ext cx="251460" cy="25146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675120" y="23957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교환권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6675120" y="2715768"/>
            <a:ext cx="47393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기프티콘형 즉시 교환권. 결제 즉시 발급되며 선물하기와 소액 전환에 강합니다.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5806440" y="3520440"/>
            <a:ext cx="5790895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5989320" y="3849624"/>
            <a:ext cx="502920" cy="50292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5050" y="3975354"/>
            <a:ext cx="251460" cy="25146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6675120" y="3675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동네딜</a:t>
            </a:r>
            <a:endParaRPr lang="en-US" sz="1500" dirty="0"/>
          </a:p>
        </p:txBody>
      </p:sp>
      <p:sp>
        <p:nvSpPr>
          <p:cNvPr id="27" name="Text 21"/>
          <p:cNvSpPr txBox="1"/>
          <p:nvPr/>
        </p:nvSpPr>
        <p:spPr>
          <a:xfrm>
            <a:off x="6675120" y="3995928"/>
            <a:ext cx="47393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지도에서 찾는 내 주변 딜. 행정동 단위로 노출되어 상권이 뚜렷한 매장일수록 유리합니다.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5806440" y="4800600"/>
            <a:ext cx="5790895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5989320" y="5129784"/>
            <a:ext cx="502920" cy="50292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5050" y="5255514"/>
            <a:ext cx="251460" cy="25146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6675120" y="4956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유어샵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6675120" y="5276088"/>
            <a:ext cx="47393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가입한 누구나 urdeal.kr/u/{주소} 진열대를 갖습니다. 매장에게는 카톡에 붙이면 미리보기 카드가 뜨는 내 페이지입니다.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84048"/>
            <a:ext cx="941832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9436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 대행사 제휴 제안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10865815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960120"/>
            <a:ext cx="11002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쇼핑 공구의 벤더 모델을, 오프라인 이용권으로 옮겼습니다.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82880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공구 벤더가 이미 아는 구조입니다. 브랜드와 인플루언서를 조율하고 마진을 나누던 일이, 매장과 인플루언서를 조율하는 일로 바뀝니다. 재고와 택배와 반품이 빠지고, 정산은 자동이 됩니다. 경쟁이 아니라 이식입니다.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743200"/>
          <a:ext cx="1100297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206240"/>
                <a:gridCol w="4965192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8016" marR="128016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8A85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쇼핑 공구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8016" marR="128016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8A85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유어딜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8016" marR="128016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6E6B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조율자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8016" marR="128016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E6B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벤더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8016" marR="128016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18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대행사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8016" marR="128016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6E6B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조율 대상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8016" marR="128016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E6B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브랜드와 인플루언서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8016" marR="128016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18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매장과 인플루언서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8016" marR="128016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6E6B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판매물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8016" marR="128016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E6B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8016" marR="128016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18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이용권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8016" marR="128016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6E6B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수령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8016" marR="128016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E6B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택배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8016" marR="128016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18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매장 방문, QR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8016" marR="128016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6E6B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마진 분배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8016" marR="128016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E6B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브랜드 프로모션 예산을 벤더와 인플루언서가 나눔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8016" marR="128016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18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매장 몫 95% 안에서 대행사와 인플루언서가 나눔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8016" marR="128016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6E6B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 몫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8016" marR="128016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E6B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오픈마켓 수수료와 PG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8016" marR="128016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18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결제, 정산, QR 인프라 5%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8016" marR="128016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6E6B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남는 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8016" marR="128016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E6B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재고, 배송, 반품, 정산 엑셀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8016" marR="128016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18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없음. 정산과 원천징수는 자동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28016" marR="128016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84048"/>
            <a:ext cx="941832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9436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 대행사 제휴 제안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10865815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960120"/>
            <a:ext cx="11002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대상은 동네 상권 전체이고, 온라인화는 이미 진행 중입니다.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94360" y="2057400"/>
            <a:ext cx="3484778" cy="3566160"/>
          </a:xfrm>
          <a:prstGeom prst="roundRect">
            <a:avLst>
              <a:gd name="adj" fmla="val 31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14400" y="228600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596만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20040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소상공인 사업체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657600"/>
            <a:ext cx="284469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숙박, 음식점 79만 개와 도소매 200만 개가 이용권과 동네딜의 핵심 대상입니다.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12064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중기부, 소진공 2023 소상공인실태조사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353458" y="2057400"/>
            <a:ext cx="3484778" cy="3566160"/>
          </a:xfrm>
          <a:prstGeom prst="roundRect">
            <a:avLst>
              <a:gd name="adj" fmla="val 31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673498" y="228600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172.7조</a:t>
            </a:r>
            <a:endParaRPr lang="en-US" sz="4400" dirty="0"/>
          </a:p>
        </p:txBody>
      </p:sp>
      <p:sp>
        <p:nvSpPr>
          <p:cNvPr id="13" name="Text 10"/>
          <p:cNvSpPr txBox="1"/>
          <p:nvPr/>
        </p:nvSpPr>
        <p:spPr>
          <a:xfrm>
            <a:off x="4673498" y="320040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O2O 서비스 거래액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673498" y="3657600"/>
            <a:ext cx="284469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연평균 11.4%씩 자라는 오프라인 상거래의 온라인화. 유어딜이 파고드는 흐름입니다.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4673498" y="512064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KISDI 2023 O2O 서비스산업 시장조사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8112557" y="2057400"/>
            <a:ext cx="3484778" cy="3566160"/>
          </a:xfrm>
          <a:prstGeom prst="roundRect">
            <a:avLst>
              <a:gd name="adj" fmla="val 31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8432597" y="228600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10조</a:t>
            </a:r>
            <a:endParaRPr lang="en-US" sz="4400" dirty="0"/>
          </a:p>
        </p:txBody>
      </p:sp>
      <p:sp>
        <p:nvSpPr>
          <p:cNvPr id="18" name="Text 15"/>
          <p:cNvSpPr txBox="1"/>
          <p:nvPr/>
        </p:nvSpPr>
        <p:spPr>
          <a:xfrm>
            <a:off x="8432597" y="320040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 상품권 시장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2597" y="3657600"/>
            <a:ext cx="284469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2019년 3조에서 3배. 미리 사서 매장에서 쓰는 습관이 이미 있습니다.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432597" y="512064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업계 및 언론 추정, 2023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5852160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수치는 발표 시점과 집계 범위에 따라 편차가 있습니다. 시장 전체가 아니라, 그중 손님이 방문해서 쓰는 업종이 유어딜의 직접 대상입니다.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84048"/>
            <a:ext cx="941832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9436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 대행사 제휴 제안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10865815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960120"/>
            <a:ext cx="11002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유어딜은 대행사에게 지급하지 않습니다.</a:t>
            </a:r>
            <a:endParaRPr lang="en-US" sz="3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대신 대행사가 데려온 매장에서 5%만 뗍니다.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94360" y="2468880"/>
            <a:ext cx="3017520" cy="34290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68680" y="26517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매장이 직접 입점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0175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10%</a:t>
            </a:r>
            <a:endParaRPr lang="en-US" sz="54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39319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 수수료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68680" y="4389120"/>
            <a:ext cx="2468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" y="45262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90%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51206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몫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840480" y="2468880"/>
            <a:ext cx="3017520" cy="3429000"/>
          </a:xfrm>
          <a:prstGeom prst="roundRect">
            <a:avLst>
              <a:gd name="adj" fmla="val 3636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4114800" y="26517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대행사가 데려와 운영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4114800" y="30175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5%</a:t>
            </a:r>
            <a:endParaRPr lang="en-US" sz="5400" dirty="0"/>
          </a:p>
        </p:txBody>
      </p:sp>
      <p:sp>
        <p:nvSpPr>
          <p:cNvPr id="16" name="Text 13"/>
          <p:cNvSpPr txBox="1"/>
          <p:nvPr/>
        </p:nvSpPr>
        <p:spPr>
          <a:xfrm>
            <a:off x="4114800" y="39319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 수수료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114800" y="4389120"/>
            <a:ext cx="2468880" cy="0"/>
          </a:xfrm>
          <a:prstGeom prst="line">
            <a:avLst/>
          </a:prstGeom>
          <a:noFill/>
          <a:ln w="9525">
            <a:solidFill>
              <a:srgbClr val="3A3D4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114800" y="45262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95%</a:t>
            </a:r>
            <a:endParaRPr lang="en-US" sz="2800" dirty="0"/>
          </a:p>
        </p:txBody>
      </p:sp>
      <p:sp>
        <p:nvSpPr>
          <p:cNvPr id="19" name="Text 16"/>
          <p:cNvSpPr txBox="1"/>
          <p:nvPr/>
        </p:nvSpPr>
        <p:spPr>
          <a:xfrm>
            <a:off x="4114800" y="51206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몫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7315200" y="2468880"/>
            <a:ext cx="42821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5%는 온전히 유어딜 몫입니다</a:t>
            </a:r>
            <a:endParaRPr lang="en-US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7315200" y="2816352"/>
            <a:ext cx="4282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낮춘 요율은 대행사에게 주는 돈이 아니라 매장에게 드리는 여유입니다. 유어딜이 대행사에게 지급하는 항목은 없습니다.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7315200" y="3657600"/>
            <a:ext cx="42821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대행사 보수는 95% 안에서 매장과 직접</a:t>
            </a:r>
            <a:endParaRPr lang="en-US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7315200" y="4005072"/>
            <a:ext cx="4282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금액, 방식, 기간 모두 두 분의 계약입니다. 유어딜은 그 계약에 관여하지 않고, 정산서에도 한 줄 나오지 않습니다.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315200" y="4846320"/>
            <a:ext cx="42821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이중 수수료가 성립할 수 없는 구조</a:t>
            </a:r>
            <a:endParaRPr lang="en-US" sz="1450" dirty="0"/>
          </a:p>
        </p:txBody>
      </p:sp>
      <p:sp>
        <p:nvSpPr>
          <p:cNvPr id="25" name="Text 22"/>
          <p:cNvSpPr txBox="1"/>
          <p:nvPr/>
        </p:nvSpPr>
        <p:spPr>
          <a:xfrm>
            <a:off x="7315200" y="5193792"/>
            <a:ext cx="4282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플랫폼이 떼는 것은 하나뿐입니다. 사장님이 "대행사 붙이면 수수료가 두 번 나가나요"라고 물으면, 아니라고 답하시면 됩니다.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84048"/>
            <a:ext cx="941832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9436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 대행사 제휴 제안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10865815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960120"/>
            <a:ext cx="11002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손님이 낸 100원은 이렇게 흐릅니다.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94360" y="1874520"/>
            <a:ext cx="324612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68680" y="20116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 결제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28600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100원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9718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토스 간편결제로 할인가를 냅니다. 이용권이 즉시 발급됩니다.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3931920" y="26060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4389120" y="1874520"/>
            <a:ext cx="3246120" cy="1965960"/>
          </a:xfrm>
          <a:prstGeom prst="roundRect">
            <a:avLst>
              <a:gd name="adj" fmla="val 5581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663440" y="20116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663440" y="228600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5원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4663440" y="29718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결제, 발급, QR 확인, 정산, 세금 처리의 인프라 비용입니다. 여기서 끝입니다.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7726680" y="26060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8183880" y="1874520"/>
            <a:ext cx="3246120" cy="1965960"/>
          </a:xfrm>
          <a:prstGeom prst="roundRect">
            <a:avLst>
              <a:gd name="adj" fmla="val 5581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8458200" y="20116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몫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458200" y="228600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95원</a:t>
            </a:r>
            <a:endParaRPr lang="en-US" sz="3400" dirty="0"/>
          </a:p>
        </p:txBody>
      </p:sp>
      <p:sp>
        <p:nvSpPr>
          <p:cNvPr id="19" name="Text 16"/>
          <p:cNvSpPr txBox="1"/>
          <p:nvPr/>
        </p:nvSpPr>
        <p:spPr>
          <a:xfrm>
            <a:off x="8458200" y="29718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계좌로 정산됩니다. 이 안에서 매장이 두 가지를 정합니다.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594360" y="4114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몫 95% 안에서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94360" y="448056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4594860"/>
            <a:ext cx="228600" cy="22860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188720" y="45079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인플루언서 소개비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594360" y="5029200"/>
            <a:ext cx="3246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매장이 딜마다 제안하는 비율. 매장 부담이며, 링크 귀속과 정산과 원천징수는 유어딜이 자동으로 처리합니다. 대행사가 걷거나 나눌 일이 없습니다.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4389120" y="448056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3420" y="4594860"/>
            <a:ext cx="228600" cy="22860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4983480" y="45079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대행사 보수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4389120" y="5029200"/>
            <a:ext cx="3246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매장과 대행사의 계약입니다. 정액이든 매출 비율이든 두 분이 정하고, 유어딜 장부 밖에서 오갑니다.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8183880" y="448056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8180" y="4594860"/>
            <a:ext cx="228600" cy="2286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8778240" y="45079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순수취</a:t>
            </a:r>
            <a:endParaRPr lang="en-US" sz="1400" dirty="0"/>
          </a:p>
        </p:txBody>
      </p:sp>
      <p:sp>
        <p:nvSpPr>
          <p:cNvPr id="32" name="Text 26"/>
          <p:cNvSpPr txBox="1"/>
          <p:nvPr/>
        </p:nvSpPr>
        <p:spPr>
          <a:xfrm>
            <a:off x="8183880" y="5029200"/>
            <a:ext cx="3246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둘을 뺀 나머지. 대행사 보수를 5%p 안에 잡으면 사장님 손에는 직접 입점과 같은 돈이 남습니다.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84048"/>
            <a:ext cx="941832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9436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 대행사 제휴 제안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10865815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96012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대행사 보수 5%p까지는,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사장님 손에 남는 돈이 직접 입점과 같습니다.</a:t>
            </a:r>
            <a:endParaRPr lang="en-US" sz="2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94360" y="2103120"/>
          <a:ext cx="676656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818120" y="960120"/>
            <a:ext cx="3779215" cy="530352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8092440" y="1143000"/>
            <a:ext cx="3230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예시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8092440" y="141732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이용권 20,000원 × 100건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092440" y="1783080"/>
            <a:ext cx="3230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2,000,000원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8092440" y="2468880"/>
            <a:ext cx="18737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 5%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9707728" y="2468880"/>
            <a:ext cx="1615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100,000원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8092440" y="2898648"/>
            <a:ext cx="18737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몫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9707728" y="2898648"/>
            <a:ext cx="1615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1,900,000원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8092440" y="3282696"/>
            <a:ext cx="323057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092440" y="3328416"/>
            <a:ext cx="18737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대행사 보수 5%일 때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9707728" y="3328416"/>
            <a:ext cx="1615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100,000원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8092440" y="3758184"/>
            <a:ext cx="18737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→ 사장님 순수취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9707728" y="3758184"/>
            <a:ext cx="1615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1,800,000원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8092440" y="4142232"/>
            <a:ext cx="323057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092440" y="4187952"/>
            <a:ext cx="18737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대행사 보수 10%일 때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9707728" y="4187952"/>
            <a:ext cx="1615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200,000원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8092440" y="4617720"/>
            <a:ext cx="18737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→ 사장님 순수취</a:t>
            </a:r>
            <a:endParaRPr lang="en-US" sz="1150" dirty="0"/>
          </a:p>
        </p:txBody>
      </p:sp>
      <p:sp>
        <p:nvSpPr>
          <p:cNvPr id="24" name="Text 20"/>
          <p:cNvSpPr txBox="1"/>
          <p:nvPr/>
        </p:nvSpPr>
        <p:spPr>
          <a:xfrm>
            <a:off x="9707728" y="4617720"/>
            <a:ext cx="1615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1,700,000원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8092440" y="5120640"/>
            <a:ext cx="32305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입점이면 사장님 순수취는 1,800,000원입니다. 인플루언서 소개비는 매장이 딜마다 따로 정하는 값이라 이 계산에서 뺐습니다. 요율은 유어딜 어드민 설정 기준 기본값입니다.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84048"/>
            <a:ext cx="941832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9436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 대행사 제휴 제안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10865815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960120"/>
            <a:ext cx="11002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대행사가 얻는 것은 다섯 가지입니다.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94360" y="1892808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2007108"/>
            <a:ext cx="228600" cy="2286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34440" y="1874520"/>
            <a:ext cx="4632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재원이 구조 안에 있습니다</a:t>
            </a:r>
            <a:endParaRPr lang="en-US" sz="1450" dirty="0"/>
          </a:p>
        </p:txBody>
      </p:sp>
      <p:sp>
        <p:nvSpPr>
          <p:cNvPr id="9" name="Text 5"/>
          <p:cNvSpPr txBox="1"/>
          <p:nvPr/>
        </p:nvSpPr>
        <p:spPr>
          <a:xfrm>
            <a:off x="1234440" y="2240280"/>
            <a:ext cx="46328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대행사 매장은 유어딜 수수료가 10%가 아니라 5%입니다. 그 5%p가 매장에게 생기는 여유이고, 대행사 보수의 재원입니다. 별도 광고비를 먼저 받을 필요가 없습니다.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6324448" y="1892808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748" y="2007108"/>
            <a:ext cx="228600" cy="2286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964528" y="1874520"/>
            <a:ext cx="4632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도구를 새로 만들지 않습니다</a:t>
            </a:r>
            <a:endParaRPr lang="en-US" sz="1450" dirty="0"/>
          </a:p>
        </p:txBody>
      </p:sp>
      <p:sp>
        <p:nvSpPr>
          <p:cNvPr id="13" name="Text 8"/>
          <p:cNvSpPr txBox="1"/>
          <p:nvPr/>
        </p:nvSpPr>
        <p:spPr>
          <a:xfrm>
            <a:off x="6964528" y="2240280"/>
            <a:ext cx="46328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전용 계정도, 전용 대시보드도 없습니다. 셀러 대시보드 하나에 로그인해서 맡은 매장 사이를 전환합니다. 매장마다 계정을 파고 비밀번호를 받아 두는 일이 사라집니다.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594360" y="3310128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" y="3424428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34440" y="3291840"/>
            <a:ext cx="4632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인플루언서 섭외 채널이 들어 있습니다</a:t>
            </a:r>
            <a:endParaRPr lang="en-US" sz="1450" dirty="0"/>
          </a:p>
        </p:txBody>
      </p:sp>
      <p:sp>
        <p:nvSpPr>
          <p:cNvPr id="17" name="Text 11"/>
          <p:cNvSpPr txBox="1"/>
          <p:nvPr/>
        </p:nvSpPr>
        <p:spPr>
          <a:xfrm>
            <a:off x="1234440" y="3657600"/>
            <a:ext cx="46328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유어애즈가 모은 인플루언서 DB에서 찾아 제안을 접수하면 유어딜이 발송합니다. 딜이 맺어지면 링크 귀속, 커미션 적립, 원천징수까지 자동입니다.</a:t>
            </a:r>
            <a:endParaRPr lang="en-US" sz="1150" dirty="0"/>
          </a:p>
        </p:txBody>
      </p:sp>
      <p:sp>
        <p:nvSpPr>
          <p:cNvPr id="18" name="Shape 12"/>
          <p:cNvSpPr/>
          <p:nvPr/>
        </p:nvSpPr>
        <p:spPr>
          <a:xfrm>
            <a:off x="6324448" y="3310128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8748" y="3424428"/>
            <a:ext cx="228600" cy="22860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964528" y="3291840"/>
            <a:ext cx="4632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결제, 정산, QR 확인, 세금은 유어딜이 합니다</a:t>
            </a:r>
            <a:endParaRPr lang="en-US" sz="1450" dirty="0"/>
          </a:p>
        </p:txBody>
      </p:sp>
      <p:sp>
        <p:nvSpPr>
          <p:cNvPr id="21" name="Text 14"/>
          <p:cNvSpPr txBox="1"/>
          <p:nvPr/>
        </p:nvSpPr>
        <p:spPr>
          <a:xfrm>
            <a:off x="6964528" y="3657600"/>
            <a:ext cx="46328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대행사가 돈을 걷거나 나누는 지점이 없습니다. 판매 대금은 매장 계좌로, 소개비는 인플루언서에게, 각각 자동으로 갑니다.</a:t>
            </a:r>
            <a:endParaRPr lang="en-US" sz="1150" dirty="0"/>
          </a:p>
        </p:txBody>
      </p:sp>
      <p:sp>
        <p:nvSpPr>
          <p:cNvPr id="22" name="Shape 15"/>
          <p:cNvSpPr/>
          <p:nvPr/>
        </p:nvSpPr>
        <p:spPr>
          <a:xfrm>
            <a:off x="594360" y="4727448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" y="4841748"/>
            <a:ext cx="228600" cy="2286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234440" y="4709160"/>
            <a:ext cx="4632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관계는 권한 한 줄입니다</a:t>
            </a:r>
            <a:endParaRPr lang="en-US" sz="1450" dirty="0"/>
          </a:p>
        </p:txBody>
      </p:sp>
      <p:sp>
        <p:nvSpPr>
          <p:cNvPr id="25" name="Text 17"/>
          <p:cNvSpPr txBox="1"/>
          <p:nvPr/>
        </p:nvSpPr>
        <p:spPr>
          <a:xfrm>
            <a:off x="1234440" y="507492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매장과의 관계는 운영 권한 하나로 표현됩니다. 사장님이 직접 이어받을 때도 계정을 양도하는 게 아니라 권한을 바꿀 뿐이라, 상품과 주문과 리뷰가 그대로 남습니다.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84048"/>
            <a:ext cx="941832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9436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 대행사 제휴 제안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10865815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960120"/>
            <a:ext cx="11002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셀러 대시보드 화면 여섯 장이 대행사의 도구 전부입니다.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94360" y="1828800"/>
            <a:ext cx="348477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057400"/>
            <a:ext cx="438912" cy="43891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167128"/>
            <a:ext cx="219456" cy="21945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71600" y="2057400"/>
            <a:ext cx="2570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관리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1371600" y="2313432"/>
            <a:ext cx="2570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/seller/stores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2670048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카카오맵으로 매장을 찾아 등록하고 국세청 사업자 검증을 겁니다. 등록 시 채널을 "중개"로 고르면 5% 요율이 적용됩니다. 맡은 매장 사이를 상단에서 전환합니다.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353458" y="1828800"/>
            <a:ext cx="348477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82058" y="2057400"/>
            <a:ext cx="438912" cy="43891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1786" y="2167128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30698" y="2057400"/>
            <a:ext cx="2570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권한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5130698" y="2313432"/>
            <a:ext cx="2570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/seller/operators</a:t>
            </a:r>
            <a:endParaRPr lang="en-US" sz="950" dirty="0"/>
          </a:p>
        </p:txBody>
      </p:sp>
      <p:sp>
        <p:nvSpPr>
          <p:cNvPr id="17" name="Text 12"/>
          <p:cNvSpPr txBox="1"/>
          <p:nvPr/>
        </p:nvSpPr>
        <p:spPr>
          <a:xfrm>
            <a:off x="4582058" y="2670048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사장님이 유어딜 핸들이나 이메일로 운영자를 추가합니다. 회수는 언제든, 조건 없이 가능합니다.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8112557" y="1828800"/>
            <a:ext cx="348477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341157" y="2057400"/>
            <a:ext cx="438912" cy="43891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0885" y="2167128"/>
            <a:ext cx="219456" cy="21945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889797" y="2057400"/>
            <a:ext cx="2570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인플루언서 탐색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8889797" y="2313432"/>
            <a:ext cx="2570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/seller/influencers</a:t>
            </a:r>
            <a:endParaRPr lang="en-US" sz="950" dirty="0"/>
          </a:p>
        </p:txBody>
      </p:sp>
      <p:sp>
        <p:nvSpPr>
          <p:cNvPr id="23" name="Text 17"/>
          <p:cNvSpPr txBox="1"/>
          <p:nvPr/>
        </p:nvSpPr>
        <p:spPr>
          <a:xfrm>
            <a:off x="8341157" y="2670048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플랫폼과 팔로워 구간으로 걸러 보고, 매장 소개글을 담아 제안을 접수합니다. 연락처는 화면에 없고 발송은 유어딜이 합니다.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594360" y="3886200"/>
            <a:ext cx="348477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822960" y="4114800"/>
            <a:ext cx="438912" cy="43891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4224528"/>
            <a:ext cx="219456" cy="21945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371600" y="4114800"/>
            <a:ext cx="2570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소개 협업</a:t>
            </a:r>
            <a:endParaRPr lang="en-US" sz="1400" dirty="0"/>
          </a:p>
        </p:txBody>
      </p:sp>
      <p:sp>
        <p:nvSpPr>
          <p:cNvPr id="28" name="Text 21"/>
          <p:cNvSpPr txBox="1"/>
          <p:nvPr/>
        </p:nvSpPr>
        <p:spPr>
          <a:xfrm>
            <a:off x="1371600" y="4370832"/>
            <a:ext cx="2570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/seller/influencer-deals</a:t>
            </a:r>
            <a:endParaRPr lang="en-US" sz="950" dirty="0"/>
          </a:p>
        </p:txBody>
      </p:sp>
      <p:sp>
        <p:nvSpPr>
          <p:cNvPr id="29" name="Text 22"/>
          <p:cNvSpPr txBox="1"/>
          <p:nvPr/>
        </p:nvSpPr>
        <p:spPr>
          <a:xfrm>
            <a:off x="822960" y="4727448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소개해 줄 사람에게 우대 커미션 %를 제안하거나 받은 신청에 응답합니다. 콘텐츠 게시를 확인한 뒤 발효되는 조건부 제안도 됩니다.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4353458" y="3886200"/>
            <a:ext cx="348477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4582058" y="4114800"/>
            <a:ext cx="438912" cy="43891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1786" y="4224528"/>
            <a:ext cx="219456" cy="219456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5130698" y="4114800"/>
            <a:ext cx="2570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소개비 지출 내역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5130698" y="4370832"/>
            <a:ext cx="2570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/seller/promo-spend</a:t>
            </a:r>
            <a:endParaRPr lang="en-US" sz="950" dirty="0"/>
          </a:p>
        </p:txBody>
      </p:sp>
      <p:sp>
        <p:nvSpPr>
          <p:cNvPr id="35" name="Text 27"/>
          <p:cNvSpPr txBox="1"/>
          <p:nvPr/>
        </p:nvSpPr>
        <p:spPr>
          <a:xfrm>
            <a:off x="4582058" y="4727448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매장에서 나간 소개비를 수령인별, 딜별로 봅니다. 운영을 맡겼어도 사장님이 항상 직접 열람하는 화면입니다.</a:t>
            </a:r>
            <a:endParaRPr lang="en-US" sz="1050" dirty="0"/>
          </a:p>
        </p:txBody>
      </p:sp>
      <p:sp>
        <p:nvSpPr>
          <p:cNvPr id="36" name="Shape 28"/>
          <p:cNvSpPr/>
          <p:nvPr/>
        </p:nvSpPr>
        <p:spPr>
          <a:xfrm>
            <a:off x="8112557" y="3886200"/>
            <a:ext cx="348477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37" name="Shape 29"/>
          <p:cNvSpPr/>
          <p:nvPr/>
        </p:nvSpPr>
        <p:spPr>
          <a:xfrm>
            <a:off x="8341157" y="4114800"/>
            <a:ext cx="438912" cy="43891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50885" y="4224528"/>
            <a:ext cx="219456" cy="219456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8889797" y="4114800"/>
            <a:ext cx="2570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매장 요약</a:t>
            </a:r>
            <a:endParaRPr lang="en-US" sz="1400" dirty="0"/>
          </a:p>
        </p:txBody>
      </p:sp>
      <p:sp>
        <p:nvSpPr>
          <p:cNvPr id="40" name="Text 31"/>
          <p:cNvSpPr txBox="1"/>
          <p:nvPr/>
        </p:nvSpPr>
        <p:spPr>
          <a:xfrm>
            <a:off x="8889797" y="4370832"/>
            <a:ext cx="2570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/seller/operating</a:t>
            </a:r>
            <a:endParaRPr lang="en-US" sz="950" dirty="0"/>
          </a:p>
        </p:txBody>
      </p:sp>
      <p:sp>
        <p:nvSpPr>
          <p:cNvPr id="41" name="Text 32"/>
          <p:cNvSpPr txBox="1"/>
          <p:nvPr/>
        </p:nvSpPr>
        <p:spPr>
          <a:xfrm>
            <a:off x="8341157" y="4727448"/>
            <a:ext cx="30275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맡은 매장마다 활성 이용권 수, 누적 매출과 주문, 운영 시작 이후 구간의 매출을 봅니다. 매장에 청구할 근거가 여기서 나옵니다.</a:t>
            </a:r>
            <a:endParaRPr lang="en-US" sz="1050" dirty="0"/>
          </a:p>
        </p:txBody>
      </p:sp>
      <p:sp>
        <p:nvSpPr>
          <p:cNvPr id="42" name="Text 33"/>
          <p:cNvSpPr txBox="1"/>
          <p:nvPr/>
        </p:nvSpPr>
        <p:spPr>
          <a:xfrm>
            <a:off x="594360" y="589788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이용권 등록, 주문, QR 스캔, 정산 화면은 매장 사장님이 쓰는 것과 같은 화면을 그대로 씁니다.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84048"/>
            <a:ext cx="941832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9436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 대행사 제휴 제안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10865815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960120"/>
            <a:ext cx="11002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매장에 인플루언서를 붙이는 일이, 다섯 단계로 끝납니다.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94360" y="1828800"/>
            <a:ext cx="2039661" cy="2560320"/>
          </a:xfrm>
          <a:prstGeom prst="roundRect">
            <a:avLst>
              <a:gd name="adj" fmla="val 538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029968"/>
            <a:ext cx="384048" cy="384048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542032"/>
            <a:ext cx="15824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DB에서 찾는다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889504"/>
            <a:ext cx="1582461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유어애즈가 모아 둔 인플루언서 DB를 플랫폼과 팔로워 구간으로 거릅니다.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835189" y="1828800"/>
            <a:ext cx="2039661" cy="2560320"/>
          </a:xfrm>
          <a:prstGeom prst="roundRect">
            <a:avLst>
              <a:gd name="adj" fmla="val 538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063789" y="2029968"/>
            <a:ext cx="384048" cy="384048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063789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063789" y="2542032"/>
            <a:ext cx="15824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제안을 접수한다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3063789" y="2889504"/>
            <a:ext cx="1582461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소개와 조건을 적어 접수하면 유어딜이 발송합니다. 연락처는 대행사에게도 공개되지 않습니다.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076017" y="1828800"/>
            <a:ext cx="2039661" cy="2560320"/>
          </a:xfrm>
          <a:prstGeom prst="roundRect">
            <a:avLst>
              <a:gd name="adj" fmla="val 538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304617" y="2029968"/>
            <a:ext cx="384048" cy="384048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304617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304617" y="2542032"/>
            <a:ext cx="15824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딜을 맺는다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5304617" y="2889504"/>
            <a:ext cx="1582461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커미션 %는 매장이 정합니다. 콘텐츠 게시 링크를 확인한 뒤 발효되는 조건부 제안도 됩니다.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7316846" y="1828800"/>
            <a:ext cx="2039661" cy="2560320"/>
          </a:xfrm>
          <a:prstGeom prst="roundRect">
            <a:avLst>
              <a:gd name="adj" fmla="val 538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545446" y="2029968"/>
            <a:ext cx="384048" cy="384048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545446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7545446" y="2542032"/>
            <a:ext cx="15824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귀속은 자동이다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7545446" y="2889504"/>
            <a:ext cx="1582461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수락 즉시 전용 링크가 나오고, 그 링크로 들어온 주문은 자동으로 연결됩니다. 쿠폰 코드를 확인할 일이 없습니다.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9557675" y="1828800"/>
            <a:ext cx="2039661" cy="2560320"/>
          </a:xfrm>
          <a:prstGeom prst="roundRect">
            <a:avLst>
              <a:gd name="adj" fmla="val 538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9786275" y="2029968"/>
            <a:ext cx="384048" cy="384048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786275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9786275" y="2542032"/>
            <a:ext cx="15824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정산도 자동이다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9786275" y="2889504"/>
            <a:ext cx="1582461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가능 기간 7일이 지나면 확정되고, 원천징수를 계산해 지급합니다. 환불된 주문의 커미션은 자동 회수됩니다.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594360" y="4617720"/>
            <a:ext cx="11002975" cy="1554480"/>
          </a:xfrm>
          <a:prstGeom prst="roundRect">
            <a:avLst>
              <a:gd name="adj" fmla="val 7059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868680" y="4773168"/>
            <a:ext cx="209086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198,704</a:t>
            </a:r>
            <a:endParaRPr lang="en-US" sz="2600" dirty="0"/>
          </a:p>
        </p:txBody>
      </p:sp>
      <p:sp>
        <p:nvSpPr>
          <p:cNvPr id="33" name="Text 30"/>
          <p:cNvSpPr txBox="1"/>
          <p:nvPr/>
        </p:nvSpPr>
        <p:spPr>
          <a:xfrm>
            <a:off x="868680" y="5349240"/>
            <a:ext cx="20908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인플루언서 DB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959547" y="4773168"/>
            <a:ext cx="209086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45,725</a:t>
            </a:r>
            <a:endParaRPr lang="en-US" sz="2600" dirty="0"/>
          </a:p>
        </p:txBody>
      </p:sp>
      <p:sp>
        <p:nvSpPr>
          <p:cNvPr id="35" name="Text 32"/>
          <p:cNvSpPr txBox="1"/>
          <p:nvPr/>
        </p:nvSpPr>
        <p:spPr>
          <a:xfrm>
            <a:off x="2959547" y="5349240"/>
            <a:ext cx="20908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연락 가능 인원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050414" y="4773168"/>
            <a:ext cx="209086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170,307</a:t>
            </a:r>
            <a:endParaRPr lang="en-US" sz="2600" dirty="0"/>
          </a:p>
        </p:txBody>
      </p:sp>
      <p:sp>
        <p:nvSpPr>
          <p:cNvPr id="37" name="Text 34"/>
          <p:cNvSpPr txBox="1"/>
          <p:nvPr/>
        </p:nvSpPr>
        <p:spPr>
          <a:xfrm>
            <a:off x="5050414" y="5349240"/>
            <a:ext cx="20908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블로그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7141281" y="4773168"/>
            <a:ext cx="209086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17,986</a:t>
            </a:r>
            <a:endParaRPr lang="en-US" sz="2600" dirty="0"/>
          </a:p>
        </p:txBody>
      </p:sp>
      <p:sp>
        <p:nvSpPr>
          <p:cNvPr id="39" name="Text 36"/>
          <p:cNvSpPr txBox="1"/>
          <p:nvPr/>
        </p:nvSpPr>
        <p:spPr>
          <a:xfrm>
            <a:off x="7141281" y="5349240"/>
            <a:ext cx="20908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유튜브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9232148" y="4773168"/>
            <a:ext cx="209086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9,803</a:t>
            </a:r>
            <a:endParaRPr lang="en-US" sz="2600" dirty="0"/>
          </a:p>
        </p:txBody>
      </p:sp>
      <p:sp>
        <p:nvSpPr>
          <p:cNvPr id="41" name="Text 38"/>
          <p:cNvSpPr txBox="1"/>
          <p:nvPr/>
        </p:nvSpPr>
        <p:spPr>
          <a:xfrm>
            <a:off x="9232148" y="5349240"/>
            <a:ext cx="20908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카페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868680" y="57607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9월 7일 유어딜 운영 콘솔 실측. 인스타그램과 틱톡은 탐색 필터에 있으나 DB의 대부분은 네이버 블로그와 유튜브입니다.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84048"/>
            <a:ext cx="941832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9436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 대행사 제휴 제안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10865815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960120"/>
            <a:ext cx="11002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사장님이 안심하고 맡기는 구조라, 대행사의 설득이 쉬워집니다.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94360" y="1874520"/>
            <a:ext cx="5364328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03120"/>
            <a:ext cx="438912" cy="43891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212848"/>
            <a:ext cx="219456" cy="21945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71600" y="2075688"/>
            <a:ext cx="44042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회수는 언제든, 조건 없이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71600" y="2404872"/>
            <a:ext cx="4358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사장님이 운영 권한을 회수해도 대행사가 올려 둔 이용권과 주문과 리뷰는 매장에 남습니다. 붙이는 것도 떼는 것도 권한 한 줄입니다.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233008" y="1874520"/>
            <a:ext cx="5364328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461608" y="2103120"/>
            <a:ext cx="438912" cy="43891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1336" y="2212848"/>
            <a:ext cx="219456" cy="21945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010248" y="2075688"/>
            <a:ext cx="44042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정산계좌와 사업자정보는 주인만</a:t>
            </a:r>
            <a:endParaRPr lang="en-US" sz="1350" dirty="0"/>
          </a:p>
        </p:txBody>
      </p:sp>
      <p:sp>
        <p:nvSpPr>
          <p:cNvPr id="15" name="Text 10"/>
          <p:cNvSpPr txBox="1"/>
          <p:nvPr/>
        </p:nvSpPr>
        <p:spPr>
          <a:xfrm>
            <a:off x="7010248" y="2404872"/>
            <a:ext cx="4358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운영자에게는 사업자등록번호와 대표자명이 가려 보이고, 계좌 변경과 사업자정보 수정과 탈퇴는 서버가 막습니다. 매장 돈이 딴 데로 갈 길이 없습니다.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94360" y="3337560"/>
            <a:ext cx="5364328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22960" y="3566160"/>
            <a:ext cx="438912" cy="43891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3675888"/>
            <a:ext cx="219456" cy="21945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371600" y="3538728"/>
            <a:ext cx="44042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소개비 지출은 항상 사장님이 봅니다</a:t>
            </a:r>
            <a:endParaRPr lang="en-US" sz="1350" dirty="0"/>
          </a:p>
        </p:txBody>
      </p:sp>
      <p:sp>
        <p:nvSpPr>
          <p:cNvPr id="20" name="Text 14"/>
          <p:cNvSpPr txBox="1"/>
          <p:nvPr/>
        </p:nvSpPr>
        <p:spPr>
          <a:xfrm>
            <a:off x="1371600" y="3867912"/>
            <a:ext cx="4358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운영을 맡겨도 소개비가 누구에게 얼마 나갔는지 사장님이 직접 봅니다. 투명성은 위임 여부와 무관합니다.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6233008" y="3337560"/>
            <a:ext cx="5364328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461608" y="3566160"/>
            <a:ext cx="438912" cy="43891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3675888"/>
            <a:ext cx="219456" cy="219456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010248" y="3538728"/>
            <a:ext cx="44042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성과는 정직하게 씁니다</a:t>
            </a:r>
            <a:endParaRPr lang="en-US" sz="1350" dirty="0"/>
          </a:p>
        </p:txBody>
      </p:sp>
      <p:sp>
        <p:nvSpPr>
          <p:cNvPr id="25" name="Text 18"/>
          <p:cNvSpPr txBox="1"/>
          <p:nvPr/>
        </p:nvSpPr>
        <p:spPr>
          <a:xfrm>
            <a:off x="7010248" y="3867912"/>
            <a:ext cx="4358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매장 요약은 매장 총액과 운영 시작 이후 구간을 나눠 보여 줍니다. "내가 만든 매출"이라고 부풀리지 않으니, 청구 근거로 쓸 수 있습니다.</a:t>
            </a:r>
            <a:endParaRPr lang="en-US" sz="1050" dirty="0"/>
          </a:p>
        </p:txBody>
      </p:sp>
      <p:sp>
        <p:nvSpPr>
          <p:cNvPr id="26" name="Text 19"/>
          <p:cNvSpPr txBox="1"/>
          <p:nvPr/>
        </p:nvSpPr>
        <p:spPr>
          <a:xfrm>
            <a:off x="594360" y="4892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사장님께 이렇게 말하면 됩니다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594360" y="5212080"/>
            <a:ext cx="3484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i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"가입비도 월 이용료도 없어요. 팔린 만큼만 5% 나갑니다."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4262018" y="5212080"/>
            <a:ext cx="3484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i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"계좌랑 사업자 정보는 사장님만 만질 수 있어요. 저는 못 봅니다."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7929677" y="5212080"/>
            <a:ext cx="3484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i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"맡기신 게 마음에 안 들면 오늘이라도 권한만 빼시면 돼요."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84048"/>
            <a:ext cx="941832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9436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 대행사 제휴 제안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10865815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960120"/>
            <a:ext cx="11002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 쪽에서는 화면 네 장이면 끝나서, 팔립니다.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94360" y="1874520"/>
            <a:ext cx="2545004" cy="3291840"/>
          </a:xfrm>
          <a:prstGeom prst="roundRect">
            <a:avLst>
              <a:gd name="adj" fmla="val 43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148840"/>
            <a:ext cx="548640" cy="54864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28600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68680" y="2880360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발견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868680" y="3291840"/>
            <a:ext cx="19963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지도에서 내 동네 기준으로 이용권이 뜹니다. 유어샵 링크를 카톡에 붙이면 매장 카드가 미리보기로 뜨고, 네이버와 구글 검색에도 잡힙니다. 6개 언어를 지원합니다.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3093644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3413684" y="1874520"/>
            <a:ext cx="2545004" cy="3291840"/>
          </a:xfrm>
          <a:prstGeom prst="roundRect">
            <a:avLst>
              <a:gd name="adj" fmla="val 43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688004" y="2148840"/>
            <a:ext cx="548640" cy="54864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164" y="228600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688004" y="2880360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3688004" y="3291840"/>
            <a:ext cx="19963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정가와 할인가를 함께 보고 토스로 결제합니다. 앱 설치나 가입 강요 구간이 없습니다.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5912968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Shape 13"/>
          <p:cNvSpPr/>
          <p:nvPr/>
        </p:nvSpPr>
        <p:spPr>
          <a:xfrm>
            <a:off x="6233008" y="1874520"/>
            <a:ext cx="2545004" cy="3291840"/>
          </a:xfrm>
          <a:prstGeom prst="roundRect">
            <a:avLst>
              <a:gd name="adj" fmla="val 43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507328" y="2148840"/>
            <a:ext cx="548640" cy="54864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488" y="228600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507328" y="2880360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6507328" y="3291840"/>
            <a:ext cx="19963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매장에서 QR이나 PIN을 제시합니다. 매장은 POS 없이 스마트폰으로 확인합니다.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8732291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9052331" y="1874520"/>
            <a:ext cx="2545004" cy="3291840"/>
          </a:xfrm>
          <a:prstGeom prst="roundRect">
            <a:avLst>
              <a:gd name="adj" fmla="val 43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9326651" y="2148840"/>
            <a:ext cx="548640" cy="54864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3811" y="2286000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326651" y="2880360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환불과 응대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9326651" y="3291840"/>
            <a:ext cx="19963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미사용분은 100% 자동 환불됩니다. 재고, 배송, 반품이 없어 고객 응대가 매장이나 대행사로 흘러오지 않습니다.</a:t>
            </a:r>
            <a:endParaRPr lang="en-US" sz="11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5440680"/>
            <a:ext cx="11002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가격은 매장이 정한 실제 판매가이고, 유효기간도 매장이 정합니다. 손님이 겪는 순서는 링크 클릭, 할인가 결제, 이용권 발급, 매장에서 사용입니다.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84048"/>
            <a:ext cx="941832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9436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 대행사 제휴 제안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10865815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960120"/>
            <a:ext cx="11002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시작은 다섯 단계이고, 첫 매장까지 하루면 됩니다.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868680" y="2331720"/>
            <a:ext cx="10454335" cy="0"/>
          </a:xfrm>
          <a:prstGeom prst="line">
            <a:avLst/>
          </a:prstGeom>
          <a:noFill/>
          <a:ln w="19050">
            <a:solidFill>
              <a:srgbClr val="E6E2D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2103120"/>
            <a:ext cx="457200" cy="457200"/>
          </a:xfrm>
          <a:prstGeom prst="ellipse">
            <a:avLst/>
          </a:prstGeom>
          <a:solidFill>
            <a:srgbClr val="1C69EF"/>
          </a:solidFill>
          <a:ln w="19050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788920"/>
            <a:ext cx="19262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셀러 계정을 만든다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520440"/>
            <a:ext cx="192627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 로그인 후 사업자 인증을 합니다. 대행사 자신의 사업자로 하나면 됩니다. 국세청 진위확인이 맞으면 자동 승인됩니다.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840675" y="21031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840675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2794955" y="2788920"/>
            <a:ext cx="19262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매장을 등록하거나 권한을 받는다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2794955" y="3520440"/>
            <a:ext cx="192627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매장은 /seller/stores 에서 카카오맵으로 찾아 등록하고 채널을 "중개"로 고릅니다. 이미 있는 매장은 사장님이 대행사 핸들을 운영자로 추가합니다.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041270" y="21031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C69E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4127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995550" y="2788920"/>
            <a:ext cx="19262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이용권을 올린다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4995550" y="3520440"/>
            <a:ext cx="192627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사진, 가격, 마감, 유효기간. 모바일 한 손으로 3분이면 등록됩니다. 재고를 넣을 필요가 없습니다.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241865" y="21031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C69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241865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196145" y="2788920"/>
            <a:ext cx="19262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인플루언서를 붙인다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7196145" y="3520440"/>
            <a:ext cx="192627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DB에서 찾아 제안을 접수하고, 매장이 정한 커미션 %로 딜을 맺습니다. 링크 귀속과 정산은 자동입니다.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9442460" y="21031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C69E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4424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9396740" y="2788920"/>
            <a:ext cx="19262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운영하고 정산받는다</a:t>
            </a:r>
            <a:endParaRPr lang="en-US" sz="1350" dirty="0"/>
          </a:p>
        </p:txBody>
      </p:sp>
      <p:sp>
        <p:nvSpPr>
          <p:cNvPr id="26" name="Text 23"/>
          <p:cNvSpPr txBox="1"/>
          <p:nvPr/>
        </p:nvSpPr>
        <p:spPr>
          <a:xfrm>
            <a:off x="9396740" y="3520440"/>
            <a:ext cx="192627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대금은 매장 계좌로 자동 정산됩니다. 대행사 보수는 매장과의 계약대로, 운영 매장 요약 화면의 숫자를 근거로 받습니다.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94360" y="5486400"/>
            <a:ext cx="11002975" cy="777240"/>
          </a:xfrm>
          <a:prstGeom prst="roundRect">
            <a:avLst>
              <a:gd name="adj" fmla="val 14118"/>
            </a:avLst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68680" y="5532120"/>
            <a:ext cx="104543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유어딜은 초기 서비스입니다. 트래픽을 약속하는 대신 요율과 정산 방식을 숫자로 먼저 공개합니다. 비어 있는 지역과 업종은 먼저 들어온 대행사가 가져갑니다.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84048"/>
            <a:ext cx="941832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9436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 대행사 제휴 제안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10865815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960120"/>
            <a:ext cx="11002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나오는 질문과, 지금 하실 일.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828800"/>
            <a:ext cx="536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수수료가 두 번 나가나요?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2148840"/>
            <a:ext cx="5364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아닙니다. 유어딜이 떼는 것은 하나, 중개 매장 5%뿐입니다. 대행사 보수는 매장과 대행사의 계약이고 유어딜 정산서에 나오지 않습니다.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6233008" y="1828800"/>
            <a:ext cx="536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사장님이 직접 계정을 만들면 우리 관계는요?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233008" y="2148840"/>
            <a:ext cx="5364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 양도가 아니라 권한 변경입니다. 상품, 주문, 리뷰, 정산 이력은 매장에 그대로 남고, 대행사는 운영자로 계속 일할 수 있습니다.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063240"/>
            <a:ext cx="536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비용이 드나요?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383280"/>
            <a:ext cx="5364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가입비도 월 이용료도 없습니다. 매장에서 팔린 만큼만 수수료가 나가고, 대행사가 유어딜에 내는 돈은 없습니다.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233008" y="3063240"/>
            <a:ext cx="536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정산은 언제 되나요?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233008" y="3383280"/>
            <a:ext cx="5364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구매확정 주문이 정산 대상이고, 신청 후 3~5 영업일 안에 매장 계좌로 입금됩니다. 인플루언서 소개비는 7일 성숙 후 유어딜이 지급합니다.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594360" y="4297680"/>
            <a:ext cx="536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쇼핑 공구 벤더인데 바로 할 수 있나요?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4617720"/>
            <a:ext cx="5364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구조가 같습니다. 브랜드 대신 매장, 상품 대신 이용권, 택배 대신 QR입니다. 재고와 반품이 빠지고 정산이 자동으로 바뀝니다.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233008" y="4160520"/>
            <a:ext cx="5364328" cy="2103120"/>
          </a:xfrm>
          <a:prstGeom prst="roundRect">
            <a:avLst>
              <a:gd name="adj" fmla="val 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507328" y="4343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 문의</a:t>
            </a:r>
            <a:endParaRPr lang="en-US" sz="11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7328" y="4727448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873088" y="4681728"/>
            <a:ext cx="454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jiwon@ur-team.com</a:t>
            </a:r>
            <a:endParaRPr lang="en-US" sz="130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7328" y="5093208"/>
            <a:ext cx="201168" cy="20116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873088" y="5047488"/>
            <a:ext cx="454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urdeal.kr</a:t>
            </a:r>
            <a:endParaRPr lang="en-US" sz="130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328" y="5458968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873088" y="5413248"/>
            <a:ext cx="454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리스터코퍼레이션, 사업자등록번호 479-09-02930</a:t>
            </a:r>
            <a:endParaRPr lang="en-US" sz="1050" dirty="0"/>
          </a:p>
        </p:txBody>
      </p:sp>
      <p:sp>
        <p:nvSpPr>
          <p:cNvPr id="24" name="Text 18"/>
          <p:cNvSpPr txBox="1"/>
          <p:nvPr/>
        </p:nvSpPr>
        <p:spPr>
          <a:xfrm>
            <a:off x="6507328" y="5788152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리스트를 보내 주시면 채널과 요율을 확인해 드립니다. 첫 매장 등록은 함께 진행합니다.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유어딜 대행사 제휴 제안서</dc:title>
  <dc:subject>PptxGenJS Presentation</dc:subject>
  <dc:creator>리스터코퍼레이션</dc:creator>
  <cp:lastModifiedBy>리스터코퍼레이션</cp:lastModifiedBy>
  <cp:revision>1</cp:revision>
  <dcterms:created xsi:type="dcterms:W3CDTF">2026-09-07T06:22:54Z</dcterms:created>
  <dcterms:modified xsi:type="dcterms:W3CDTF">2026-09-07T06:22:54Z</dcterms:modified>
</cp:coreProperties>
</file>