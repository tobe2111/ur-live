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5% / 95% / 0원. 2026-09-04 대표 확정.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평균가는 2026-09-07 공개 API 실측(meal 242건 avg 32,339 / stay 51건 avg 155,824).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확정: "중개사가 5% 내에서 가져가는 게 아니라 나머지 95%에서 매장이랑 거래". PG 2.75% 는 commission-budget.ts 실측 상수(플랫폼 부담).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 32,339 / 155,824 는 2026-09-07 활성 이용권 카탈로그 평균(실거래 평균 아님). 하루 1건은 가정. 보수율은 매장과 귀사의 계약이며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실재. 오른쪽은 /seller/stores 실제 UI 를 예시 데이터로 렌더한 캡처(프로덕션 무접촉).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2026-09-07 실측. 가운데는 /seller/influencers 실제 UI 를 예시 데이터로 렌더한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 오른쪽 3장은 실제 UI + 예시 데이터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 (마스킹: 계좌 ****1234 · 등록번호 끝 4자리 · 대표자명 첫 글자 · 주소/연락처 null · 계좌 변경/사업자정보 수정/탈퇴 403). 오른쪽은 /seller/operators 실제 UI 를 예시 데이터로 렌더한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2026-09-07 실측: 활성 338 중 slug demo-deal-* 286 + seller_id 없는 숙박 데모 51, 실제 매장(홍대돈까스) 1. 귀속 미추적은 SellerOperatingSummaryPage 헤더 주석 그대로. 오른쪽은 /seller/operating 실제 UI + 예시 데이터.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유어딜은 대행사 보수 조건에 관여하지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auto-settlement.ts. 채널 변경은 POST /api/seller/stores/:id/channel (소유자만) + 어드민.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17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데려오시면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5%만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가져갑니다.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95%는 매장 몫입니다. 그 안에서 매장과 직접 거래하십시오. 귀사의 보수를 유어딜이 정하지 않고, 상한도 두지 않습니다.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4315968"/>
            <a:ext cx="676656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매장의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귀사와의 거래 재원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입점비, 월정액,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미리 결제하고 매장에 찾아오는 이용권을 팝니다. 식당, 뷰티샵, 숙소가 팔고 있습니다. 매장을 모으고 대신 운영해 주실 파트너를 찾습니다.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한 장으로 줄이면 이렇습니다.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인플루언서를 붙이고, 매장에 성과를 보고합니다.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매장이 인플루언서 소개비(딜마다 정한 %)와 대행사 보수(계약)를 냅니다.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제안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메뉴 하나가 곧 상품입니다.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32,339원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3630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(242개)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2702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44714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평균가. 식사의 4.8배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111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7일 urdeal.kr 활성 이용권 338개의 카탈로그 평균가. 실거래 평균이 아니라 가격대 참고치입니다.</a:t>
            </a:r>
            <a:endParaRPr lang="en-US" sz="9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유어딜은 5%에서 끝납니다.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대부분의 플랫폼 제안서가 여기를 흐리게 씁니다. 유어딜은 구조가 단순해서 흐릴 것이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315468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2.75%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01752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5% 안에서 냅니다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562356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입점은 10%)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92440" y="3419856"/>
            <a:ext cx="3413455" cy="1481328"/>
          </a:xfrm>
          <a:prstGeom prst="roundRect">
            <a:avLst>
              <a:gd name="adj" fmla="val 864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321040" y="3547872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귀사의 보수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321040" y="3822192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직접 정하는 금액. 유어딜은 이 거래의 당사자가 아니고, 상한도 두지 않습니다.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4288536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15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4535424"/>
            <a:ext cx="2956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정하는 %. 귀속과 지급은 유어딜이 자동 처리합니다.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68580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91440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91440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"직접 입점 10%와 중개 5%의 차액 5%가 대행사 몫이다."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461772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8" name="Text 32"/>
          <p:cNvSpPr txBox="1"/>
          <p:nvPr/>
        </p:nvSpPr>
        <p:spPr>
          <a:xfrm>
            <a:off x="484632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484632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차액은 유어딜이 덜 받는 것입니다. 매장에 여유를 남겨 귀사가 그 안에서 거래하시라는 뜻입니다. 귀사의 단가는 유어딜이 아니라 귀사와 매장이 정합니다.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85800" y="5998464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장부와 정산 화면에 귀사에 대한 지급은 한 줄도 등장하지 않습니다. 귀사의 거래 상대는 매장입니다.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귀사에게 얼마가 되는가. 가정은 전부 공개합니다.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12064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곳, 한 달 (바꿔서 다시 계산하셔도 됩니다)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(라이브 실측)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470148" y="246888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32,339원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 (하루 1건 가정)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0148" y="284378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21868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거래액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0148" y="321868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970,170원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3566160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593592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470148" y="3593592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48,509원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470148" y="3968496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921,662원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(매장 제안 10% 가정)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470148" y="434340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97,017원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귀사 보수 (3% 예시)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470148" y="471830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29,105원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09320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470148" y="509320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795,540원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55595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3%는 유어딜이 정한 값이 아니라 계산을 보여 드리려고 넣은 값입니다. 2%로도, 5%로도, 매장별로 다르게도 하실 수 있습니다.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080760" y="2011680"/>
            <a:ext cx="54251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수를 늘리면 (같은 가정)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0807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9951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거래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90956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거래액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923544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61320" y="228600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3% 가정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080760" y="256032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0807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9951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300건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90956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970만원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23544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922만원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61320" y="2615184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29만원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080760" y="2999232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0807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30곳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69951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900건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790956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2,910만원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923544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2,765만원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61320" y="3035808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87만원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080760" y="3419856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989320" y="3419856"/>
            <a:ext cx="5608015" cy="420624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0807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100곳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69951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3,000건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790956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9,700만원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923544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9,215만원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61320" y="3456432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291만원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080760" y="384048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0807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300곳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69951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9,000건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790956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9,100만원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923544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7,645만원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61320" y="3877056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873만원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6080760" y="4261104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080760" y="4617720"/>
            <a:ext cx="5425135" cy="1600200"/>
          </a:xfrm>
          <a:prstGeom prst="roundRect">
            <a:avLst>
              <a:gd name="adj" fmla="val 8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355080" y="477316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가장 큰 변수입니다</a:t>
            </a:r>
            <a:endParaRPr lang="en-US" sz="1250" dirty="0"/>
          </a:p>
        </p:txBody>
      </p:sp>
      <p:sp>
        <p:nvSpPr>
          <p:cNvPr id="61" name="Text 58"/>
          <p:cNvSpPr txBox="1"/>
          <p:nvPr/>
        </p:nvSpPr>
        <p:spPr>
          <a:xfrm>
            <a:off x="6355080" y="5074920"/>
            <a:ext cx="48764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이용권의 평균가는 155,824원으로 식사의 4.8배입니다. 같은 품을 들여 매장을 붙인다면 숙소와 뷰티 쪽이 식당보다 훨씬 큽니다. 위 표의 모든 숫자가 그만큼 곱해집니다.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하는 이유도 숫자입니다. 광고비 선지출이 없습니다.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(매장 제안 예시)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보수 3% (계약 예시)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20,500원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9,300원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9,300원이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5" name="Text 30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9" name="Text 33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3" name="Text 36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가지가 되면 데려오세요.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685800" y="5806440"/>
            <a:ext cx="8229600" cy="502920"/>
          </a:xfrm>
          <a:prstGeom prst="roundRect">
            <a:avLst>
              <a:gd name="adj" fmla="val 254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914400" y="5806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"그 돈을 팔린 뒤에만 내는 걸로 바꾸자"가 통합니다.</a:t>
            </a:r>
            <a:endParaRPr lang="en-US" sz="105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서명도 서류도 없이 대행사 폰으로 끝납니다.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554480" y="216712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578" y="2262226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57400" y="21762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05740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5800" y="2916936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9809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1554480" y="297180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578" y="3066898"/>
            <a:ext cx="175565" cy="17556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57400" y="29809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2057400" y="328269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85800" y="3721608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1554480" y="3776472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9578" y="3871570"/>
            <a:ext cx="175565" cy="17556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057400" y="37856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 선택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2057400" y="408736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"중개·대행사에요"를 고르면 그 매장은 5%가 적용됩니다. 나중엔 매장 주인이나 유어딜만 바꿀 수 있으니 등록할 때 정확히 고르세요. 확인 PIN도 여기서.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85800" y="452628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5902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1554480" y="45811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578" y="4676242"/>
            <a:ext cx="175565" cy="17556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057400" y="45902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2057400" y="48920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85800" y="5330952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85800" y="539496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1554480" y="5385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9578" y="5480914"/>
            <a:ext cx="175565" cy="17556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2057400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사용법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2057400" y="569671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QR을 보여 주면 매장 폰으로 찍거나, 손님 화면에 매장 PIN을 눌러 주면 끝. 이것만 설명하면 됩니다.</a:t>
            </a:r>
            <a:endParaRPr lang="en-US" sz="105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0173" y="817733"/>
            <a:ext cx="2708039" cy="5176813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7782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하는 말 네 마디와, 거절 다섯 가지의 답.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"사업자등록증만 보여 주시면 지금 10분 안에 올라갑니다. 손님 오면 QR만 찍어 주세요."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저와의 운영 위임은 권한 한 줄이고, 마음에 안 들면 오늘이라도 사장님이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섭외, 계약, 정산이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안에서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16712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780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2916936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2971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2980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접수한다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2826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721608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377647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3785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딜을 맺는다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0873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/seller/influencer-deals 에서 커미션 %를 제안합니다. 매장이 정한 값이고 매장 부담입니다. 콘텐츠 게시 확인 뒤 발효되는 조건부도 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526280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5800" y="458114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4581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590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892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즉시 전용 링크가 나오고 그 링크로 들어온 주문이 자동 연결됩니다. 쿠폰 코드를 확인할 일이 없습니다.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85800" y="5330952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538581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5385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188720" y="5394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56967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 7일이 지나면 확정되고, 원천징수를 계산해 유어딜이 지급합니다. 대행사가 돈을 옮기지 않습니다.</a:t>
            </a:r>
            <a:endParaRPr lang="en-US" sz="10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2773" y="817733"/>
            <a:ext cx="2708039" cy="517681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7208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(예시 데이터)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9738466" y="1188720"/>
            <a:ext cx="17674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(2026.9.7 실측)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9738466" y="153619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198,704</a:t>
            </a:r>
            <a:endParaRPr lang="en-US" sz="2100" dirty="0"/>
          </a:p>
        </p:txBody>
      </p:sp>
      <p:sp>
        <p:nvSpPr>
          <p:cNvPr id="34" name="Text 30"/>
          <p:cNvSpPr txBox="1"/>
          <p:nvPr/>
        </p:nvSpPr>
        <p:spPr>
          <a:xfrm>
            <a:off x="9738466" y="193852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9738466" y="224942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738466" y="235915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45,725</a:t>
            </a:r>
            <a:endParaRPr lang="en-US" sz="2100" dirty="0"/>
          </a:p>
        </p:txBody>
      </p:sp>
      <p:sp>
        <p:nvSpPr>
          <p:cNvPr id="37" name="Text 33"/>
          <p:cNvSpPr txBox="1"/>
          <p:nvPr/>
        </p:nvSpPr>
        <p:spPr>
          <a:xfrm>
            <a:off x="9738466" y="276148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9738466" y="307238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738466" y="318211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170,307</a:t>
            </a:r>
            <a:endParaRPr lang="en-US" sz="2100" dirty="0"/>
          </a:p>
        </p:txBody>
      </p:sp>
      <p:sp>
        <p:nvSpPr>
          <p:cNvPr id="40" name="Text 36"/>
          <p:cNvSpPr txBox="1"/>
          <p:nvPr/>
        </p:nvSpPr>
        <p:spPr>
          <a:xfrm>
            <a:off x="9738466" y="358444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9738466" y="389534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738466" y="400507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17,986</a:t>
            </a:r>
            <a:endParaRPr lang="en-US" sz="2100" dirty="0"/>
          </a:p>
        </p:txBody>
      </p:sp>
      <p:sp>
        <p:nvSpPr>
          <p:cNvPr id="43" name="Text 39"/>
          <p:cNvSpPr txBox="1"/>
          <p:nvPr/>
        </p:nvSpPr>
        <p:spPr>
          <a:xfrm>
            <a:off x="9738466" y="440740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9738466" y="471830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738466" y="482803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9,803</a:t>
            </a:r>
            <a:endParaRPr lang="en-US" sz="2100" dirty="0"/>
          </a:p>
        </p:txBody>
      </p:sp>
      <p:sp>
        <p:nvSpPr>
          <p:cNvPr id="46" name="Text 42"/>
          <p:cNvSpPr txBox="1"/>
          <p:nvPr/>
        </p:nvSpPr>
        <p:spPr>
          <a:xfrm>
            <a:off x="9738466" y="523036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9738466" y="5669280"/>
            <a:ext cx="17674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인스타그램과 틱톡은 필터에 있으나 DB의 대부분은 네이버 블로그와 유튜브입니다.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명의 일주일.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화면은 여섯 장뿐입니다.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4597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85800" y="2898648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626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246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3685032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749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39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5건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0325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제안을 접수하고, 들어온 신청에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4471416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354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4526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보고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8188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요약의 매장별 매출과 주문을 사장님께 보내고, 계약대로 청구합니다.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5349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대시보드, 별도 프로그램 없음)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7373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2519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7373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2519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858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32004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2519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85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06" y="1644917"/>
            <a:ext cx="2129623" cy="407108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545222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05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131" y="1644917"/>
            <a:ext cx="2129623" cy="4071086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7415254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05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0155" y="1644917"/>
            <a:ext cx="2129623" cy="4071086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37827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</a:t>
            </a:r>
            <a:endParaRPr lang="en-US" sz="1050" dirty="0"/>
          </a:p>
        </p:txBody>
      </p:sp>
      <p:sp>
        <p:nvSpPr>
          <p:cNvPr id="40" name="Text 34"/>
          <p:cNvSpPr txBox="1"/>
          <p:nvPr/>
        </p:nvSpPr>
        <p:spPr>
          <a:xfrm>
            <a:off x="5817989" y="5989320"/>
            <a:ext cx="5687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데이터로 렌더한 실제 화면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설득할 재료는 계약서가 아니라 시스템입니다.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영업에서 가장 어려운 질문은 "왜 남에게 우리 가게 계정을 맡기느냐"입니다. 운영자(귀사)가 무엇을 할 수 있고 무엇이 막혀 있는지 화면으로 보여 드리면 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운영자(귀사)가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560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85800" y="283464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07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등록과 가격 설정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154680" y="297180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97180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907792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대신 이용권을 만들고 운영합니다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3282696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3101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주문과 예약 관리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154680" y="3374136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154680" y="337413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3931920" y="3310128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일상 운영 전부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3685032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71246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 변경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154680" y="377647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54680" y="377647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3931920" y="3712464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서버가 거부합니다. 계좌는 끝 4자리만 보입니다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85800" y="4087368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14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사업자정보 열람과 수정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3154680" y="4178808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154680" y="4178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3931920" y="4114800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등록번호 끝 4자리, 대표자명 첫 글자만. 주소와 연락처는 안 보입니다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85800" y="4489704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451713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3154680" y="4581144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54680" y="458114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3931920" y="4517136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 할 수 있습니다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85800" y="489204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49194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 회수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3154680" y="498348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4680" y="498348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3931920" y="4919472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주인이 언제든. 올려 둔 이용권, 주문, 리뷰는 매장에 남습니다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5294376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394960"/>
            <a:ext cx="7955280" cy="868680"/>
          </a:xfrm>
          <a:prstGeom prst="roundRect">
            <a:avLst>
              <a:gd name="adj" fmla="val 1473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60120" y="539496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매장의 돈이 다른 곳으로 갈 수 있는 경로가 시스템에 없습니다. 사장님께 "제가 통장을 못 건드립니다"라고 말씀하시고 화면으로 보여 주시면 됩니다. 이 문장 하나가 계약서 열 장보다 잘 통합니다.</a:t>
            </a:r>
            <a:endParaRPr lang="en-US" sz="1100" dirty="0"/>
          </a:p>
        </p:txBody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대행사에게 붙여 드리는 것 여섯 가지.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한 장 안내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사용법이 적힌 매장용 안내 한 장을 드립니다. 대행사 이름을 넣어 드립니다.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19만 명 DB 탐색과 제안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2" name="Text 23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두 가지는 정직하게 말씀드립니다.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파트너가 시간을 들일지 판단하시려면 이 부분을 아셔야 합니다. 감추지 않겠습니다.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31720"/>
            <a:ext cx="7772400" cy="2057400"/>
          </a:xfrm>
          <a:prstGeom prst="roundRect">
            <a:avLst>
              <a:gd name="adj" fmla="val 6222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5146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유어딜의 상태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788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초기입니다. </a:t>
            </a:r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카탈로그에 이용권이 338개 올라와 있지만 그중 실제 매장이 등록한 것은 1개이고, 나머지는 화면을 채우려고 넣은 데모입니다. 승인된 매장은 한 곳, 소비자 결제가 본격적으로 돌기 전입니다. 지금 오시는 파트너는 매대가 이미 붐비는 곳에 들어오시는 것이 아닙니다.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56616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대신 수수료 구조와 권한 설계는 코드로 확정되어 라이브에 있습니다. </a:t>
            </a:r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95%의 경계, 정산계좌 차단, 운영 요약 화면은 만들겠다는 약속이 아니라 지금 작동하는 기능입니다. 바뀔 수 있는 것은 요율 수치이고, 어드민 조정값이라 파트너와 합의 없이 움직이지 않습니다.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4526280"/>
            <a:ext cx="77724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005840" y="4663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운영자별 매출 귀속은 추적하지 않습니다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495604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숫자는 그 매장의 총액이고, 화면 자체가 그 사실을 문장으로 밝힙니다. "제가 만든 매출입니다"라고 쓸 수 있는 숫자는 드리지 않습니다. 방어 가능한 근거는 운영 시작 이후 구간뿐이고, 확정된 주문만 셉니다.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5705856"/>
            <a:ext cx="0" cy="457200"/>
          </a:xfrm>
          <a:prstGeom prst="line">
            <a:avLst/>
          </a:prstGeom>
          <a:noFill/>
          <a:ln w="25400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5669280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"중개사가 5% 내에서 가져가는 게 아니라, 나머지 95%에서 매장이랑 거래를 하는 거지. 5%는 중개사일 때 유어딜의 수수료인 거고."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9893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대표, 2026년 9월 4일 확정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요약. 화면이 그 경계를 직접 말합니다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곳, 그다음 8주에 열 곳. 구조가 맞는지 판정이 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접수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실적 보고와 청구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곳으로 시작해 한 달 정산이 실제로 도는 것을 보신 뒤 규모를 정하시길 권합니다. 숫자는 제안이고, 담당자 한 명 주 2일 기준입니다.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맺을 보수 조건 초안 (매출 % 또는 월 정액. 유어딜은 관여하지 않습니다)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발송, 결제, 정산, 환불, CS 전부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쪽은 화면 네 장이면 끝납니다. 그래서 매장이 올리면 팔립니다.</a:t>
            </a:r>
            <a:endParaRPr lang="en-US" sz="2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질문과, 시작하는 방법.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6771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귀사 보수는 매장과 귀사의 계약이고 유어딜 정산서에 나오지 않습니다.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31927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귀사는 운영자로 계속 일할 수 있습니다.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37083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120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422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309360" y="1965960"/>
            <a:ext cx="5196535" cy="4069080"/>
          </a:xfrm>
          <a:prstGeom prst="roundRect">
            <a:avLst>
              <a:gd name="adj" fmla="val 3146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21671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629400" y="251460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29400" y="2514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086600" y="251460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계정을 만드십시오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807208"/>
            <a:ext cx="4099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별도의 대행사 가입 절차가 없습니다. 귀사도 매장과 같은 셀러 대시보드를 씁니다.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629400" y="341071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29400" y="3410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341071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등록하면서 중개로 지정하십시오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703320"/>
            <a:ext cx="4099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화면의 "누가 운영하나요"에서 중개를 고르면 그 매장은 5%가 적용됩니다. 매장 주인이나 유어딜만 바꿀 수 있으니 처음에 정확히.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629400" y="4306824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29400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4306824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운영비를 합의하십시오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086600" y="4599432"/>
            <a:ext cx="4099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이 협의에 관여하지 않습니다. 95% 안에서 자유롭게 정하시면 됩니다.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629400" y="4965192"/>
            <a:ext cx="455645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29400" y="503834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몇 곳의 이름과 동네만 보내 주세요. 하루 안에 확인해 첫 방문 일정을 잡습니다.</a:t>
            </a:r>
            <a:endParaRPr lang="en-US" sz="100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385816"/>
            <a:ext cx="146304" cy="146304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876288" y="5330952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10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5596128"/>
            <a:ext cx="146304" cy="146304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6876288" y="5541264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10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5806440"/>
            <a:ext cx="146304" cy="146304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876288" y="5751576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900" dirty="0"/>
          </a:p>
        </p:txBody>
      </p:sp>
      <p:sp>
        <p:nvSpPr>
          <p:cNvPr id="36" name="Text 30"/>
          <p:cNvSpPr txBox="1"/>
          <p:nvPr/>
        </p:nvSpPr>
        <p:spPr>
          <a:xfrm>
            <a:off x="685800" y="60533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문서의 요율(직접 10%, 중개 5%)과 권한 범위는 2026년 9월 7일 라이브 설정값입니다. 요율은 어드민 조정값이고, 평균가와 매장 수는 같은 날 실측입니다.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유어딜 대행사 제휴 제안서</dc:title>
  <dc:subject>PptxGenJS Presentation</dc:subject>
  <dc:creator>리스터코퍼레이션</dc:creator>
  <cp:lastModifiedBy>리스터코퍼레이션</cp:lastModifiedBy>
  <cp:revision>1</cp:revision>
  <dcterms:created xsi:type="dcterms:W3CDTF">2026-09-07T08:05:06Z</dcterms:created>
  <dcterms:modified xsi:type="dcterms:W3CDTF">2026-09-07T08:05:06Z</dcterms:modified>
</cp:coreProperties>
</file>