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6E6B68"/>
                </a:solidFill>
                <a:latin typeface="Pretendard"/>
              </a:defRPr>
            </a:pPr>
            <a:r>
              <a:rPr sz="1100" b="0" i="0" u="none" strike="noStrike">
                <a:solidFill>
                  <a:srgbClr val="6E6B68"/>
                </a:solidFill>
                <a:latin typeface="Pretendard"/>
              </a:rPr>
              <a:t>매장 수별 대행사 월 수입 (매장당 월 매출 120만원 가정)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보수 10%</c:v>
                </c:pt>
              </c:strCache>
            </c:strRef>
          </c:tx>
          <c:spPr>
            <a:solidFill>
              <a:srgbClr val="1C69EF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120</c:v>
                </c:pt>
                <c:pt idx="2">
                  <c:v>240</c:v>
                </c:pt>
                <c:pt idx="3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보수 15%</c:v>
                </c:pt>
              </c:strCache>
            </c:strRef>
          </c:tx>
          <c:spPr>
            <a:solidFill>
              <a:srgbClr val="8FB4F5"/>
            </a:solidFill>
            <a:effectLst/>
          </c:spPr>
          <c:invertIfNegative val="0"/>
          <c:dLbls>
            <c:numFmt formatCode="#,##0&quot;만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6181C"/>
                    </a:solidFill>
                    <a:latin typeface="Pretendar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5곳</c:v>
                  </c:pt>
                  <c:pt idx="1">
                    <c:v>10곳</c:v>
                  </c:pt>
                  <c:pt idx="2">
                    <c:v>20곳</c:v>
                  </c:pt>
                  <c:pt idx="3">
                    <c:v>30곳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</c:v>
                </c:pt>
                <c:pt idx="1">
                  <c:v>180</c:v>
                </c:pt>
                <c:pt idx="2">
                  <c:v>360</c:v>
                </c:pt>
                <c:pt idx="3">
                  <c:v>540</c:v>
                </c:pt>
              </c:numCache>
            </c:numRef>
          </c:val>
        </c:ser>
        <c:dLbls>
          <c:numFmt formatCode="#,##0&quot;만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6181C"/>
                  </a:solidFill>
                  <a:latin typeface="Pretendar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0"/>
          <c:min val="0"/>
        </c:scaling>
        <c:delete val="0"/>
        <c:axPos val="l"/>
        <c:majorGridlines>
          <c:spPr>
            <a:ln w="6350" cap="flat">
              <a:solidFill>
                <a:srgbClr val="E6E2DE"/>
              </a:solidFill>
              <a:prstDash val="solid"/>
              <a:round/>
            </a:ln>
          </c:spPr>
        </c:majorGridlines>
        <c:numFmt formatCode="#,##0&quot;만원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580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  <c:majorUnit val="150"/>
      </c:valAx>
      <c:spPr>
        <a:solidFill>
          <a:srgbClr val="F8F7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6E6B68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8F7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첫 문장에 숫자. 가정은 5장에 공개. 오른쪽은 urdeal.kr 홈(모바일)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요약. 사업계획서 C-2 + store-operator-model §7.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338 은 2026-09-07 공개 API 실측(활성 이용권). 캡처는 scripts/capture-proposal-shots.mjs (detail/use).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2026-09-04 대표 확정. 정산은 used 이용권만 주간(auto-settlement.ts).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전부 가정. 보수율은 매장과 대행사의 계약이며 유어딜이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35% 는 가정. 정산 규칙은 auto-settlement.ts. 사용 처리는 매장 QR 스캔 또는 확인 PIN.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등록 필수 필드는 seller-stores.routes.ts. 오른쪽은 /u/jiwon1228 라이브 캡처(대표 계정).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시간은 현장 추정. 필드는 seller-stores.routes.ts 실재. 셀러 화면 캡처는 셀러 로그인이 필요해 이 판에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대본의 사실 주장은 앞 장들과 동일 출처. 가운데는 이용권 상세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숫자는 /api/admin/ads/influencer-pool/stats 2026-09-07 실측.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라우트 6개는 2026-09-07 main 실재. 요일 배분은 권장 루틴.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store-operator-model.md §7.7.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동행·안내장·주간 실적 공유는 파일럿 제안의 유어딜 측 약속. 나머지 셋은 현행 기능.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조건은 이 문서의 제안. 유어딜은 대행사 보수 조건에 관여하지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4장 전부 2026-09-07 urdeal.kr 모바일 라이브 캡처(home/detail/use/shop). 지갑 화면은 로그인이 필요해 제외.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출처: 사업계획서 C-3, 셀러 가이드, auto-settlement.ts.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제휴 제안, 2026년 9월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6583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매장을 데려오세요.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곳당 월 12만원이</a:t>
            </a:r>
            <a:endParaRPr lang="en-US" sz="4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40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대행사에게 남습니다.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443484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2만원, 매장당 월 60건, 대행사 보수 매출의 10%를 가정한 값입니다. 유어딜은 매장에서 5%만 떼고, 인플루언서 소개비와 대행사 보수는 매장 몫 95% 안에서 매장이 정합니다.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534924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53492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올리고, 이용권을 운영한다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605272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560527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금액의 5% + 소개비 + 대행사 보수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861304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586130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QR, 정산, 세금, 손님 유입</a:t>
            </a:r>
            <a:endParaRPr lang="en-US" sz="10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3771" y="598531"/>
            <a:ext cx="3128705" cy="59809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한 장으로 줄이면 이렇습니다.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2104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파나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미용, 숙박, 액티비티의 이용권. 손님이 온라인에서 할인가로 미리 사고 매장에 와서 QR로 씁니다. 배송도 재고도 없습니다.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85800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278728" y="20116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090" y="212104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73088" y="206654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대행사는 무엇을 하나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278728" y="260604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매장을 찾아 유어딜에 올리고(10분), 이용권을 만들고(3분), 인플루언서를 붙이고, 매장에 성과를 보고합니다. 돈을 걷거나 나누는 일은 없습니다.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278728" y="3794760"/>
            <a:ext cx="495284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1327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얼마를 내나</a:t>
            </a:r>
            <a:endParaRPr lang="en-US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팔린 금액의 5%를 유어딜에 냅니다(직접 입점은 10%). 나머지 95% 안에서 매장이 인플루언서 소개비(딜마다 정한 %)와 대행사 보수(계약)를 냅니다. 대행사가 유어딜에 내는 돈은 0입니다.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278728" y="40233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090" y="413272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873088" y="4078224"/>
            <a:ext cx="4587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무엇을 하나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6278728" y="4617720"/>
            <a:ext cx="4952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결제(토스), 이용권 발급, QR 확인 앱, 주간 정산, 원천징수, 환불 응대, 홈 지도 노출과 검색 유입. 인플루언서 DB와 제안 발송까지.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98932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 근거와 절차는 다음 장부터 순서대로. 마지막 장에 8주 파일럿 조건이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이렇게 생겼습니다.</a:t>
            </a:r>
            <a:endParaRPr lang="en-US" sz="2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메뉴 하나가 곧 상품입니다.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14884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실제 화면입니다. 정가와 할인가가 함께 보이고, 토스로 결제하면 이용권이 바로 발급됩니다. 유효기간, 할인율, 마감 수량은 전부 매장이 정하고, 안 쓴 이용권은 100% 자동 환불됩니다.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342900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338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36301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판매 중인 이용권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85800" y="4178808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270248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44714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(식사, 미용, 숙소, 액티비티)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85800" y="5020056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5111496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3600" dirty="0"/>
          </a:p>
        </p:txBody>
      </p:sp>
      <p:sp>
        <p:nvSpPr>
          <p:cNvPr id="14" name="Text 11"/>
          <p:cNvSpPr txBox="1"/>
          <p:nvPr/>
        </p:nvSpPr>
        <p:spPr>
          <a:xfrm>
            <a:off x="2011680" y="53126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재고, 배송, 반품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5861304"/>
            <a:ext cx="530352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2026년 9월 7일 기준. 화면은 같은 날 모바일에서 그대로 캡처했습니다.</a:t>
            </a:r>
            <a:endParaRPr lang="en-US" sz="9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694" y="781094"/>
            <a:ext cx="2602872" cy="497577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5836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</a:t>
            </a:r>
            <a:endParaRPr lang="en-US" sz="10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394" y="781094"/>
            <a:ext cx="2602872" cy="497577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9011380" y="5678424"/>
            <a:ext cx="28849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방법과 환불 안내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낸 100원은 이렇게 갈립니다. 유어딜은 5에서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결제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100원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토스로 할인가를 냅니다. 이용권이 즉시 발급됩니다.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272491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0916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70916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5원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발급, QR 확인, 정산, 세금, 손님 유입의 인프라 비용입니다.</a:t>
            </a:r>
            <a:endParaRPr lang="en-US" sz="105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5552" y="2724912"/>
            <a:ext cx="219456" cy="21945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183880" y="1965960"/>
            <a:ext cx="3291840" cy="1783080"/>
          </a:xfrm>
          <a:prstGeom prst="roundRect">
            <a:avLst>
              <a:gd name="adj" fmla="val 7179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45820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</a:t>
            </a:r>
            <a:endParaRPr lang="en-US" sz="1000" dirty="0"/>
          </a:p>
        </p:txBody>
      </p:sp>
      <p:sp>
        <p:nvSpPr>
          <p:cNvPr id="18" name="Text 13"/>
          <p:cNvSpPr txBox="1"/>
          <p:nvPr/>
        </p:nvSpPr>
        <p:spPr>
          <a:xfrm>
            <a:off x="8458200" y="2395728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-10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95원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8458200" y="30175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쓴 이용권만, 매주 매장 계좌로 정산됩니다.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41148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95원 안에서 매장이 정하는 두 가지, 그리고 남는 것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8580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4589922"/>
            <a:ext cx="201900" cy="2019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25272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8580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매장이 딜마다 제안하는 비율입니다. 매장 부담이고, 링크 귀속과 지급과 원천징수는 유어딜이 자동 처리합니다. 대행사가 걷거나 나눌 일이 없습니다.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43484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202" y="4589922"/>
            <a:ext cx="201900" cy="201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00176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3484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대행사의 계약입니다. 매출의 몇 %든, 월 정액이든 두 분이 정합니다. 유어딜 장부 밖이라 정산서에 한 줄도 나오지 않고, 유어딜이 중간에서 떼지도 않습니다.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183880" y="4480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242" y="4589922"/>
            <a:ext cx="201900" cy="2019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0808" y="4526280"/>
            <a:ext cx="2724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순수취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8183880" y="5029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둘을 뺀 나머지입니다. 다음 장에서 매장 한 곳 기준으로 실제 숫자를 놓습니다.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한 곳이 대행사에게 얼마가 되는가. 가정은 전부 공개합니다.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21208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가정 (바꿔서 다시 계산하셔도 됩니다)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평균 판매가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520440" y="246888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매장당 월 판매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520440" y="284378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21868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월 매출(GMV)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321868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1,200,000원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005840" y="3566160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5840" y="3593592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3593592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60,000원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520440" y="3968496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1,140,000원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57200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인플루언서 소개비 (매장 제안 10% 가정)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4343400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대행사 보수 (매출 10% 계약 시)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520440" y="4718304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120,000원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05840" y="5093208"/>
            <a:ext cx="29260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매장 순수취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3520440" y="5093208"/>
            <a:ext cx="2057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900,000원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00584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몫 95% 안에서 세 갈래로 갈립니다. 매장 10곳이면 대행사 월 120만원, 30곳이면 360만원입니다.</a:t>
            </a:r>
            <a:endParaRPr lang="en-US" sz="11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6172200" y="1965960"/>
          <a:ext cx="5333695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"네" 하는 이유도 숫자입니다. 광고비 선지출이 없습니다.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장이 팔렸을 때 (파스타 2인 세트 예시)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4378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(22%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4378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19125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21868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5%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21868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593592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소개비 10% (매장 제안 예시)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593592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005840" y="3968496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보수 10% (계약 예시)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3621024" y="3968496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2,500원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1005840" y="4315968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05840" y="4343400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들어오는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621024" y="4343400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18,750원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005840" y="4718304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35% 가정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3621024" y="4718304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11,200원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05840" y="506577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5840" y="5093208"/>
            <a:ext cx="304312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이익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3621024" y="5093208"/>
            <a:ext cx="213969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7,550원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55778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 없이 온 새 손님 한 명당 7,550원이 남습니다. 안 팔리면 0원이고, 세 항목 전부 팔린 뒤에만 나갑니다.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46520" y="2011680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127" y="2116287"/>
            <a:ext cx="193121" cy="193121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7040880" y="2011680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선지출 광고비 0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7040880" y="2340864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배너, 검색 광고, 체험단처럼 미리 내는 돈이 없습니다. 팔린 만큼만 나갑니다.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446520" y="3090672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127" y="3195279"/>
            <a:ext cx="193121" cy="193121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040880" y="3090672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할인율과 유효기간은 사장님이</a:t>
            </a:r>
            <a:endParaRPr lang="en-US" sz="1350" dirty="0"/>
          </a:p>
        </p:txBody>
      </p:sp>
      <p:sp>
        <p:nvSpPr>
          <p:cNvPr id="35" name="Text 30"/>
          <p:cNvSpPr txBox="1"/>
          <p:nvPr/>
        </p:nvSpPr>
        <p:spPr>
          <a:xfrm>
            <a:off x="7040880" y="3419856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 올리고, 할인율도 마감 수량도 직접 정합니다. 손해 보는 구조를 만들 수 없습니다.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446520" y="4169664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127" y="4274271"/>
            <a:ext cx="193121" cy="193121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7040880" y="4169664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정산은 손님이 쓴 뒤 매주</a:t>
            </a:r>
            <a:endParaRPr lang="en-US" sz="1350" dirty="0"/>
          </a:p>
        </p:txBody>
      </p:sp>
      <p:sp>
        <p:nvSpPr>
          <p:cNvPr id="39" name="Text 33"/>
          <p:cNvSpPr txBox="1"/>
          <p:nvPr/>
        </p:nvSpPr>
        <p:spPr>
          <a:xfrm>
            <a:off x="7040880" y="4498848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QR을 찍은 이용권만 주간 정산으로 매장 계좌에 들어옵니다. 안 쓴 이용권은 손님에게 자동 환불됩니다.</a:t>
            </a:r>
            <a:endParaRPr lang="en-US" sz="1100" dirty="0"/>
          </a:p>
        </p:txBody>
      </p:sp>
      <p:sp>
        <p:nvSpPr>
          <p:cNvPr id="40" name="Shape 34"/>
          <p:cNvSpPr/>
          <p:nvPr/>
        </p:nvSpPr>
        <p:spPr>
          <a:xfrm>
            <a:off x="6446520" y="5248656"/>
            <a:ext cx="402336" cy="402336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1127" y="5353263"/>
            <a:ext cx="193121" cy="193121"/>
          </a:xfrm>
          <a:prstGeom prst="rect">
            <a:avLst/>
          </a:prstGeom>
        </p:spPr>
      </p:pic>
      <p:sp>
        <p:nvSpPr>
          <p:cNvPr id="42" name="Text 35"/>
          <p:cNvSpPr txBox="1"/>
          <p:nvPr/>
        </p:nvSpPr>
        <p:spPr>
          <a:xfrm>
            <a:off x="7040880" y="52486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하나</a:t>
            </a:r>
            <a:endParaRPr lang="en-US" sz="1350" dirty="0"/>
          </a:p>
        </p:txBody>
      </p:sp>
      <p:sp>
        <p:nvSpPr>
          <p:cNvPr id="43" name="Text 36"/>
          <p:cNvSpPr txBox="1"/>
          <p:nvPr/>
        </p:nvSpPr>
        <p:spPr>
          <a:xfrm>
            <a:off x="7040880" y="55778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찍거나 확인 PIN을 눌러 주는 것. 등록과 운영은 대행사가 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여섯 가지가 되면 데려오세요.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대부분 그 자리에서 진행됩니다.</a:t>
            </a:r>
            <a:endParaRPr lang="en-US" sz="2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221992"/>
            <a:ext cx="237744" cy="23774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3327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사업자등록이 있다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03327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개업일로 국세청 진위확인을 합니다. 없으면 올릴 수 없습니다.</a:t>
            </a:r>
            <a:endParaRPr lang="en-US" sz="105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2221992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30952" y="21945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 매장이 있다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330952" y="25237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등록할 때 카카오맵 장소를 연결합니다. 없으면 사장님이 먼저 등록해야 합니다(무료, 하루 이틀).</a:t>
            </a:r>
            <a:endParaRPr lang="en-US" sz="105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56432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03327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방문해서 쓰는 업종이다</a:t>
            </a:r>
            <a:endParaRPr lang="en-US" sz="1300" dirty="0"/>
          </a:p>
        </p:txBody>
      </p:sp>
      <p:sp>
        <p:nvSpPr>
          <p:cNvPr id="14" name="Text 8"/>
          <p:cNvSpPr txBox="1"/>
          <p:nvPr/>
        </p:nvSpPr>
        <p:spPr>
          <a:xfrm>
            <a:off x="103327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식당, 카페, 미용, 네일, 숙박, 키즈카페, 스튜디오, 클래스. 택배 상품만 파는 곳은 대상이 아닙니다.</a:t>
            </a:r>
            <a:endParaRPr lang="en-US" sz="105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3480" y="3456432"/>
            <a:ext cx="237744" cy="23774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30952" y="34290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15~30% 할인해도 남는 대표 메뉴가 있다</a:t>
            </a:r>
            <a:endParaRPr lang="en-US" sz="1300" dirty="0"/>
          </a:p>
        </p:txBody>
      </p:sp>
      <p:sp>
        <p:nvSpPr>
          <p:cNvPr id="17" name="Text 10"/>
          <p:cNvSpPr txBox="1"/>
          <p:nvPr/>
        </p:nvSpPr>
        <p:spPr>
          <a:xfrm>
            <a:off x="5330952" y="375818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할인가로 팝니다. 마진이 얇은 메뉴만 있는 곳은 사장님이 곧 후회합니다.</a:t>
            </a:r>
            <a:endParaRPr lang="en-US" sz="105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690872"/>
            <a:ext cx="237744" cy="237744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03327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사진이 3장 이상 있다</a:t>
            </a:r>
            <a:endParaRPr lang="en-US" sz="1300" dirty="0"/>
          </a:p>
        </p:txBody>
      </p:sp>
      <p:sp>
        <p:nvSpPr>
          <p:cNvPr id="20" name="Text 12"/>
          <p:cNvSpPr txBox="1"/>
          <p:nvPr/>
        </p:nvSpPr>
        <p:spPr>
          <a:xfrm>
            <a:off x="103327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카드의 절반은 사진입니다. 없으면 방문할 때 폰으로 찍어 오세요.</a:t>
            </a:r>
            <a:endParaRPr lang="en-US" sz="1050" dirty="0"/>
          </a:p>
        </p:txBody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83480" y="4690872"/>
            <a:ext cx="237744" cy="237744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5330952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사장님이나 직원이 폰으로 QR을 찍을 수 있다</a:t>
            </a:r>
            <a:endParaRPr lang="en-US" sz="1300" dirty="0"/>
          </a:p>
        </p:txBody>
      </p:sp>
      <p:sp>
        <p:nvSpPr>
          <p:cNvPr id="23" name="Text 14"/>
          <p:cNvSpPr txBox="1"/>
          <p:nvPr/>
        </p:nvSpPr>
        <p:spPr>
          <a:xfrm>
            <a:off x="5330952" y="499262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처리는 매장 폰 한 대로 끝납니다. POS 연동이 필요 없습니다.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685800" y="5806440"/>
            <a:ext cx="8229600" cy="502920"/>
          </a:xfrm>
          <a:prstGeom prst="roundRect">
            <a:avLst>
              <a:gd name="adj" fmla="val 2545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6"/>
          <p:cNvSpPr txBox="1"/>
          <p:nvPr/>
        </p:nvSpPr>
        <p:spPr>
          <a:xfrm>
            <a:off x="914400" y="5806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먼저 갈 곳: 배달앱이나 예약앱에 광고비를 쓰고 있는 매장. "그 돈을 팔린 뒤에만 내는 걸로 바꾸자"가 통합니다.</a:t>
            </a:r>
            <a:endParaRPr lang="en-US" sz="1050" dirty="0"/>
          </a:p>
        </p:txBody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864" y="778824"/>
            <a:ext cx="2629164" cy="502603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8961120" y="5724144"/>
            <a:ext cx="29066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올라간 매장 페이지 (유어샵)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앞에서 10분. 서명도 서류도 없이 대행사 폰으로 끝납니다.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85800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742834"/>
            <a:ext cx="201900" cy="201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매장 찾기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/seller/stores 에서 매장 이름을 검색해 장소를 연결합니다. 주소와 좌표가 자동으로 들어옵니다.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2895539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2895539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95539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4901" y="2742834"/>
            <a:ext cx="201900" cy="2019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895539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국세청 진위확인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2895539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사업자번호, 대표자명, 개업일을 넣으면 국세청 조회로 즉시 확인됩니다. 사업자등록증 사진만 보면 됩니다.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5105278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2200" dirty="0"/>
          </a:p>
        </p:txBody>
      </p:sp>
      <p:sp>
        <p:nvSpPr>
          <p:cNvPr id="19" name="Shape 14"/>
          <p:cNvSpPr/>
          <p:nvPr/>
        </p:nvSpPr>
        <p:spPr>
          <a:xfrm>
            <a:off x="5105278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105278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640" y="2742834"/>
            <a:ext cx="201900" cy="201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105278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채널 "중개" 선택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105278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시 채널을 중개로 고르면 유어딜 수수료가 5%로 잡힙니다. 매장 확인 PIN도 여기서 정합니다.</a:t>
            </a:r>
            <a:endParaRPr lang="en-US" sz="1050" dirty="0"/>
          </a:p>
        </p:txBody>
      </p:sp>
      <p:sp>
        <p:nvSpPr>
          <p:cNvPr id="24" name="Text 18"/>
          <p:cNvSpPr txBox="1"/>
          <p:nvPr/>
        </p:nvSpPr>
        <p:spPr>
          <a:xfrm>
            <a:off x="7315017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3분씩</a:t>
            </a:r>
            <a:endParaRPr lang="en-US" sz="2200" dirty="0"/>
          </a:p>
        </p:txBody>
      </p:sp>
      <p:sp>
        <p:nvSpPr>
          <p:cNvPr id="25" name="Shape 19"/>
          <p:cNvSpPr/>
          <p:nvPr/>
        </p:nvSpPr>
        <p:spPr>
          <a:xfrm>
            <a:off x="7315017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315017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4379" y="2742834"/>
            <a:ext cx="201900" cy="2019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315017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만들기</a:t>
            </a:r>
            <a:endParaRPr lang="en-US" sz="1350" dirty="0"/>
          </a:p>
        </p:txBody>
      </p:sp>
      <p:sp>
        <p:nvSpPr>
          <p:cNvPr id="29" name="Text 22"/>
          <p:cNvSpPr txBox="1"/>
          <p:nvPr/>
        </p:nvSpPr>
        <p:spPr>
          <a:xfrm>
            <a:off x="7315017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사진, 정가, 판매가, 유효기간, 마감 수량. 대표 메뉴 두세 개면 충분합니다. 사진은 그 자리에서 찍어도 됩니다.</a:t>
            </a:r>
            <a:endParaRPr lang="en-US" sz="1050" dirty="0"/>
          </a:p>
        </p:txBody>
      </p:sp>
      <p:sp>
        <p:nvSpPr>
          <p:cNvPr id="30" name="Text 23"/>
          <p:cNvSpPr txBox="1"/>
          <p:nvPr/>
        </p:nvSpPr>
        <p:spPr>
          <a:xfrm>
            <a:off x="9524756" y="2011680"/>
            <a:ext cx="19811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9524756" y="246888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524756" y="2633472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4118" y="2742834"/>
            <a:ext cx="201900" cy="2019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524756" y="3182112"/>
            <a:ext cx="184397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사용법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9524756" y="3794760"/>
            <a:ext cx="1843979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QR을 보여 주면 매장 폰으로 찍거나, 손님 화면에 매장 PIN을 눌러 주면 끝. 이것만 설명하면 됩니다.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85800" y="5623560"/>
            <a:ext cx="10820095" cy="640080"/>
          </a:xfrm>
          <a:prstGeom prst="roundRect">
            <a:avLst>
              <a:gd name="adj" fmla="val 20000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7" name="Text 29"/>
          <p:cNvSpPr txBox="1"/>
          <p:nvPr/>
        </p:nvSpPr>
        <p:spPr>
          <a:xfrm>
            <a:off x="914400" y="562356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등록은 대행사 셀러 계정으로 합니다. 사장님이 나중에 직접 계정을 만들어 이어받을 때는 계정 양도가 아니라 권한 변경이라, 올려 둔 이용권과 주문과 리뷰가 그대로 남습니다.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사장님께 하는 말 네 마디와, 거절 다섯 가지의 답.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114800" cy="4297680"/>
          </a:xfrm>
          <a:prstGeom prst="roundRect">
            <a:avLst>
              <a:gd name="adj" fmla="val 3111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 대본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871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1737360" y="24871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배달앱 말고 손님이 가게에 직접 오게 하는 건데요. 미리 내는 돈은 없고 팔린 만큼만 5% 나갑니다."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34015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보여주기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737360" y="34015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메뉴를 이용권으로 올리면 이렇게 보입니다." (오른쪽 화면을 폰으로 보여 준다)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3159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정하기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43159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"어떤 메뉴를 몇 % 할인해서 올릴까요? 유효기간은요?" 사장님이 정하게 한다.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23036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끝내기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737360" y="523036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"사업자등록증만 보여 주시면 지금 10분 안에 올라갑니다. 손님 오면 QR만 찍어 주세요."</a:t>
            </a:r>
            <a:endParaRPr lang="en-US" sz="105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245" y="1752565"/>
            <a:ext cx="2471414" cy="472447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498080" y="196596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"할인하면 손해 아니에요?"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7498080" y="224028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남는 메뉴만, 사장님이 정한 할인율로만 올립니다. 안 팔리면 0원이고, 팔리면 새 손님입니다.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8080" y="283464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"배달앱이랑 뭐가 달라요?"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0" y="310896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배달이 없고 손님이 가게에 옵니다. 수수료는 5%이고, 가게 페이지가 사장님 것으로 남습니다. 병행해도 됩니다.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8080" y="370332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"정산은 언제 들어와요?"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7498080" y="397764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쓴 이용권만 매주 정산돼 매장 계좌로 들어옵니다. 안 쓴 건 손님에게 자동 환불이라 분쟁이 없습니다.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0" y="457200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"귀찮은 일 있어요?"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7498080" y="484632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QR을 폰으로 찍는 것 하나입니다. 등록, 이용권 관리, 인플루언서 섭외는 제가 합니다.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8080" y="5440680"/>
            <a:ext cx="4007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"계약서 써야 해요?"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7498080" y="5715000"/>
            <a:ext cx="4007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유어딜과는 가입뿐입니다. 저와의 운영 위임은 권한 한 줄이고, 마음에 안 들면 오늘이라도 사장님이 빼시면 됩니다.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섭외, 계약, 정산이 화면 안에서 끝납니다.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85800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고른다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/seller/influencers 에서 플랫폼과 팔로워 구간으로 거릅니다. 매장 동네에서 활동하는 채널을 우선합니다.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2895539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9553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895539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5539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제안을 접수한다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95539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소개와 조건을 적어 접수하면 유어딜이 발송합니다. 연락처는 대행사에게도 공개되지 않습니다.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105278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10527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105278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05278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딜을 맺는다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5105278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/seller/influencer-deals 에서 커미션 %를 제안합니다. 매장이 정한 값이고 매장 부담입니다. 콘텐츠 게시 확인 뒤 발효되는 조건부도 됩니다.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7315017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017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315017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017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귀속은 자동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315017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수락 즉시 전용 링크가 나오고 그 링크로 들어온 주문이 자동 연결됩니다. 쿠폰 코드를 확인할 일이 없습니다.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524756" y="201168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52475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524756" y="2514600"/>
            <a:ext cx="1843979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524756" y="2651760"/>
            <a:ext cx="18439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지급도 자동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9524756" y="3017520"/>
            <a:ext cx="1843979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 가능 기간 7일이 지나면 확정되고, 원천징수를 계산해 유어딜이 지급합니다. 대행사가 돈을 옮기지 않습니다.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85800" y="4617720"/>
            <a:ext cx="10820095" cy="1554480"/>
          </a:xfrm>
          <a:prstGeom prst="roundRect">
            <a:avLst>
              <a:gd name="adj" fmla="val 8235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05840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198,704</a:t>
            </a:r>
            <a:endParaRPr lang="en-US" sz="2600" dirty="0"/>
          </a:p>
        </p:txBody>
      </p:sp>
      <p:sp>
        <p:nvSpPr>
          <p:cNvPr id="33" name="Text 30"/>
          <p:cNvSpPr txBox="1"/>
          <p:nvPr/>
        </p:nvSpPr>
        <p:spPr>
          <a:xfrm>
            <a:off x="1005840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041843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45,725</a:t>
            </a:r>
            <a:endParaRPr lang="en-US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3041843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연락 가능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077846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170,307</a:t>
            </a:r>
            <a:endParaRPr lang="en-US" sz="2600" dirty="0"/>
          </a:p>
        </p:txBody>
      </p:sp>
      <p:sp>
        <p:nvSpPr>
          <p:cNvPr id="37" name="Text 34"/>
          <p:cNvSpPr txBox="1"/>
          <p:nvPr/>
        </p:nvSpPr>
        <p:spPr>
          <a:xfrm>
            <a:off x="5077846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블로그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113849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17,986</a:t>
            </a:r>
            <a:endParaRPr lang="en-US" sz="2600" dirty="0"/>
          </a:p>
        </p:txBody>
      </p:sp>
      <p:sp>
        <p:nvSpPr>
          <p:cNvPr id="39" name="Text 36"/>
          <p:cNvSpPr txBox="1"/>
          <p:nvPr/>
        </p:nvSpPr>
        <p:spPr>
          <a:xfrm>
            <a:off x="7113849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유튜브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9149852" y="4800600"/>
            <a:ext cx="20360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-8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9,803</a:t>
            </a:r>
            <a:endParaRPr lang="en-US" sz="2600" dirty="0"/>
          </a:p>
        </p:txBody>
      </p:sp>
      <p:sp>
        <p:nvSpPr>
          <p:cNvPr id="41" name="Text 38"/>
          <p:cNvSpPr txBox="1"/>
          <p:nvPr/>
        </p:nvSpPr>
        <p:spPr>
          <a:xfrm>
            <a:off x="9149852" y="5367528"/>
            <a:ext cx="2036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네이버 카페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1005840" y="5760720"/>
            <a:ext cx="10180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 9월 7일 유어딜 운영 콘솔 실측. 인스타그램과 틱톡은 탐색 필터에 있으나 DB의 대부분은 네이버 블로그와 유튜브입니다.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한 명의 일주일. 쓰는 화면은 여섯 장뿐입니다.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월·화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방문 4곳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41832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7장 체크리스트로 고른 매장을 방문해 등록합니다. 하루 2곳이면 충분합니다.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459404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15436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715436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손보기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715436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 교체, 마감 수량, 할인율 조정. 잘 팔리는 메뉴는 수량을 늘립니다.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3715436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/seller/products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33008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489040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489040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5건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489040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DB에서 매장 동네 채널을 골라 제안을 접수하고, 들어온 신청에 답합니다.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489040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006611" y="1965960"/>
            <a:ext cx="2499284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62643" y="2130552"/>
            <a:ext cx="2042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9262643" y="2395728"/>
            <a:ext cx="20420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 보고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9262643" y="2788920"/>
            <a:ext cx="20420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요약에서 매장별 매출과 주문을 뽑아 사장님께 보내고, 계약대로 청구합니다.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9262643" y="3840480"/>
            <a:ext cx="20420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448056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쓰는 화면 여섯 장 (전부 셀러 대시보드. 대행사 전용 계정이나 별도 프로그램이 없습니다)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85800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2148840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/seller/stores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등록, 국세청 확인, 채널, 매장 전환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4368698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권한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5831738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/seller/operators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4368698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대행사 핸들을 추가하거나 회수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051597" y="48463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탐색</a:t>
            </a:r>
            <a:endParaRPr lang="en-US" sz="1150" dirty="0"/>
          </a:p>
        </p:txBody>
      </p:sp>
      <p:sp>
        <p:nvSpPr>
          <p:cNvPr id="34" name="Text 31"/>
          <p:cNvSpPr txBox="1"/>
          <p:nvPr/>
        </p:nvSpPr>
        <p:spPr>
          <a:xfrm>
            <a:off x="9514637" y="4864608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/seller/influencers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8051597" y="5120640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필터, 제안 접수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협업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2148840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/seller/influencer-deals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5800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커미션 % 제안, 조건부 발효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4368698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내역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5831738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/seller/promo-spend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368698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수령인별, 딜별. 사장님도 항상 열람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8051597" y="555955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9514637" y="5577840"/>
            <a:ext cx="19912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69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/seller/operating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051597" y="5833872"/>
            <a:ext cx="32714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매출과 주문, 운영 시작 이후 구간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맡겨도 잃을 게 없어서, 두 번째 방문이 쉬워집니다.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80160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회수는 언제든, 조건 없이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권한을 빼도 대행사가 올려 둔 이용권, 주문, 리뷰는 매장에 남습니다. 붙이는 것도 떼는 것도 권한 한 줄입니다.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2444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810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918808" y="21122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정산계좌와 사업자정보는 주인만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6324448" y="26243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운영자에게는 사업자번호와 대표자명이 가려 보이고, 계좌 변경과 사업자정보 수정과 탈퇴는 서버가 막습니다. 매장 돈이 딴 데로 갈 길이 없습니다.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324448" y="3474720"/>
            <a:ext cx="499856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162" y="37669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80160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지출은 항상 사장님이 봅니다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685800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운영을 맡겨도 소개비가 누구에게 얼마 나갔는지 사장님이 직접 봅니다. 투명성은 위임 여부와 무관합니다.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324448" y="36576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3810" y="3766962"/>
            <a:ext cx="201900" cy="201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918808" y="3712464"/>
            <a:ext cx="4541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성과는 부풀리지 않습니다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6324448" y="4224528"/>
            <a:ext cx="4998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매장 요약은 매장 총액과 "운영 시작 이후" 구간을 나눠 보여 줍니다. 그래서 그 숫자를 청구 근거로 쓸 수 있습니다.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5349240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960120" y="534924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i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"계좌랑 사업자 정보는 사장님만 만질 수 있고 저는 못 봅니다. 마음에 안 들면 오늘이라도 권한만 빼시면 되고, 올려 둔 건 다 사장님 것으로 남습니다."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대행사에게 붙여 드리는 것 여섯 가지.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62" y="2166762"/>
            <a:ext cx="201900" cy="2019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85800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매장 세 곳은 같이 갑니다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등록 세 건은 유어딜 담당자가 현장이나 통화로 동행합니다. 한 번 같이 하면 그다음은 혼자 됩니다.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85800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14418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781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414418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사장님용 한 장 안내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14418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수수료, 정산, QR 사용법이 적힌 매장용 안내 한 장을 드립니다. 대행사 이름을 넣어 드립니다.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414418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143037" y="20574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2399" y="216676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143037" y="26243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DB와 발송 대행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143037" y="29718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19만 명 DB 탐색과 제안 발송을 유어딜이 합니다. 연락처를 모으거나 DM을 돌릴 필요가 없습니다.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143037" y="3931920"/>
            <a:ext cx="3271418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85800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162" y="4224162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결제, 정산, 환불, 세금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685800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토스 결제, 주간 정산, 미사용 환불, 원천징수를 유어딜이 처리합니다. 손님 CS도 유어딜로 옵니다.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14418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3781" y="4224162"/>
            <a:ext cx="201900" cy="2019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414418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유입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4414418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 지도에 동네 기준으로 노출되고, 매장 페이지는 카톡 미리보기 카드와 네이버, 구글 검색에 잡힙니다. 6개 언어를 지원합니다.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8143037" y="411480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2399" y="4224162"/>
            <a:ext cx="201900" cy="20190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143037" y="4681728"/>
            <a:ext cx="33628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실적 공유</a:t>
            </a:r>
            <a:endParaRPr lang="en-US" sz="1400" dirty="0"/>
          </a:p>
        </p:txBody>
      </p:sp>
      <p:sp>
        <p:nvSpPr>
          <p:cNvPr id="32" name="Text 23"/>
          <p:cNvSpPr txBox="1"/>
          <p:nvPr/>
        </p:nvSpPr>
        <p:spPr>
          <a:xfrm>
            <a:off x="8143037" y="5029200"/>
            <a:ext cx="32714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기간에는 매주 매장별 판매와 사용 숫자를 유어딜이 먼저 보내 드립니다. 매장 보고서에 그대로 쓰시면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파일럿 제안. 매장 10곳이면 구조가 맞는지 판정이 납니다.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4251960"/>
          </a:xfrm>
          <a:prstGeom prst="roundRect">
            <a:avLst>
              <a:gd name="adj" fmla="val 3500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 목표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10곳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2286000" y="26334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 매장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335584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22860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 중 이용권 (매장당 3개)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41970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20건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2286000" y="431596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접수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005840" y="503834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-10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1회</a:t>
            </a:r>
            <a:endParaRPr lang="en-US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5157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매장별 실적 보고와 청구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52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숫자는 제안입니다. 담당자 한 명, 주 2일 방문 기준입니다.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4663440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준비할 것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63440" y="2514600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663440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20640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1명과 카카오 계정 (셀러 계정은 사업자 인증으로 10분)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663440" y="3410712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663440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23" name="Text 20"/>
          <p:cNvSpPr txBox="1"/>
          <p:nvPr/>
        </p:nvSpPr>
        <p:spPr>
          <a:xfrm>
            <a:off x="5120640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리스트 10~20곳 (7장 체크리스트 기준)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63440" y="4306824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66344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120640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매장과 맺을 보수 조건 초안 (매출 % 또는 월 정액. 유어딜은 관여하지 않습니다)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4663440" y="5202936"/>
            <a:ext cx="329184" cy="3291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663440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120640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방문 일정 2주치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244688" y="2103120"/>
            <a:ext cx="3261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준비할 것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8244688" y="251460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44688" y="2514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8701888" y="2496312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3매장 등록 동행 (현장 또는 통화)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8244688" y="34107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44688" y="3410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36" name="Text 33"/>
          <p:cNvSpPr txBox="1"/>
          <p:nvPr/>
        </p:nvSpPr>
        <p:spPr>
          <a:xfrm>
            <a:off x="8701888" y="3392424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 이름이 들어간 사장님용 안내 한 장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44688" y="430682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44688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39" name="Text 36"/>
          <p:cNvSpPr txBox="1"/>
          <p:nvPr/>
        </p:nvSpPr>
        <p:spPr>
          <a:xfrm>
            <a:off x="8701888" y="4288536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인플루언서 제안 발송, 결제, 정산, 환불, CS 전부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8244688" y="5202936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44688" y="52029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42" name="Text 39"/>
          <p:cNvSpPr txBox="1"/>
          <p:nvPr/>
        </p:nvSpPr>
        <p:spPr>
          <a:xfrm>
            <a:off x="8701888" y="5184648"/>
            <a:ext cx="2758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1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매장별 판매와 사용 숫자 공유. 8주 뒤 함께 판정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쪽은 화면 네 장이면 끝납니다. 그래서 매장이 올리면 팔립니다.</a:t>
            </a:r>
            <a:endParaRPr lang="en-US" sz="25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4396" y="1811589"/>
            <a:ext cx="1787832" cy="341770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홈에서 내 동네 기준으로 이용권이 뜹니다. 카톡 카드와 네이버, 구글 검색에도 잡힙니다.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20" y="1811589"/>
            <a:ext cx="1787832" cy="341770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390824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90824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정가와 할인가를 함께 보고 토스로 결제합니다. 앱 설치나 가입 강요 구간이 없습니다.</a:t>
            </a:r>
            <a:endParaRPr lang="en-US" sz="10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444" y="1811589"/>
            <a:ext cx="1787832" cy="3417702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095848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6095848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매장에서 QR을 보여 주거나 매장 PIN을 입력합니다. 매장은 폰 한 대로 확인합니다.</a:t>
            </a:r>
            <a:endParaRPr lang="en-US" sz="1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9468" y="1811589"/>
            <a:ext cx="1787832" cy="341770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800871" y="5212080"/>
            <a:ext cx="2522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찾기</a:t>
            </a:r>
            <a:endParaRPr lang="en-US" sz="1400" dirty="0"/>
          </a:p>
        </p:txBody>
      </p:sp>
      <p:sp>
        <p:nvSpPr>
          <p:cNvPr id="17" name="Text 10"/>
          <p:cNvSpPr txBox="1"/>
          <p:nvPr/>
        </p:nvSpPr>
        <p:spPr>
          <a:xfrm>
            <a:off x="8800871" y="5504688"/>
            <a:ext cx="243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페이지(유어샵)가 남습니다. 안 쓴 이용권은 100% 자동 환불이라 응대가 매장이나 대행사로 오지 않습니다.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77824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대행사 제휴 제안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질문과, 지금 하실 일.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수수료가 두 번 나가나요?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아닙니다. 유어딜이 떼는 것은 중개 매장 5% 하나뿐입니다. 대행사 보수는 매장과 대행사의 계약이고 유어딜 정산서에 나오지 않습니다.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6324448" y="196596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직접 계정을 만들면 우리 관계는요?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324448" y="227685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계정 양도가 아니라 권한 변경입니다. 상품, 주문, 리뷰, 정산 이력은 매장에 그대로 남고, 대행사는 운영자로 계속 일할 수 있습니다.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대행사가 유어딜에 내는 돈이 있나요?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가입비, 월 이용료, 매장당 등록비 전부 없습니다. 매장에서 팔린 만큼만 유어딜 수수료가 나갑니다.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324448" y="320040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정산은 언제 되나요?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351129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실제로 사용한 이용권만 주간 정산으로 매장 계좌에 들어옵니다. 안 쓴 이용권은 손님에게 자동 환불됩니다.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4434840"/>
            <a:ext cx="518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쇼핑 공구 벤더인데 바로 할 수 있나요?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4745736"/>
            <a:ext cx="518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같습니다. 브랜드 대신 매장, 상품 대신 이용권, 택배 대신 QR입니다. 재고와 반품이 빠지고 정산이 자동으로 바뀝니다.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24448" y="4251960"/>
            <a:ext cx="5181448" cy="2011680"/>
          </a:xfrm>
          <a:prstGeom prst="roundRect">
            <a:avLst>
              <a:gd name="adj" fmla="val 6364"/>
            </a:avLst>
          </a:prstGeom>
          <a:solidFill>
            <a:srgbClr val="1D1F29"/>
          </a:solidFill>
          <a:ln w="12700">
            <a:solidFill>
              <a:srgbClr val="1D1F2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44488" y="44531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하실 일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644488" y="4727448"/>
            <a:ext cx="45413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후보 매장 5곳의 이름과 동네만 보내 주세요. 하루 안에 채널과 요율을 확인해 드리고, 첫 방문 일정을 잡습니다.</a:t>
            </a:r>
            <a:endParaRPr lang="en-US" sz="115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488" y="5440680"/>
            <a:ext cx="164592" cy="16459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918808" y="538581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2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5715000"/>
            <a:ext cx="164592" cy="16459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18808" y="566013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2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5989320"/>
            <a:ext cx="164592" cy="16459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18808" y="5934456"/>
            <a:ext cx="426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리스터코퍼레이션, 사업자등록번호 479-09-02930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유어딜 대행사 제휴 제안서</dc:title>
  <dc:subject>PptxGenJS Presentation</dc:subject>
  <dc:creator>리스터코퍼레이션</dc:creator>
  <cp:lastModifiedBy>리스터코퍼레이션</cp:lastModifiedBy>
  <cp:revision>1</cp:revision>
  <dcterms:created xsi:type="dcterms:W3CDTF">2026-09-07T07:34:10Z</dcterms:created>
  <dcterms:modified xsi:type="dcterms:W3CDTF">2026-09-07T07:34:10Z</dcterms:modified>
</cp:coreProperties>
</file>