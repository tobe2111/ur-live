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5% / 95% / 0원. 2026-09-04 대표 확정. 오른쪽은 urdeal.kr 홈(모바일)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요약. 사업계획서 C-2 + store-operator-model §7.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평균가는 2026-09-07 공개 API 실측(meal 242건 avg 32,339 / stay 51건 avg 155,824). 캡처는 scripts/capture-proposal-shots.mjs (detail/use).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2026-09-04 대표 확정: "중개사가 5% 내에서 가져가는 게 아니라 나머지 95%에서 매장이랑 거래". PG 2.75% 는 commission-budget.ts 실측 상수(플랫폼 부담). 정산은 used 이용권만 주간(auto-settlement.ts).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평균가 32,339 / 155,824 는 2026-09-07 활성 이용권 카탈로그 평균(실거래 평균 아님). 하루 1건은 가정. 보수율은 매장과 귀사의 계약이며 유어딜이 정하지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재료비 35% 는 가정. 정산 규칙은 auto-settlement.ts. 사용 처리는 매장 QR 스캔 또는 확인 PIN.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등록 필수 필드는 seller-stores.routes.ts. 오른쪽은 /u/jiwon1228 라이브 캡처(대표 계정).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시간은 현장 추정. 필드는 seller-stores.routes.ts 실재. 오른쪽은 /seller/stores 실제 UI 를 예시 데이터로 렌더한 캡처(프로덕션 무접촉).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대본의 사실 주장은 앞 장들과 동일 출처. 가운데는 이용권 상세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숫자는 /api/admin/ads/influencer-pool/stats 2026-09-13 실측. 오른쪽은 /admin/influencer-pool 데스크톱 캡처(capture-admin-shots.mjs — 이메일·IG·TT 블러).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라우트 6개는 2026-09-07 main 실재. 요일 배분은 권장 루틴. 오른쪽 3장은 실제 UI + 예시 데이터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store-operator-model.md §7.7 (마스킹: 계좌 ****1234 · 등록번호 끝 4자리 · 대표자명 첫 글자 · 주소/연락처 null · 계좌 변경/사업자정보 수정/탈퇴 403). 오른쪽은 /seller/operators 실제 UI 를 예시 데이터로 렌더한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동행·안내장·주간 실적 공유는 파일럿 제안의 유어딜 측 약속. 나머지 셋은 현행 기능.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09-14: "초기입니다(337 중 실제 1)" 블록 제거(대표 — 사장님 덱과 같은 판단). 귀속 미추적은 SellerOperatingSummaryPage 헤더 주석 그대로. 오른쪽은 /seller/operating 실제 UI + 예시 데이터.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파일럿 조건은 이 문서의 제안. 유어딜은 대행사 보수 조건에 관여하지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4장 전부 2026-09-07 urdeal.kr 모바일 라이브 캡처(home/detail/use/shop). 지갑 화면은 로그인이 필요해 제외.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FAQ 출처: 사업계획서 C-3, 셀러 가이드, auto-settlement.ts. 채널 변경은 POST /api/seller/stores/:id/channel (소유자만) + 어드민.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4173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제휴 제안, 2026년 9월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78308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데려오시면</a:t>
            </a:r>
            <a:endParaRPr lang="en-US" sz="4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</a:t>
            </a:r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5%만</a:t>
            </a:r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가져갑니다.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52044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95%는 매장 몫입니다. 그 안에서 매장과 직접 거래하십시오. 귀사의 보수를 유어딜이 정하지 않고, 상한도 두지 않습니다.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85800" y="4315968"/>
            <a:ext cx="6766560" cy="0"/>
          </a:xfrm>
          <a:prstGeom prst="line">
            <a:avLst/>
          </a:prstGeom>
          <a:noFill/>
          <a:ln w="9525">
            <a:solidFill>
              <a:srgbClr val="3A3D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446227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5074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 경유 매장의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수수료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2971800" y="446227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2971800" y="5074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몫.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귀사와의 거래 재원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257800" y="446227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5257800" y="5074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입점비, 월정액,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광고비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56692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손님이 미리 결제하고 매장에 찾아오는 이용권을 팝니다. 식당, 뷰티샵, 숙소가 팔고 있습니다. 매장을 모으고 대신 운영해 주실 파트너를 찾습니다.</a:t>
            </a:r>
            <a:endParaRPr lang="en-US" sz="10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3771" y="598531"/>
            <a:ext cx="3128705" cy="59809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제안을 한 장으로 줄이면 이렇습니다.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20116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121042"/>
            <a:ext cx="201900" cy="2019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06654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파나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60604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식당, 카페, 미용, 숙박, 액티비티의 이용권. 손님이 온라인에서 할인가로 미리 사고 매장에 와서 QR로 씁니다. 배송도 재고도 없습니다.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685800" y="3794760"/>
            <a:ext cx="495284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78728" y="20116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090" y="2121042"/>
            <a:ext cx="201900" cy="201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873088" y="206654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대행사는 무엇을 하나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278728" y="260604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찾아 유어딜에 올리고(10분), 이용권을 만들고(3분), 인플루언서를 붙이고, 매장에 성과를 보고합니다. 돈을 걷거나 나누는 일은 없습니다.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6278728" y="3794760"/>
            <a:ext cx="495284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85800" y="40233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162" y="413272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80160" y="407822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얼마를 내나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685800" y="461772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팔린 금액의 5%를 유어딜에 냅니다(직접 입점은 10%). 나머지 95% 안에서 매장이 인플루언서 소개비(딜마다 정한 %)와 대행사 보수(계약)를 냅니다. 대행사가 유어딜에 내는 돈은 0입니다.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6278728" y="40233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8090" y="4132722"/>
            <a:ext cx="201900" cy="2019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873088" y="407822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무엇을 하나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6278728" y="461772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결제(토스), 이용권 발급, QR 확인 앱, 주간 정산, 원천징수, 환불 응대, 홈 지도 노출과 검색 유입. 인플루언서 DB와 제안 발송까지.</a:t>
            </a:r>
            <a:endParaRPr lang="en-US" sz="1150" dirty="0"/>
          </a:p>
        </p:txBody>
      </p:sp>
      <p:sp>
        <p:nvSpPr>
          <p:cNvPr id="24" name="Text 17"/>
          <p:cNvSpPr txBox="1"/>
          <p:nvPr/>
        </p:nvSpPr>
        <p:spPr>
          <a:xfrm>
            <a:off x="685800" y="59893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 근거와 절차는 다음 장부터 순서대로. 마지막 장에 8주 파일럿 조건이 있습니다.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이렇게 생겼습니다.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메뉴 하나가 곧 상품입니다.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14884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실제 화면입니다. 정가와 할인가가 함께 보이고, 토스로 결제하면 이용권이 바로 발급됩니다. 유효기간, 할인율, 마감 수량은 전부 매장이 정하고, 안 쓴 이용권은 100% 자동 환불됩니다.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4290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32,411원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3383280" y="36301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 이용권 평균가 (241개)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85800" y="4178808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42702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155,824원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3383280" y="447141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숙박 이용권 평균가. 식사의 4.8배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" y="5020056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51114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3383280" y="531266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재고, 배송, 반품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85800" y="5861304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598932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 9월 13일 urdeal.kr 활성 이용권 337개의 카탈로그 평균가. 실거래 평균이 아니라 가격대 참고치입니다.</a:t>
            </a:r>
            <a:endParaRPr lang="en-US" sz="9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694" y="781094"/>
            <a:ext cx="2602872" cy="497577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6583680" y="5678424"/>
            <a:ext cx="2884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상세</a:t>
            </a:r>
            <a:endParaRPr lang="en-US" sz="105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2394" y="781094"/>
            <a:ext cx="2602872" cy="497577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9011380" y="5678424"/>
            <a:ext cx="2884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방법과 환불 안내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낸 돈은 이렇게 갈립니다. 유어딜은 5%에서 끝납니다.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대부분의 플랫폼 제안서가 여기를 흐리게 씁니다. 유어딜은 구조가 단순해서 흐릴 것이 없습니다.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8580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결제</a:t>
            </a:r>
            <a:endParaRPr lang="en-US" sz="10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624328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15468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315468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카드사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315468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 처리</a:t>
            </a:r>
            <a:endParaRPr lang="en-US" sz="10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5232" y="2624328"/>
            <a:ext cx="219456" cy="219456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62356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62356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562356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10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112" y="2624328"/>
            <a:ext cx="219456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809244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809244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809244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95%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416052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3" name="Text 17"/>
          <p:cNvSpPr txBox="1"/>
          <p:nvPr/>
        </p:nvSpPr>
        <p:spPr>
          <a:xfrm>
            <a:off x="3154680" y="34381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2.75%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3017520" y="3749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결제 수수료.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자기 5% 안에서 냅니다.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카드사 정책에 따라 바뀔 수 있습니다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662940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6" name="Text 20"/>
          <p:cNvSpPr txBox="1"/>
          <p:nvPr/>
        </p:nvSpPr>
        <p:spPr>
          <a:xfrm>
            <a:off x="5623560" y="34381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1500" dirty="0"/>
          </a:p>
        </p:txBody>
      </p:sp>
      <p:sp>
        <p:nvSpPr>
          <p:cNvPr id="27" name="Text 21"/>
          <p:cNvSpPr txBox="1"/>
          <p:nvPr/>
        </p:nvSpPr>
        <p:spPr>
          <a:xfrm>
            <a:off x="5486400" y="3749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 경유 매장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(직접 입점은 10%)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>
            <a:off x="909828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9" name="Shape 23"/>
          <p:cNvSpPr/>
          <p:nvPr/>
        </p:nvSpPr>
        <p:spPr>
          <a:xfrm>
            <a:off x="8092440" y="3419856"/>
            <a:ext cx="3413455" cy="1481328"/>
          </a:xfrm>
          <a:prstGeom prst="roundRect">
            <a:avLst>
              <a:gd name="adj" fmla="val 8642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8321040" y="3547872"/>
            <a:ext cx="2956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귀사의 보수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8321040" y="3822192"/>
            <a:ext cx="2956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매장과 직접 정하는 금액. 유어딜은 이 거래의 당사자가 아니고, 상한도 두지 않습니다.</a:t>
            </a:r>
            <a:endParaRPr lang="en-US" sz="950" dirty="0"/>
          </a:p>
        </p:txBody>
      </p:sp>
      <p:sp>
        <p:nvSpPr>
          <p:cNvPr id="32" name="Text 26"/>
          <p:cNvSpPr txBox="1"/>
          <p:nvPr/>
        </p:nvSpPr>
        <p:spPr>
          <a:xfrm>
            <a:off x="8321040" y="4288536"/>
            <a:ext cx="29562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소개비</a:t>
            </a:r>
            <a:endParaRPr lang="en-US" sz="1150" dirty="0"/>
          </a:p>
        </p:txBody>
      </p:sp>
      <p:sp>
        <p:nvSpPr>
          <p:cNvPr id="33" name="Text 27"/>
          <p:cNvSpPr txBox="1"/>
          <p:nvPr/>
        </p:nvSpPr>
        <p:spPr>
          <a:xfrm>
            <a:off x="8321040" y="4535424"/>
            <a:ext cx="2956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딜마다 정하는 %. 귀속과 지급은 유어딜이 자동 처리합니다.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685800" y="4919472"/>
            <a:ext cx="365760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5" name="Text 29"/>
          <p:cNvSpPr txBox="1"/>
          <p:nvPr/>
        </p:nvSpPr>
        <p:spPr>
          <a:xfrm>
            <a:off x="914400" y="50474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흔한 오해</a:t>
            </a:r>
            <a:endParaRPr lang="en-US" sz="1150" dirty="0"/>
          </a:p>
        </p:txBody>
      </p:sp>
      <p:sp>
        <p:nvSpPr>
          <p:cNvPr id="36" name="Text 30"/>
          <p:cNvSpPr txBox="1"/>
          <p:nvPr/>
        </p:nvSpPr>
        <p:spPr>
          <a:xfrm>
            <a:off x="914400" y="532180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"직접 입점 10%와 중개 5%의 차액 5%가 대행사 몫이다."</a:t>
            </a:r>
            <a:endParaRPr lang="en-US" sz="950" dirty="0"/>
          </a:p>
        </p:txBody>
      </p:sp>
      <p:sp>
        <p:nvSpPr>
          <p:cNvPr id="37" name="Shape 31"/>
          <p:cNvSpPr/>
          <p:nvPr/>
        </p:nvSpPr>
        <p:spPr>
          <a:xfrm>
            <a:off x="4617720" y="4919472"/>
            <a:ext cx="365760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8" name="Text 32"/>
          <p:cNvSpPr txBox="1"/>
          <p:nvPr/>
        </p:nvSpPr>
        <p:spPr>
          <a:xfrm>
            <a:off x="4846320" y="50474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</a:t>
            </a:r>
            <a:endParaRPr lang="en-US" sz="1150" dirty="0"/>
          </a:p>
        </p:txBody>
      </p:sp>
      <p:sp>
        <p:nvSpPr>
          <p:cNvPr id="39" name="Text 33"/>
          <p:cNvSpPr txBox="1"/>
          <p:nvPr/>
        </p:nvSpPr>
        <p:spPr>
          <a:xfrm>
            <a:off x="4846320" y="532180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차액은 유어딜이 덜 받는 것입니다. 매장에 여유를 남겨 귀사가 그 안에서 거래하시라는 뜻입니다. 귀사의 단가는 유어딜이 아니라 귀사와 매장이 정합니다.</a:t>
            </a:r>
            <a:endParaRPr lang="en-US" sz="950" dirty="0"/>
          </a:p>
        </p:txBody>
      </p:sp>
      <p:sp>
        <p:nvSpPr>
          <p:cNvPr id="40" name="Text 34"/>
          <p:cNvSpPr txBox="1"/>
          <p:nvPr/>
        </p:nvSpPr>
        <p:spPr>
          <a:xfrm>
            <a:off x="685800" y="5998464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정산은 매장 계좌로만 갑니다. 귀사 보수는 매장이 귀사에게 직접 지급하고, 유어딜 장부에는 그 지급이 한 줄도 등장하지 않습니다.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한 곳이 귀사에게 얼마가 되는가. 가정은 전부 공개합니다.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12064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한 곳, 한 달 (바꿔서 다시 계산하셔도 됩니다)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468880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 이용권 평균가 (라이브 실측)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470148" y="2468880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32,411원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843784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매장당 월 판매 (하루 1건 가정)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470148" y="2843784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30건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" y="3218688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월 거래액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3470148" y="3218688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972,330원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005840" y="3566160"/>
            <a:ext cx="44805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5840" y="3593592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5%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470148" y="3593592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48,617원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3968496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 95%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470148" y="3968496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923,714원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05840" y="4315968"/>
            <a:ext cx="44805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05840" y="4343400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인플루언서 소개비 (매장 제안 10% 가정)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3470148" y="4343400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97,233원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005840" y="4718304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귀사 보수 (3% 예시)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3470148" y="4718304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29,170원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005840" y="5093208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매장 순수취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3470148" y="5093208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797,311원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005840" y="555955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3%는 유어딜이 정한 값이 아니라 계산을 보여 드리려고 넣은 값입니다. 2%로도, 5%로도, 매장별로 다르게도 하실 수 있습니다.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6080760" y="2011680"/>
            <a:ext cx="54251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수를 늘리면 (같은 가정)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080760" y="22860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995160" y="22860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거래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7909560" y="2286000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거래액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9235440" y="2286000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 95%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61320" y="228600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3% 가정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6080760" y="2560320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080760" y="2615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10곳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6995160" y="2615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300건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909560" y="2615184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972만원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9235440" y="2615184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924만원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61320" y="2615184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29만원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6080760" y="2999232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080760" y="30358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30곳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6995160" y="30358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900건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7909560" y="303580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2,917만원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9235440" y="303580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2,771만원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61320" y="3035808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88만원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6080760" y="3419856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989320" y="3419856"/>
            <a:ext cx="5608015" cy="420624"/>
          </a:xfrm>
          <a:prstGeom prst="rect">
            <a:avLst/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080760" y="3456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100곳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6995160" y="3456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3,000건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7909560" y="3456432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9,723만원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9235440" y="3456432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9,237만원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61320" y="3456432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292만원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6080760" y="3840480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6080760" y="387705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300곳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6995160" y="387705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9,000건</a:t>
            </a:r>
            <a:endParaRPr lang="en-US" sz="1100" dirty="0"/>
          </a:p>
        </p:txBody>
      </p:sp>
      <p:sp>
        <p:nvSpPr>
          <p:cNvPr id="55" name="Text 52"/>
          <p:cNvSpPr txBox="1"/>
          <p:nvPr/>
        </p:nvSpPr>
        <p:spPr>
          <a:xfrm>
            <a:off x="7909560" y="3877056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2억 9,170만원</a:t>
            </a:r>
            <a:endParaRPr lang="en-US" sz="1100" dirty="0"/>
          </a:p>
        </p:txBody>
      </p:sp>
      <p:sp>
        <p:nvSpPr>
          <p:cNvPr id="56" name="Text 53"/>
          <p:cNvSpPr txBox="1"/>
          <p:nvPr/>
        </p:nvSpPr>
        <p:spPr>
          <a:xfrm>
            <a:off x="9235440" y="3877056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2억 7,711만원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10561320" y="3877056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875만원</a:t>
            </a:r>
            <a:endParaRPr lang="en-US" sz="1100" dirty="0"/>
          </a:p>
        </p:txBody>
      </p:sp>
      <p:sp>
        <p:nvSpPr>
          <p:cNvPr id="58" name="Shape 55"/>
          <p:cNvSpPr/>
          <p:nvPr/>
        </p:nvSpPr>
        <p:spPr>
          <a:xfrm>
            <a:off x="6080760" y="4261104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080760" y="4617720"/>
            <a:ext cx="5425135" cy="1600200"/>
          </a:xfrm>
          <a:prstGeom prst="roundRect">
            <a:avLst>
              <a:gd name="adj" fmla="val 8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6355080" y="4773168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객단가가 가장 큰 변수입니다</a:t>
            </a:r>
            <a:endParaRPr lang="en-US" sz="1250" dirty="0"/>
          </a:p>
        </p:txBody>
      </p:sp>
      <p:sp>
        <p:nvSpPr>
          <p:cNvPr id="61" name="Text 58"/>
          <p:cNvSpPr txBox="1"/>
          <p:nvPr/>
        </p:nvSpPr>
        <p:spPr>
          <a:xfrm>
            <a:off x="6355080" y="5074920"/>
            <a:ext cx="48764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숙박 이용권의 평균가는 155,824원으로 식사의 4.8배입니다. 같은 품을 들여 매장을 붙인다면 숙소와 뷰티 쪽이 식당보다 훨씬 큽니다. 위 표의 모든 숫자가 그만큼 곱해집니다.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"네" 하는 이유도 숫자입니다. 광고비 선지출이 없습니다.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39496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한 장이 팔렸을 때 (파스타 2인 세트 예시)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468880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621024" y="2468880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32,000원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843784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판매가 (22% 할인)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621024" y="2843784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25,000원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05840" y="319125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05840" y="3218688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5%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3621024" y="3218688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1,250원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3593592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소개비 10% (매장 제안 예시)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621024" y="3593592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2,500원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3968496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보수 3% (계약 예시)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621024" y="3968496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750원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05840" y="4315968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05840" y="4343400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들어오는 돈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3621024" y="4343400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20,500원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005840" y="4718304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재료비 35% 가정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3621024" y="4718304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11,200원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005840" y="506577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5840" y="5093208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이익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3621024" y="5093208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9,300원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005840" y="55778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없이 온 새 손님 한 명당 9,300원이 남습니다. 안 팔리면 0원이고, 세 항목 전부 팔린 뒤에만 나갑니다.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446520" y="201168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127" y="2116287"/>
            <a:ext cx="193121" cy="193121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7040880" y="2011680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선지출 광고비 0</a:t>
            </a:r>
            <a:endParaRPr lang="en-US" sz="1350" dirty="0"/>
          </a:p>
        </p:txBody>
      </p:sp>
      <p:sp>
        <p:nvSpPr>
          <p:cNvPr id="31" name="Text 27"/>
          <p:cNvSpPr txBox="1"/>
          <p:nvPr/>
        </p:nvSpPr>
        <p:spPr>
          <a:xfrm>
            <a:off x="7040880" y="2340864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배너, 검색 광고, 체험단처럼 미리 내는 돈이 없습니다. 팔린 만큼만 나갑니다.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6446520" y="3090672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127" y="3195279"/>
            <a:ext cx="193121" cy="193121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7040880" y="3090672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할인율과 유효기간은 사장님이</a:t>
            </a:r>
            <a:endParaRPr lang="en-US" sz="1350" dirty="0"/>
          </a:p>
        </p:txBody>
      </p:sp>
      <p:sp>
        <p:nvSpPr>
          <p:cNvPr id="35" name="Text 30"/>
          <p:cNvSpPr txBox="1"/>
          <p:nvPr/>
        </p:nvSpPr>
        <p:spPr>
          <a:xfrm>
            <a:off x="7040880" y="3419856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남는 메뉴만 올리고, 할인율도 마감 수량도 직접 정합니다. 손해 보는 구조를 만들 수 없습니다.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6446520" y="4169664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127" y="4274271"/>
            <a:ext cx="193121" cy="193121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7040880" y="4169664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정산은 손님이 쓴 뒤 매주</a:t>
            </a:r>
            <a:endParaRPr lang="en-US" sz="1350" dirty="0"/>
          </a:p>
        </p:txBody>
      </p:sp>
      <p:sp>
        <p:nvSpPr>
          <p:cNvPr id="39" name="Text 33"/>
          <p:cNvSpPr txBox="1"/>
          <p:nvPr/>
        </p:nvSpPr>
        <p:spPr>
          <a:xfrm>
            <a:off x="7040880" y="4498848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QR을 찍은 이용권만 주간 정산으로 매장 계좌에 들어옵니다. 안 쓴 이용권은 손님에게 자동 환불됩니다.</a:t>
            </a:r>
            <a:endParaRPr lang="en-US" sz="1100" dirty="0"/>
          </a:p>
        </p:txBody>
      </p:sp>
      <p:sp>
        <p:nvSpPr>
          <p:cNvPr id="40" name="Shape 34"/>
          <p:cNvSpPr/>
          <p:nvPr/>
        </p:nvSpPr>
        <p:spPr>
          <a:xfrm>
            <a:off x="6446520" y="5248656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1127" y="5353263"/>
            <a:ext cx="193121" cy="193121"/>
          </a:xfrm>
          <a:prstGeom prst="rect">
            <a:avLst/>
          </a:prstGeom>
        </p:spPr>
      </p:pic>
      <p:sp>
        <p:nvSpPr>
          <p:cNvPr id="42" name="Text 35"/>
          <p:cNvSpPr txBox="1"/>
          <p:nvPr/>
        </p:nvSpPr>
        <p:spPr>
          <a:xfrm>
            <a:off x="7040880" y="5248656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하는 일은 하나</a:t>
            </a:r>
            <a:endParaRPr lang="en-US" sz="1350" dirty="0"/>
          </a:p>
        </p:txBody>
      </p:sp>
      <p:sp>
        <p:nvSpPr>
          <p:cNvPr id="43" name="Text 36"/>
          <p:cNvSpPr txBox="1"/>
          <p:nvPr/>
        </p:nvSpPr>
        <p:spPr>
          <a:xfrm>
            <a:off x="7040880" y="5577840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QR을 폰으로 찍거나 확인 PIN을 눌러 주는 것. 등록과 운영은 대행사가 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여섯 가지가 되면 데려오세요.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대부분 그 자리에서 진행됩니다.</a:t>
            </a:r>
            <a:endParaRPr lang="en-US" sz="26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21992"/>
            <a:ext cx="237744" cy="23774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33272" y="21945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사업자등록이 있다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1033272" y="25237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사업자번호, 대표자명, 개업일로 국세청 진위확인을 합니다. 없으면 올릴 수 없습니다.</a:t>
            </a:r>
            <a:endParaRPr lang="en-US" sz="10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2221992"/>
            <a:ext cx="237744" cy="2377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330952" y="21945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 매장이 있다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330952" y="25237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등록할 때 카카오맵 장소를 연결합니다. 없으면 사장님이 먼저 등록해야 합니다(무료, 하루 이틀).</a:t>
            </a:r>
            <a:endParaRPr lang="en-US" sz="105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456432"/>
            <a:ext cx="237744" cy="237744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033272" y="34290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방문해서 쓰는 업종이다</a:t>
            </a:r>
            <a:endParaRPr lang="en-US" sz="1300" dirty="0"/>
          </a:p>
        </p:txBody>
      </p:sp>
      <p:sp>
        <p:nvSpPr>
          <p:cNvPr id="14" name="Text 8"/>
          <p:cNvSpPr txBox="1"/>
          <p:nvPr/>
        </p:nvSpPr>
        <p:spPr>
          <a:xfrm>
            <a:off x="1033272" y="375818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식당, 카페, 미용, 네일, 숙박, 키즈카페, 스튜디오, 클래스. 택배 상품만 파는 곳은 대상이 아닙니다.</a:t>
            </a:r>
            <a:endParaRPr lang="en-US" sz="105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3480" y="3456432"/>
            <a:ext cx="237744" cy="23774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5330952" y="34290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15~30% 할인해도 남는 대표 메뉴가 있다</a:t>
            </a:r>
            <a:endParaRPr lang="en-US" sz="1300" dirty="0"/>
          </a:p>
        </p:txBody>
      </p:sp>
      <p:sp>
        <p:nvSpPr>
          <p:cNvPr id="17" name="Text 10"/>
          <p:cNvSpPr txBox="1"/>
          <p:nvPr/>
        </p:nvSpPr>
        <p:spPr>
          <a:xfrm>
            <a:off x="5330952" y="375818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할인가로 팝니다. 마진이 얇은 메뉴만 있는 곳은 사장님이 곧 후회합니다.</a:t>
            </a:r>
            <a:endParaRPr lang="en-US" sz="105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690872"/>
            <a:ext cx="237744" cy="237744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033272" y="4663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사진이 3장 이상 있다</a:t>
            </a:r>
            <a:endParaRPr lang="en-US" sz="1300" dirty="0"/>
          </a:p>
        </p:txBody>
      </p:sp>
      <p:sp>
        <p:nvSpPr>
          <p:cNvPr id="20" name="Text 12"/>
          <p:cNvSpPr txBox="1"/>
          <p:nvPr/>
        </p:nvSpPr>
        <p:spPr>
          <a:xfrm>
            <a:off x="1033272" y="49926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카드의 절반은 사진입니다. 없으면 방문할 때 폰으로 찍어 오세요.</a:t>
            </a:r>
            <a:endParaRPr lang="en-US" sz="1050" dirty="0"/>
          </a:p>
        </p:txBody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83480" y="4690872"/>
            <a:ext cx="237744" cy="237744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5330952" y="4663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사장님이나 직원이 폰으로 QR을 찍을 수 있다</a:t>
            </a:r>
            <a:endParaRPr lang="en-US" sz="1300" dirty="0"/>
          </a:p>
        </p:txBody>
      </p:sp>
      <p:sp>
        <p:nvSpPr>
          <p:cNvPr id="23" name="Text 14"/>
          <p:cNvSpPr txBox="1"/>
          <p:nvPr/>
        </p:nvSpPr>
        <p:spPr>
          <a:xfrm>
            <a:off x="5330952" y="49926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처리는 매장 폰 한 대로 끝납니다. POS 연동이 필요 없습니다.</a:t>
            </a:r>
            <a:endParaRPr lang="en-US" sz="1050" dirty="0"/>
          </a:p>
        </p:txBody>
      </p:sp>
      <p:sp>
        <p:nvSpPr>
          <p:cNvPr id="24" name="Shape 15"/>
          <p:cNvSpPr/>
          <p:nvPr/>
        </p:nvSpPr>
        <p:spPr>
          <a:xfrm>
            <a:off x="685800" y="5806440"/>
            <a:ext cx="8229600" cy="502920"/>
          </a:xfrm>
          <a:prstGeom prst="roundRect">
            <a:avLst>
              <a:gd name="adj" fmla="val 25455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5" name="Text 16"/>
          <p:cNvSpPr txBox="1"/>
          <p:nvPr/>
        </p:nvSpPr>
        <p:spPr>
          <a:xfrm>
            <a:off x="914400" y="5806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갈 곳: 배달앱이나 예약앱에 광고비를 쓰고 있는 매장. "그 돈을 팔린 뒤에만 내는 걸로 바꾸자"가 통합니다.</a:t>
            </a:r>
            <a:endParaRPr lang="en-US" sz="1050" dirty="0"/>
          </a:p>
        </p:txBody>
      </p:sp>
      <p:pic>
        <p:nvPicPr>
          <p:cNvPr id="2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99864" y="778824"/>
            <a:ext cx="2629164" cy="502603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8961120" y="5724144"/>
            <a:ext cx="29066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올라간 매장 페이지 (유어샵)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앞에서 10분.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서명도 서류도 없이 대행사 폰으로 끝납니다.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17627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1554480" y="2167128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9578" y="2262226"/>
            <a:ext cx="175565" cy="17556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057400" y="21762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카카오맵에서 매장 찾기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2057400" y="2478024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/seller/stores 에서 매장 이름을 검색해 장소를 연결합니다. 주소와 좌표가 자동으로 들어옵니다.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85800" y="2916936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85800" y="298094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2분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1554480" y="2971800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9578" y="3066898"/>
            <a:ext cx="175565" cy="17556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057400" y="2980944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국세청 진위확인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2057400" y="3282696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사업자번호, 대표자명, 개업일을 넣으면 국세청 조회로 즉시 확인됩니다. 사업자등록증 사진만 보면 됩니다.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685800" y="3721608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85800" y="378561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700" dirty="0"/>
          </a:p>
        </p:txBody>
      </p:sp>
      <p:sp>
        <p:nvSpPr>
          <p:cNvPr id="19" name="Shape 14"/>
          <p:cNvSpPr/>
          <p:nvPr/>
        </p:nvSpPr>
        <p:spPr>
          <a:xfrm>
            <a:off x="1554480" y="3776472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9578" y="3871570"/>
            <a:ext cx="175565" cy="17556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2057400" y="378561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"누가 운영하나요"에서 중개 선택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2057400" y="4087368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"중개·대행사에요"를 고르면 그 매장은 5%가 적용됩니다. 등록은 귀사 계정으로 해도 되지만, 정산 계좌는 사장님이 소유자가 된 뒤에만 넣을 수 있습니다(17장). 확인 PIN도 여기서.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685800" y="4526280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85800" y="459028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3분씩</a:t>
            </a:r>
            <a:endParaRPr lang="en-US" sz="1700" dirty="0"/>
          </a:p>
        </p:txBody>
      </p:sp>
      <p:sp>
        <p:nvSpPr>
          <p:cNvPr id="25" name="Shape 19"/>
          <p:cNvSpPr/>
          <p:nvPr/>
        </p:nvSpPr>
        <p:spPr>
          <a:xfrm>
            <a:off x="1554480" y="4581144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9578" y="4676242"/>
            <a:ext cx="175565" cy="175565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2057400" y="459028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만들기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2057400" y="489204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사진, 정가, 판매가, 유효기간, 마감 수량. 대표 메뉴 두세 개면 충분합니다. 사진은 그 자리에서 찍어도 됩니다.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85800" y="5330952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685800" y="5394960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</a:t>
            </a:r>
            <a:endParaRPr lang="en-US" sz="1700" dirty="0"/>
          </a:p>
        </p:txBody>
      </p:sp>
      <p:sp>
        <p:nvSpPr>
          <p:cNvPr id="31" name="Shape 24"/>
          <p:cNvSpPr/>
          <p:nvPr/>
        </p:nvSpPr>
        <p:spPr>
          <a:xfrm>
            <a:off x="1554480" y="5385816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49578" y="5480914"/>
            <a:ext cx="175565" cy="175565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2057400" y="539496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사용법</a:t>
            </a:r>
            <a:endParaRPr lang="en-US" sz="1300" dirty="0"/>
          </a:p>
        </p:txBody>
      </p:sp>
      <p:sp>
        <p:nvSpPr>
          <p:cNvPr id="34" name="Text 26"/>
          <p:cNvSpPr txBox="1"/>
          <p:nvPr/>
        </p:nvSpPr>
        <p:spPr>
          <a:xfrm>
            <a:off x="2057400" y="5696712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QR을 보여 주면 매장 폰으로 찍거나, 손님 화면에 매장 PIN을 눌러 주면 끝. 이것만 설명하면 됩니다.</a:t>
            </a:r>
            <a:endParaRPr lang="en-US" sz="1050" dirty="0"/>
          </a:p>
        </p:txBody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0173" y="817733"/>
            <a:ext cx="2708039" cy="5176813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8778240" y="5907024"/>
            <a:ext cx="29719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하는 말 네 마디와, 거절 다섯 가지의 답.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4114800" cy="4297680"/>
          </a:xfrm>
          <a:prstGeom prst="roundRect">
            <a:avLst>
              <a:gd name="adj" fmla="val 3111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 대본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4871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열기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1737360" y="24871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"사장님, 배달앱 말고 손님이 가게에 직접 오게 하는 건데요. 미리 내는 돈은 없고 팔린 만큼만 5% 나갑니다."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34015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보여주기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737360" y="34015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메뉴를 이용권으로 올리면 이렇게 보입니다." (오른쪽 화면을 폰으로 보여 준다)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960120" y="43159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정하기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1737360" y="43159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"어떤 메뉴를 몇 % 할인해서 올릴까요? 유효기간은요?" 사장님이 정하게 한다.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52303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끝내기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1737360" y="52303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"사업자등록증만 보여 주시면 지금 10분 안에 올라갑니다. 손님 오면 QR만 찍어 주세요."</a:t>
            </a:r>
            <a:endParaRPr lang="en-US" sz="10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245" y="1752565"/>
            <a:ext cx="2471414" cy="472447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7498080" y="196596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"할인하면 손해 아니에요?"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7498080" y="224028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남는 메뉴만, 사장님이 정한 할인율로만 올립니다. 안 팔리면 0원이고, 팔리면 새 손님입니다.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7498080" y="283464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"배달앱이랑 뭐가 달라요?"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498080" y="310896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배달이 없고 손님이 가게에 옵니다. 수수료는 5%이고, 가게 페이지가 사장님 것으로 남습니다. 병행해도 됩니다.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498080" y="370332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"정산은 언제 들어와요?"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7498080" y="397764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쓴 이용권만 매주 정산돼 매장 계좌로 들어옵니다. 안 쓴 건 손님에게 자동 환불이라 분쟁이 없습니다.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498080" y="457200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"귀찮은 일 있어요?"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7498080" y="484632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QR을 폰으로 찍는 것 하나입니다. 등록, 이용권 관리, 인플루언서 섭외는 제가 합니다.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498080" y="544068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"계약서 써야 해요?"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7498080" y="571500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유어딜과는 가입뿐입니다. 저와의 운영 위임은 권한 한 줄이고, 마음에 안 들면 오늘이라도 사장님이 빼시면 됩니다.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섭외, 계약, 정산이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안에서 끝납니다.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216712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2167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21762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DB에서 고른다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478024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/seller/influencers 에서 플랫폼과 팔로워 구간으로 거릅니다. 매장 동네에서 활동하는 채널을 우선합니다.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85800" y="2916936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5800" y="29718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29809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제안을 접수한다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282696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소개와 조건을 적어 접수하면 유어딜이 발송합니다. 연락처는 대행사에게도 공개되지 않습니다.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85800" y="3721608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85800" y="3776472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776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37856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딜을 맺는다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188720" y="4087368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/seller/influencer-deals 에서 커미션 %를 제안합니다. 매장이 정한 값이고 매장 부담입니다. 콘텐츠 게시 확인 뒤 발효되는 조건부도 됩니다.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85800" y="4526280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85800" y="4581144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45811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45902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귀속은 자동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1188720" y="489204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수락 즉시 전용 링크가 나오고 그 링크로 들어온 주문이 자동 연결됩니다. 쿠폰 코드를 확인할 일이 없습니다.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85800" y="5330952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85800" y="5385816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5385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1188720" y="5394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지급도 자동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1188720" y="5696712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 가능 기간 7일이 지나면 확정되고, 원천징수를 계산해 유어딜이 지급합니다. 대행사가 돈을 옮기지 않습니다.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876288" y="1069848"/>
            <a:ext cx="4702759" cy="2168186"/>
          </a:xfrm>
          <a:prstGeom prst="roundRect">
            <a:avLst>
              <a:gd name="adj" fmla="val 590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143000"/>
            <a:ext cx="4556455" cy="2021882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6949440" y="3329474"/>
            <a:ext cx="4556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풀 (실제 화면, 연락처는 가렸습니다)</a:t>
            </a:r>
            <a:endParaRPr lang="en-US" sz="950" dirty="0"/>
          </a:p>
        </p:txBody>
      </p:sp>
      <p:sp>
        <p:nvSpPr>
          <p:cNvPr id="33" name="Text 29"/>
          <p:cNvSpPr txBox="1"/>
          <p:nvPr/>
        </p:nvSpPr>
        <p:spPr>
          <a:xfrm>
            <a:off x="6949440" y="3731810"/>
            <a:ext cx="4556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DB (2026-09-13 실측)</a:t>
            </a:r>
            <a:endParaRPr lang="en-US" sz="1000" dirty="0"/>
          </a:p>
        </p:txBody>
      </p:sp>
      <p:sp>
        <p:nvSpPr>
          <p:cNvPr id="34" name="Text 30"/>
          <p:cNvSpPr txBox="1"/>
          <p:nvPr/>
        </p:nvSpPr>
        <p:spPr>
          <a:xfrm>
            <a:off x="6949440" y="4006130"/>
            <a:ext cx="29161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</a:t>
            </a:r>
            <a:endParaRPr lang="en-US" sz="1150" dirty="0"/>
          </a:p>
        </p:txBody>
      </p:sp>
      <p:sp>
        <p:nvSpPr>
          <p:cNvPr id="35" name="Text 31"/>
          <p:cNvSpPr txBox="1"/>
          <p:nvPr/>
        </p:nvSpPr>
        <p:spPr>
          <a:xfrm>
            <a:off x="9455490" y="4006130"/>
            <a:ext cx="20504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201,471명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6949440" y="4335314"/>
            <a:ext cx="29161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연락 가능</a:t>
            </a:r>
            <a:endParaRPr lang="en-US" sz="1150" dirty="0"/>
          </a:p>
        </p:txBody>
      </p:sp>
      <p:sp>
        <p:nvSpPr>
          <p:cNvPr id="37" name="Text 33"/>
          <p:cNvSpPr txBox="1"/>
          <p:nvPr/>
        </p:nvSpPr>
        <p:spPr>
          <a:xfrm>
            <a:off x="9455490" y="4335314"/>
            <a:ext cx="20504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46,220명</a:t>
            </a:r>
            <a:endParaRPr lang="en-US" sz="1200" dirty="0"/>
          </a:p>
        </p:txBody>
      </p:sp>
      <p:sp>
        <p:nvSpPr>
          <p:cNvPr id="38" name="Shape 34"/>
          <p:cNvSpPr/>
          <p:nvPr/>
        </p:nvSpPr>
        <p:spPr>
          <a:xfrm>
            <a:off x="6949440" y="4637066"/>
            <a:ext cx="455645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6949440" y="4664498"/>
            <a:ext cx="29161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블로그</a:t>
            </a:r>
            <a:endParaRPr lang="en-US" sz="1150" dirty="0"/>
          </a:p>
        </p:txBody>
      </p:sp>
      <p:sp>
        <p:nvSpPr>
          <p:cNvPr id="40" name="Text 36"/>
          <p:cNvSpPr txBox="1"/>
          <p:nvPr/>
        </p:nvSpPr>
        <p:spPr>
          <a:xfrm>
            <a:off x="9455490" y="4664498"/>
            <a:ext cx="20504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172,755명</a:t>
            </a:r>
            <a:endParaRPr lang="en-US" sz="1200" dirty="0"/>
          </a:p>
        </p:txBody>
      </p:sp>
      <p:sp>
        <p:nvSpPr>
          <p:cNvPr id="41" name="Text 37"/>
          <p:cNvSpPr txBox="1"/>
          <p:nvPr/>
        </p:nvSpPr>
        <p:spPr>
          <a:xfrm>
            <a:off x="6949440" y="4993682"/>
            <a:ext cx="29161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유튜브</a:t>
            </a:r>
            <a:endParaRPr lang="en-US" sz="1150" dirty="0"/>
          </a:p>
        </p:txBody>
      </p:sp>
      <p:sp>
        <p:nvSpPr>
          <p:cNvPr id="42" name="Text 38"/>
          <p:cNvSpPr txBox="1"/>
          <p:nvPr/>
        </p:nvSpPr>
        <p:spPr>
          <a:xfrm>
            <a:off x="9455490" y="4993682"/>
            <a:ext cx="20504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18,170명</a:t>
            </a:r>
            <a:endParaRPr lang="en-US" sz="1200" dirty="0"/>
          </a:p>
        </p:txBody>
      </p:sp>
      <p:sp>
        <p:nvSpPr>
          <p:cNvPr id="43" name="Text 39"/>
          <p:cNvSpPr txBox="1"/>
          <p:nvPr/>
        </p:nvSpPr>
        <p:spPr>
          <a:xfrm>
            <a:off x="6949440" y="5322866"/>
            <a:ext cx="29161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카페</a:t>
            </a:r>
            <a:endParaRPr lang="en-US" sz="1150" dirty="0"/>
          </a:p>
        </p:txBody>
      </p:sp>
      <p:sp>
        <p:nvSpPr>
          <p:cNvPr id="44" name="Text 40"/>
          <p:cNvSpPr txBox="1"/>
          <p:nvPr/>
        </p:nvSpPr>
        <p:spPr>
          <a:xfrm>
            <a:off x="9455490" y="5322866"/>
            <a:ext cx="20504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9,939명</a:t>
            </a:r>
            <a:endParaRPr lang="en-US" sz="1200" dirty="0"/>
          </a:p>
        </p:txBody>
      </p:sp>
      <p:sp>
        <p:nvSpPr>
          <p:cNvPr id="45" name="Text 41"/>
          <p:cNvSpPr txBox="1"/>
          <p:nvPr/>
        </p:nvSpPr>
        <p:spPr>
          <a:xfrm>
            <a:off x="6949440" y="5697770"/>
            <a:ext cx="4556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인스타그램과 틱톡은 필터에 있으나 DB의 대부분은 네이버 블로그와 유튜브입니다.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한 명의 일주일.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쓰는 화면은 여섯 장뿐입니다.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176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월·화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21671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방문 4곳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45973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체크리스트로 고른 매장을 방문해 등록합니다. 하루 2곳이면 충분합니다.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85800" y="2898648"/>
            <a:ext cx="48463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296265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463040" y="295351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손보기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2461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 교체, 마감 수량, 할인율 조정. 잘 팔리는 메뉴는 수량을 늘립니다.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85800" y="3685032"/>
            <a:ext cx="48463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37490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373989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제안 5건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463040" y="403250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DB에서 매장 동네 채널을 골라 제안을 접수하고, 들어온 신청에 답합니다.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85800" y="4471416"/>
            <a:ext cx="48463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53542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463040" y="4526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보고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463040" y="481888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요약의 매장별 매출과 주문을 사장님께 보내고, 계약대로 청구합니다.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685800" y="534924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쓰는 화면 여섯 장 (전부 셀러 대시보드, 별도 프로그램 없음)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56235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1737360" y="56327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/seller/stores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56235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권한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4251960" y="56327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/seller/operators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58521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탐색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737360" y="58613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/seller/influencers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3200400" y="58521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협업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4251960" y="58613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/seller/influencer-deals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685800" y="60807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내역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1737360" y="60899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/seller/promo-spend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3200400" y="60807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4251960" y="60899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/seller/operating</a:t>
            </a:r>
            <a:endParaRPr lang="en-US" sz="850" dirty="0"/>
          </a:p>
        </p:txBody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4106" y="1644917"/>
            <a:ext cx="2129623" cy="407108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5452229" y="5678424"/>
            <a:ext cx="24933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</a:t>
            </a:r>
            <a:endParaRPr lang="en-US" sz="1050" dirty="0"/>
          </a:p>
        </p:txBody>
      </p:sp>
      <p:pic>
        <p:nvPicPr>
          <p:cNvPr id="3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7131" y="1644917"/>
            <a:ext cx="2129623" cy="4071086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7415254" y="5678424"/>
            <a:ext cx="24933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</a:t>
            </a:r>
            <a:endParaRPr lang="en-US" sz="1050" dirty="0"/>
          </a:p>
        </p:txBody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0155" y="1644917"/>
            <a:ext cx="2129623" cy="4071086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9378279" y="5678424"/>
            <a:ext cx="24933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 관리</a:t>
            </a:r>
            <a:endParaRPr lang="en-US" sz="1050" dirty="0"/>
          </a:p>
        </p:txBody>
      </p:sp>
      <p:sp>
        <p:nvSpPr>
          <p:cNvPr id="40" name="Text 34"/>
          <p:cNvSpPr txBox="1"/>
          <p:nvPr/>
        </p:nvSpPr>
        <p:spPr>
          <a:xfrm>
            <a:off x="5817989" y="5989320"/>
            <a:ext cx="56879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데이터로 렌더한 실제 화면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사장님을 설득할 재료는 계약서가 아니라 시스템입니다.</a:t>
            </a:r>
            <a:endParaRPr lang="en-US" sz="25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78308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영업에서 가장 어려운 질문은 "왜 남에게 우리 가게 계정을 맡기느냐"입니다. 운영자(귀사)가 무엇을 할 수 있고 무엇이 막혀 있는지 화면으로 보여 드리면 됩니다.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56032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운영자(귀사)가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3931920" y="25603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내용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85800" y="2834640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290779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등록과 가격 설정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154680" y="2971800"/>
            <a:ext cx="640080" cy="164592"/>
          </a:xfrm>
          <a:prstGeom prst="roundRect">
            <a:avLst>
              <a:gd name="adj" fmla="val 66667"/>
            </a:avLst>
          </a:prstGeom>
          <a:solidFill>
            <a:srgbClr val="DDF3E6"/>
          </a:solidFill>
          <a:ln w="12700">
            <a:solidFill>
              <a:srgbClr val="DDF3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154680" y="297180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7A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2907792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대신 이용권을 만들고 운영합니다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85800" y="3227832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25526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주문과 예약 관리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3154680" y="3319272"/>
            <a:ext cx="640080" cy="164592"/>
          </a:xfrm>
          <a:prstGeom prst="roundRect">
            <a:avLst>
              <a:gd name="adj" fmla="val 66667"/>
            </a:avLst>
          </a:prstGeom>
          <a:solidFill>
            <a:srgbClr val="DDF3E6"/>
          </a:solidFill>
          <a:ln w="12700">
            <a:solidFill>
              <a:srgbClr val="DDF3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154680" y="331927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7A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3931920" y="325526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일상 운영 전부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85800" y="3575304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60273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파트너에게 제안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154680" y="3666744"/>
            <a:ext cx="640080" cy="164592"/>
          </a:xfrm>
          <a:prstGeom prst="roundRect">
            <a:avLst>
              <a:gd name="adj" fmla="val 66667"/>
            </a:avLst>
          </a:prstGeom>
          <a:solidFill>
            <a:srgbClr val="DDF3E6"/>
          </a:solidFill>
          <a:ln w="12700">
            <a:solidFill>
              <a:srgbClr val="DDF3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154680" y="3666744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7A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3931920" y="3602736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DB 검색과 딜 제안까지 매장 대신 합니다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85800" y="3922776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39502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정산계좌 등록과 변경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3154680" y="4014216"/>
            <a:ext cx="640080" cy="164592"/>
          </a:xfrm>
          <a:prstGeom prst="roundRect">
            <a:avLst>
              <a:gd name="adj" fmla="val 66667"/>
            </a:avLst>
          </a:prstGeom>
          <a:solidFill>
            <a:srgbClr val="FCE4E4"/>
          </a:solidFill>
          <a:ln w="12700">
            <a:solidFill>
              <a:srgbClr val="FCE4E4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154680" y="4014216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4232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3931920" y="3950208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주인만. 사장님이 소유자가 되기 전엔 계좌가 비어 정산이 나가지 않습니다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685800" y="4270248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42976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사업자정보 열람과 수정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3154680" y="4361688"/>
            <a:ext cx="640080" cy="164592"/>
          </a:xfrm>
          <a:prstGeom prst="roundRect">
            <a:avLst>
              <a:gd name="adj" fmla="val 66667"/>
            </a:avLst>
          </a:prstGeom>
          <a:solidFill>
            <a:srgbClr val="FCE4E4"/>
          </a:solidFill>
          <a:ln w="12700">
            <a:solidFill>
              <a:srgbClr val="FCE4E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154680" y="436168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4232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3931920" y="429768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등록번호 끝 4자리, 대표자명 첫 글자만. 주소와 연락처는 안 보입니다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685800" y="4617720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85800" y="46451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탈퇴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3154680" y="4709160"/>
            <a:ext cx="640080" cy="164592"/>
          </a:xfrm>
          <a:prstGeom prst="roundRect">
            <a:avLst>
              <a:gd name="adj" fmla="val 66667"/>
            </a:avLst>
          </a:prstGeom>
          <a:solidFill>
            <a:srgbClr val="FCE4E4"/>
          </a:solidFill>
          <a:ln w="12700">
            <a:solidFill>
              <a:srgbClr val="FCE4E4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154680" y="470916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4232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3931920" y="4645152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주인만 할 수 있습니다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685800" y="4965192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85800" y="499262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권한 회수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3154680" y="5056632"/>
            <a:ext cx="640080" cy="164592"/>
          </a:xfrm>
          <a:prstGeom prst="roundRect">
            <a:avLst>
              <a:gd name="adj" fmla="val 66667"/>
            </a:avLst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154680" y="505663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주인만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3931920" y="499262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주인이 언제든. 올려 둔 이용권, 주문, 리뷰는 매장에 남습니다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685800" y="5312664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85800" y="5413248"/>
            <a:ext cx="7955280" cy="804672"/>
          </a:xfrm>
          <a:prstGeom prst="roundRect">
            <a:avLst>
              <a:gd name="adj" fmla="val 1590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60120" y="5413248"/>
            <a:ext cx="7406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즉 매장의 돈이 다른 곳으로 갈 수 있는 경로가 시스템에 없습니다. 사장님께 "제가 통장을 못 건드립니다"라고 말씀하시고 화면으로 보여 주시면 됩니다. 이 문장 하나가 계약서 열 장보다 잘 통합니다.</a:t>
            </a:r>
            <a:endParaRPr lang="en-US" sz="1050" dirty="0"/>
          </a:p>
        </p:txBody>
      </p:sp>
      <p:pic>
        <p:nvPicPr>
          <p:cNvPr id="4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5893" y="817733"/>
            <a:ext cx="2708039" cy="5176813"/>
          </a:xfrm>
          <a:prstGeom prst="rect">
            <a:avLst/>
          </a:prstGeom>
        </p:spPr>
      </p:pic>
      <p:sp>
        <p:nvSpPr>
          <p:cNvPr id="48" name="Text 44"/>
          <p:cNvSpPr txBox="1"/>
          <p:nvPr/>
        </p:nvSpPr>
        <p:spPr>
          <a:xfrm>
            <a:off x="8823960" y="5907024"/>
            <a:ext cx="29719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 관리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대행사에게 붙여 드리는 것 여섯 가지.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166762"/>
            <a:ext cx="201900" cy="2019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5800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매장 세 곳은 같이 갑니다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등록 세 건은 유어딜 담당자가 현장이나 통화로 동행합니다. 한 번 같이 하면 그다음은 혼자 됩니다.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685800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414418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3781" y="2166762"/>
            <a:ext cx="201900" cy="201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414418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사장님용 소개서 (PDF 9장)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414418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수수료, 정산, QR 사용법, 자주 묻는 질문까지 담긴 사장님용 소개서를 드립니다. 대행사 이름을 넣어 드립니다.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414418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143037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2399" y="216676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143037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DB와 발송 대행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143037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20만 명 DB 탐색과 제안 발송을 유어딜이 합니다. 연락처를 모으거나 DM을 돌릴 필요가 없습니다.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8143037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85800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162" y="4224162"/>
            <a:ext cx="201900" cy="2019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5800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결제, 정산, 환불, 세금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685800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토스 결제, 주간 정산, 미사용 환불, 원천징수를 유어딜이 처리합니다. 손님 CS도 유어딜로 옵니다.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4414418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3781" y="4224162"/>
            <a:ext cx="201900" cy="20190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414418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유입</a:t>
            </a:r>
            <a:endParaRPr lang="en-US" sz="1400" dirty="0"/>
          </a:p>
        </p:txBody>
      </p:sp>
      <p:sp>
        <p:nvSpPr>
          <p:cNvPr id="28" name="Text 20"/>
          <p:cNvSpPr txBox="1"/>
          <p:nvPr/>
        </p:nvSpPr>
        <p:spPr>
          <a:xfrm>
            <a:off x="4414418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 지도에 동네 기준으로 노출되고, 매장 페이지는 카톡 미리보기 카드와 네이버, 구글 검색에 잡힙니다. 6개 언어를 지원합니다.</a:t>
            </a:r>
            <a:endParaRPr lang="en-US" sz="1100" dirty="0"/>
          </a:p>
        </p:txBody>
      </p:sp>
      <p:sp>
        <p:nvSpPr>
          <p:cNvPr id="29" name="Shape 21"/>
          <p:cNvSpPr/>
          <p:nvPr/>
        </p:nvSpPr>
        <p:spPr>
          <a:xfrm>
            <a:off x="8143037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2399" y="4224162"/>
            <a:ext cx="201900" cy="20190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143037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주간 실적 공유</a:t>
            </a:r>
            <a:endParaRPr lang="en-US" sz="1400" dirty="0"/>
          </a:p>
        </p:txBody>
      </p:sp>
      <p:sp>
        <p:nvSpPr>
          <p:cNvPr id="32" name="Text 23"/>
          <p:cNvSpPr txBox="1"/>
          <p:nvPr/>
        </p:nvSpPr>
        <p:spPr>
          <a:xfrm>
            <a:off x="8143037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파일럿 기간에는 매주 매장별 판매와 사용 숫자를 유어딜이 먼저 보내 드립니다. 매장 보고서에 그대로 쓰시면 됩니다.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가지는 미리 말씀드립니다.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7830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대행을 맡기 전에 아셔야 하는 경계입니다. 감추지 않겠습니다.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377440"/>
            <a:ext cx="77724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005840" y="256032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운영자별 매출 귀속은 추적하지 않습니다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880360"/>
            <a:ext cx="7132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화면의 숫자는 그 매장의 총액이고, 화면 자체가 그 사실을 문장으로 밝힙니다. "제가 만든 매출입니다"라고 쓸 수 있는 숫자는 드리지 않습니다. 방어 가능한 근거는 운영 시작 이후 구간뿐이고, 확정된 주문만 셉니다. 매장과 보수를 정하실 때 이 기준으로 정하시면 나중에 다툴 일이 없습니다.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85800" y="4160520"/>
            <a:ext cx="7772400" cy="1325880"/>
          </a:xfrm>
          <a:prstGeom prst="roundRect">
            <a:avLst>
              <a:gd name="adj" fmla="val 9655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05840" y="431596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 구조와 권한 설계는 코드로 확정되어 라이브에 있습니다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1005840" y="461772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5%와 95%의 경계, 정산계좌 차단, 운영 요약 화면은 만들겠다는 약속이 아니라 지금 작동하는 기능입니다. 바뀔 수 있는 것은 요율 수치이고, 어드민 조정값이라 파트너와 합의 없이 움직이지 않습니다.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85800" y="5705856"/>
            <a:ext cx="0" cy="457200"/>
          </a:xfrm>
          <a:prstGeom prst="line">
            <a:avLst/>
          </a:prstGeom>
          <a:noFill/>
          <a:ln w="25400">
            <a:solidFill>
              <a:srgbClr val="1C69E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4400" y="5669280"/>
            <a:ext cx="7543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i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"중개사가 5% 내에서 가져가는 게 아니라, 나머지 95%에서 매장이랑 거래를 하는 거지. 5%는 중개사일 때 유어딜의 수수료인 거고."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5989320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대표, 2026년 9월 4일 확정</a:t>
            </a:r>
            <a:endParaRPr lang="en-US" sz="9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5893" y="817733"/>
            <a:ext cx="2708039" cy="5176813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8823960" y="5907024"/>
            <a:ext cx="29719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요약. 화면이 그 경계를 직접 말합니다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한두 곳, 그다음 8주에 열 곳. 구조가 맞는지 판정이 납니다.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3657600" cy="4251960"/>
          </a:xfrm>
          <a:prstGeom prst="roundRect">
            <a:avLst>
              <a:gd name="adj" fmla="val 3500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 목표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514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10곳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263347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 매장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335584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30개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2286000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중 이용권 (매장당 3개)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" y="419709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2286000" y="43159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제안 접수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503834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1회</a:t>
            </a:r>
            <a:endParaRPr lang="en-US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2286000" y="515721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매장별 실적 보고와 청구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6235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한두 곳으로 시작해 한 달 정산이 실제로 도는 것을 보신 뒤 규모를 정하시길 권합니다. 숫자는 제안이고, 담당자 한 명 주 2일 기준입니다.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4663440" y="2103120"/>
            <a:ext cx="3261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대행사가 준비할 것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663440" y="2514600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663440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5120640" y="2496312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1명과 카카오 계정 (셀러 계정은 사업자 인증으로 10분)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663440" y="34107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663440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5120640" y="3392424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매장 리스트 10~20곳 (7장 체크리스트 기준)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663440" y="4306824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663440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120640" y="4288536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매장과 맺을 보수 조건 초안 (매출 % 또는 월 정액. 유어딜은 관여하지 않습니다)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663440" y="5202936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663440" y="5202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5120640" y="5184648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방문 일정 2주치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8244688" y="2103120"/>
            <a:ext cx="3261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준비할 것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8244688" y="25146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44688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8701888" y="2496312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3매장 등록 동행 (현장 또는 통화)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8244688" y="3410712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44688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8701888" y="3392424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이름이 들어간 사장님용 안내 한 장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44688" y="4306824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44688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8701888" y="4288536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제안 발송, 결제, 정산, 환불, CS 전부</a:t>
            </a:r>
            <a:endParaRPr lang="en-US" sz="1150" dirty="0"/>
          </a:p>
        </p:txBody>
      </p:sp>
      <p:sp>
        <p:nvSpPr>
          <p:cNvPr id="40" name="Shape 37"/>
          <p:cNvSpPr/>
          <p:nvPr/>
        </p:nvSpPr>
        <p:spPr>
          <a:xfrm>
            <a:off x="8244688" y="5202936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244688" y="5202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42" name="Text 39"/>
          <p:cNvSpPr txBox="1"/>
          <p:nvPr/>
        </p:nvSpPr>
        <p:spPr>
          <a:xfrm>
            <a:off x="8701888" y="5184648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매장별 판매와 사용 숫자 공유. 8주 뒤 함께 판정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쪽은 화면 네 장이면 끝납니다. 그래서 매장이 올리면 팔립니다.</a:t>
            </a:r>
            <a:endParaRPr lang="en-US" sz="25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396" y="1811589"/>
            <a:ext cx="1787832" cy="341770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85800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홈에서 내 동네 기준으로 이용권이 뜹니다. 카톡 카드와 네이버, 구글 검색에도 잡힙니다.</a:t>
            </a:r>
            <a:endParaRPr lang="en-US" sz="10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9420" y="1811589"/>
            <a:ext cx="1787832" cy="341770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390824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90824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정가와 할인가를 함께 보고 토스로 결제합니다. 앱 설치나 가입 강요 구간이 없습니다.</a:t>
            </a:r>
            <a:endParaRPr lang="en-US" sz="10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4444" y="1811589"/>
            <a:ext cx="1787832" cy="3417702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095848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</a:t>
            </a:r>
            <a:endParaRPr lang="en-US" sz="1400" dirty="0"/>
          </a:p>
        </p:txBody>
      </p:sp>
      <p:sp>
        <p:nvSpPr>
          <p:cNvPr id="14" name="Text 8"/>
          <p:cNvSpPr txBox="1"/>
          <p:nvPr/>
        </p:nvSpPr>
        <p:spPr>
          <a:xfrm>
            <a:off x="6095848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매장에서 QR을 보여 주거나 매장 PIN을 입력합니다. 매장은 폰 한 대로 확인합니다.</a:t>
            </a:r>
            <a:endParaRPr lang="en-US" sz="10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59468" y="1811589"/>
            <a:ext cx="1787832" cy="3417702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800871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다시 찾기</a:t>
            </a:r>
            <a:endParaRPr lang="en-US" sz="1400" dirty="0"/>
          </a:p>
        </p:txBody>
      </p:sp>
      <p:sp>
        <p:nvSpPr>
          <p:cNvPr id="17" name="Text 10"/>
          <p:cNvSpPr txBox="1"/>
          <p:nvPr/>
        </p:nvSpPr>
        <p:spPr>
          <a:xfrm>
            <a:off x="8800871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페이지(유어샵)가 남습니다. 안 쓴 이용권은 100% 자동 환불이라 응대가 매장이나 대행사로 오지 않습니다.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질문과, 시작하는 방법.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9659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수수료가 두 번 나가나요?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26771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아닙니다. 유어딜이 떼는 것은 중개 매장 5% 하나뿐입니다. 귀사 보수는 매장이 귀사에게 직접 지급하고(세금계산서도 귀사와 매장 사이), 유어딜 정산서에 나오지 않습니다.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017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직접 계정을 만들면 우리 관계는요?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31927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계정 양도가 아니라 권한 변경입니다. 상품, 주문, 리뷰, 정산 이력은 매장에 그대로 남고, 귀사는 운영자로 계속 일할 수 있습니다.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40690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대행사가 유어딜에 내는 돈이 있나요?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37083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없습니다. 가입비, 월 이용료, 매장당 등록비 전부 없습니다. 매장에서 팔린 만큼만 유어딜 수수료가 나갑니다.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5120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정산은 언제 되나요?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542239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실제로 사용한 이용권만 주간 정산으로 매장 계좌에 들어옵니다. 안 쓴 이용권은 손님에게 자동 환불됩니다.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309360" y="1828800"/>
            <a:ext cx="5196535" cy="4160520"/>
          </a:xfrm>
          <a:prstGeom prst="roundRect">
            <a:avLst>
              <a:gd name="adj" fmla="val 307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629400" y="202996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시작하는 방법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629400" y="2377440"/>
            <a:ext cx="310896" cy="310896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629400" y="2377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086600" y="2377440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셀러 계정을 만드십시오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7086600" y="2660904"/>
            <a:ext cx="40992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별도의 대행사 가입 절차가 없습니다. 귀사도 매장과 같은 셀러 대시보드를 씁니다.</a:t>
            </a:r>
            <a:endParaRPr lang="en-US" sz="980" dirty="0"/>
          </a:p>
        </p:txBody>
      </p:sp>
      <p:sp>
        <p:nvSpPr>
          <p:cNvPr id="20" name="Shape 17"/>
          <p:cNvSpPr/>
          <p:nvPr/>
        </p:nvSpPr>
        <p:spPr>
          <a:xfrm>
            <a:off x="6629400" y="3282696"/>
            <a:ext cx="310896" cy="310896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629400" y="3282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3282696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중개로 등록하고, 운영비는 매장과 합의하십시오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7086600" y="3566160"/>
            <a:ext cx="40992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"누가 운영하나요"에서 중개를 고르면 5%. 귀사 보수는 95% 안에서 매장과 정하고, 매장이 귀사에게 직접 지급합니다.</a:t>
            </a:r>
            <a:endParaRPr lang="en-US" sz="980" dirty="0"/>
          </a:p>
        </p:txBody>
      </p:sp>
      <p:sp>
        <p:nvSpPr>
          <p:cNvPr id="24" name="Shape 21"/>
          <p:cNvSpPr/>
          <p:nvPr/>
        </p:nvSpPr>
        <p:spPr>
          <a:xfrm>
            <a:off x="6629400" y="4187952"/>
            <a:ext cx="310896" cy="310896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629400" y="4187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7086600" y="4187952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사장님을 소유자로 세우십시오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7086600" y="4471416"/>
            <a:ext cx="40992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본인 카카오로 urdeal.kr/store/find 에서 등록증을 올리면 유어딜이 확인해 소유자로 지정합니다. 그 전엔 정산 계좌가 없어 정산이 나가지 않습니다.</a:t>
            </a:r>
            <a:endParaRPr lang="en-US" sz="980" dirty="0"/>
          </a:p>
        </p:txBody>
      </p:sp>
      <p:sp>
        <p:nvSpPr>
          <p:cNvPr id="28" name="Shape 25"/>
          <p:cNvSpPr/>
          <p:nvPr/>
        </p:nvSpPr>
        <p:spPr>
          <a:xfrm>
            <a:off x="6629400" y="5084064"/>
            <a:ext cx="4556455" cy="0"/>
          </a:xfrm>
          <a:prstGeom prst="line">
            <a:avLst/>
          </a:prstGeom>
          <a:noFill/>
          <a:ln w="9525">
            <a:solidFill>
              <a:srgbClr val="3A3D44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29400" y="5120640"/>
            <a:ext cx="4556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매장 몇 곳의 이름과 동네만 보내 주세요. 하루 안에 확인해 첫 방문 일정을 잡습니다.</a:t>
            </a:r>
            <a:endParaRPr lang="en-US" sz="950" dirty="0"/>
          </a:p>
        </p:txBody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5431536"/>
            <a:ext cx="146304" cy="146304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6876288" y="5376672"/>
            <a:ext cx="42821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jiwon@ur-team.com</a:t>
            </a:r>
            <a:endParaRPr lang="en-US" sz="1100" dirty="0"/>
          </a:p>
        </p:txBody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5614416"/>
            <a:ext cx="146304" cy="146304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6876288" y="5559552"/>
            <a:ext cx="42821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</a:t>
            </a:r>
            <a:endParaRPr lang="en-US" sz="1100" dirty="0"/>
          </a:p>
        </p:txBody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5797296"/>
            <a:ext cx="146304" cy="146304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6876288" y="5742432"/>
            <a:ext cx="42821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리스터코퍼레이션, 사업자등록번호 479-09-02930</a:t>
            </a:r>
            <a:endParaRPr lang="en-US" sz="900" dirty="0"/>
          </a:p>
        </p:txBody>
      </p:sp>
      <p:sp>
        <p:nvSpPr>
          <p:cNvPr id="36" name="Text 30"/>
          <p:cNvSpPr txBox="1"/>
          <p:nvPr/>
        </p:nvSpPr>
        <p:spPr>
          <a:xfrm>
            <a:off x="685800" y="6053328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문서의 요율(직접 10%, 중개 5%)과 권한 범위는 2026년 9월 13일 라이브 설정값입니다. 요율은 어드민 조정값이고, 평균가와 매장 수는 같은 날 실측입니다.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 title(slide, text, { dark = false, y = 1.15, size = 27, w = W - 2 * M } = {}) {
    T(slide, text, { x: M, y, w, h: 0.9, fontSize: size, bold: true, color: dark ? C.darkText : C.ink, valign: 'top', lineSpacingMultiple: 1.15, charSpacing: -0.6 });
  }</dc:title>
  <dc:subject>PptxGenJS Presentation</dc:subject>
  <dc:creator>리스터코퍼레이션</dc:creator>
  <cp:lastModifiedBy>리스터코퍼레이션</cp:lastModifiedBy>
  <cp:revision>1</cp:revision>
  <dcterms:created xsi:type="dcterms:W3CDTF">2026-09-14T06:28:26Z</dcterms:created>
  <dcterms:modified xsi:type="dcterms:W3CDTF">2026-09-14T06:28:26Z</dcterms:modified>
</cp:coreProperties>
</file>