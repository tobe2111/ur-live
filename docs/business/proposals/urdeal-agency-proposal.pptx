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5% / 95% / 0원. 5%: 2026-09-04 확정. 귀사 몫 직접 송금: 2026-09-16 결재 + 09-19 플로우(코드 미착수). 오른쪽은 urdeal.kr 홈(모바일)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요약. 사업계획서 C-2 + store-operator-model §7.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평균가는 2026-09-07 공개 API 실측(meal 242건 avg 32,339 / stay 51건 avg 155,824). 캡처는 scripts/capture-proposal-shots.mjs (detail/use).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5%: 2026-09-04 대표 확정. 귀사 몫·소개비 직접 송금: 2026-09-16 결재(broker-payout-model 안 1) + 09-19 플로우(매장 등록 때 두 요율). 🚧 코드 미착수. PG 2.75% 는 commission-budget.ts 실측 상수(플랫폼 부담). 정산은 used 이용권만 주간(auto-settlement.ts).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"플랜별 기능 비교" 장치. 사실: fee-resolver.ts(직접 10 / 중개 5) · store-operator-model §7·§9(운영자 권한·계좌 owner 전용·회수·코드). 영입 2% 행은 09-16 폐지로 삭제. 귀사 몫 송금·코드는 09-19 확정, 코드 미착수.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 32,339 / 155,824 는 2026-09-07 활성 이용권 카탈로그 평균(실거래 평균 아님). 하루 1건은 가정. 귀사 몫 %는 매장 등록 때 귀사가 정한다(09-19) — 유어딜이 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35% 는 가정. 정산 규칙은 auto-settlement.ts. 사용 처리는 매장 QR 스캔 또는 확인 PIN.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사장님 덱 2장(한계 비교표)과 같은 논리. 체험단 = 사장님 덱 표지의 "무료 식사를 내드리고 후기를 받는" 구조.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"콘텐츠 기반 바이럴 루프" 장치. 노드 전부 현행 기능(seller-stores · 상품 · seller-influencers · auto-settlement · SellerOperatingSummaryPage). 4.8배는 09-13 카탈로그 평균가 실측. 구조 설명이지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 필수 필드는 seller-stores.routes.ts. 오른쪽은 /u/jiwon1228 라이브 캡처(대표 계정).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"이런 브랜드에게 추천합니다" 장치. 사실: 운영 매장 요약(SellerOperatingSummaryPage) · 귀사 몫 직접 송금(09-16 결재, 코드 미착수) · 코드 링크 매칭(09-19) · store-operator-model §7·§9(계좌 owner 전용).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시간은 현장 추정. 필드는 seller-stores.routes.ts 실재(채널·국세청·등록증). 🚧 매장 코드·두 요율 입력은 09-19 확정, 코드 미착수. 오른쪽은 /seller/stores 실제 UI 를 예시 데이터로 렌더한 캡처(프로덕션 무접촉).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대본의 사실 주장은 앞 장들과 동일 출처. 가운데는 이용권 상세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"목표별 추천 조합" 장치. 사장님 덱 03-2 와 같은 표(문구만 대행사 시점). 필드: 상품 할인율·수량·유효기간·사용조건 프리셋·influencer-deals 소개비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/api/admin/ads/influencer-pool/stats 2026-09-13 실측. 오른쪽은 /admin/influencer-pool 데스크톱 캡처(capture-admin-shots.mjs — 이메일·IG·TT 블러).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필터·정렬·표 컬럼은 SellerInfluencersPage.tsx 실제 UI(카테고리 select, FOLLOWER_BANDS, sort 5종, 컬럼 프로필·팔로워·게시물·평균 조회·평균 댓글). 연락처 비공개 + 유어딜 발송은 같은 화면 안내 문구.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전용 링크·유어샵: influencer-deals(수락 시 링크 발급). 유어쇼츠: /videos + 이용권 상세 ProductShortsField. 결제 기준 커미션: order-commissions.ts. 채널별 기대는 운영 가이드이지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라우트 6개는 2026-09-07 main 실재. 요일 배분은 권장 루틴. 오른쪽 3장은 실제 UI + 예시 데이터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store-operator-model.md §7.7 (마스킹: 계좌 ****1234 · 등록번호 끝 4자리 · 대표자명 첫 글자 · 주소/연락처 null · 계좌 변경/사업자정보 수정/탈퇴 403). 오른쪽은 /seller/operators 실제 UI 를 예시 데이터로 렌더한 캡처. 인출선 좌표는 seller-operators.jpg 실측(초대 입력 31% · 운영자 행 44% · 회수 버튼 47%/우측 87%).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동행·안내장·주간 실적 공유는 파일럿 제안의 유어딜 측 약속. 나머지 셋은 현행 기능.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09-19 v8: 09-04 인용("95%에서 매장이랑 거래")을 09-16·09-19 결정으로 교체. 귀사 몫은 매장 단위 % — 운영자별 귀속 미추적은 SellerOperatingSummaryPage 헤더 주석 그대로. 🚧 코드·직접 송금은 미착수(문장이 그 사실을 밝힌다). 오른쪽은 /seller/operating 실제 UI + 예시 데이터.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조건은 이 문서의 제안. 귀사 몫 %는 귀사가 정한다(유어딜이 정하지 않음) — 09-19.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4장 전부 2026-09-07 urdeal.kr 모바일 라이브 캡처(home/detail/use/shop). 지갑 화면은 로그인이 필요해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"광고 집행 절차" 장치. 09-19 v8: 세 열을 대표 확정 플로우 11단계로 재배열. 사실: 계좌 owner 전용(store-operator-model §7) · influencer-payout.ts(매월 1일). 🚧 코드·코드 링크·직접 송금은 미착수.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출처: 사업계획서 C-3, 셀러 가이드, auto-settlement.ts, 09-16·09-19 결재. 채널 변경은 POST /api/seller/stores/:id/channel (소유자만) + 어드민. 🚧 코드로 주인 되기는 미착수 — 라이브 입구는 /store/find 와 어드민 지정.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73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</a:t>
            </a:r>
            <a:endParaRPr lang="en-US" sz="1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40280"/>
            <a:ext cx="5120640" cy="140676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4058529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제안서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607169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모으고 대신 운영해 주실 파트너를 찾습니다. 유어딜은 중개 매장에서 5%만 받고, 귀사 몫은 매장을 등록할 때 귀사가 정한 %를 유어딜이 직접 보냅니다.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5989320"/>
            <a:ext cx="1082009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6108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 · urdeal.kr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762695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276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문서의 내용을 무단으로 복제·전재·재배포할 수 없습니다.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417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제안, 2026년 9월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소개해 주시면,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5%만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받습니다.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5204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95%는 매장 몫입니다. 귀사 몫 %와 인플루언서 소개비 %는 매장을 등록할 때 귀사가 정하고, 팔린 만큼 유어딜이 각자에게 직접 보냅니다. 상한은 두지 않습니다.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4315968"/>
            <a:ext cx="6766560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매장의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몫.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몫과 소개비의 재원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입점비, 월정액,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669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미리 결제하고 매장에 찾아오는 이용권을 팝니다. 식당, 뷰티샵, 숙소가 팔고 있습니다. 매장을 모으고 대신 운영해 주실 파트너를 찾습니다.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3771" y="598531"/>
            <a:ext cx="3128705" cy="598097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바쁘실 테니, 한 장으로 먼저 정리했습니다.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2104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파나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미용, 숙박, 액티비티의 이용권. 손님이 온라인에서 할인가로 미리 사고 매장에 와서 QR로 씁니다. 배송도 재고도 없습니다.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85800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8728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090" y="212104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73088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대행사는 무엇을 하나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78728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유어딜에 올리고(10분), 이용권을 만들고(3분), 인플루언서에게 링크를 보내고, 성과를 대시보드에서 봅니다. 돈을 걷거나 나누는 일은 없습니다.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278728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13272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얼마를 내나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팔린 금액의 5%를 유어딜에 냅니다(직접 입점은 10%). 나머지 95% 안에서 귀사 몫 %와 인플루언서 소개비 %가 나가고, 둘 다 매장을 등록할 때 귀사가 정합니다. 송금은 유어딜이 각자에게 직접 합니다. 대행사가 유어딜에 내는 돈은 0입니다.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278728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090" y="413272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873088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무엇을 하나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278728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결제(토스), 이용권 발급, QR 확인 앱, 주간 정산, 원천징수, 환불 응대, 홈 지도 노출과 검색 유입. 인플루언서 DB와 코드 링크 발송까지.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9893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근거와 절차는 다음 장부터 순서대로. 마지막 장에 8주 파일럿 조건이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구조와 돈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이용권이 무엇이고, 손님이 낸 돈이 어디로 가고, 매장 한 곳이 귀사에게 얼마가 되는지. 가정은 전부 표에 적었습니다.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생겼다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돈의 흐름과 직접·경유 비교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1곳의 단위 경제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사장님의 셈법과 비교표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늘수록 도는 바퀴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하나가 곧 상품입니다.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488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실제 화면입니다. 정가와 할인가가 함께 보이고, 토스로 결제하면 이용권이 바로 발급됩니다. 유효기간, 할인율, 마감 수량은 전부 매장이 정하고, 안 쓴 이용권은 100% 자동 환불됩니다.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429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3630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(241개)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5800" y="4178808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2702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155,824원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3383280" y="44714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 평균가. 식사의 4.8배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5800" y="5020056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51114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3383280" y="5312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85800" y="5861304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5989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 13일 urdeal.kr 활성 이용권 337개의 카탈로그 평균가. 실거래 평균이 아니라 가격대 참고치입니다.</a:t>
            </a:r>
            <a:endParaRPr lang="en-US" sz="9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694" y="781094"/>
            <a:ext cx="2602872" cy="497577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5836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</a:t>
            </a:r>
            <a:endParaRPr lang="en-US" sz="105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394" y="781094"/>
            <a:ext cx="2602872" cy="497577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0113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방법과 환불 안내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어디로 갈까요? 유어딜 몫은 5%에서 끝납니다.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구조가 단순해서 흐릴 것이 없습니다. 카드 결제 수수료까지 같은 그림에 적었습니다.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처리</a:t>
            </a:r>
            <a:endParaRPr lang="en-US" sz="10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0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4" name="Text 18"/>
          <p:cNvSpPr txBox="1"/>
          <p:nvPr/>
        </p:nvSpPr>
        <p:spPr>
          <a:xfrm>
            <a:off x="315468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2.75%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301752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결제 수수료.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자기 5%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 정책에 따라 바뀔 수 있습니다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7" name="Text 21"/>
          <p:cNvSpPr txBox="1"/>
          <p:nvPr/>
        </p:nvSpPr>
        <p:spPr>
          <a:xfrm>
            <a:off x="562356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48640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입점은 10%)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8092440" y="3419856"/>
            <a:ext cx="3413455" cy="1481328"/>
          </a:xfrm>
          <a:prstGeom prst="roundRect">
            <a:avLst>
              <a:gd name="adj" fmla="val 864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321040" y="3547872"/>
            <a:ext cx="2956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귀사의 몫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8321040" y="3822192"/>
            <a:ext cx="2956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때 귀사가 정하는 %. 팔린 만큼 유어딜이 귀사 계좌로 직접 보냅니다.</a:t>
            </a:r>
            <a:endParaRPr lang="en-US" sz="950" dirty="0"/>
          </a:p>
        </p:txBody>
      </p:sp>
      <p:sp>
        <p:nvSpPr>
          <p:cNvPr id="33" name="Text 27"/>
          <p:cNvSpPr txBox="1"/>
          <p:nvPr/>
        </p:nvSpPr>
        <p:spPr>
          <a:xfrm>
            <a:off x="8321040" y="4288536"/>
            <a:ext cx="2956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1150" dirty="0"/>
          </a:p>
        </p:txBody>
      </p:sp>
      <p:sp>
        <p:nvSpPr>
          <p:cNvPr id="34" name="Text 28"/>
          <p:cNvSpPr txBox="1"/>
          <p:nvPr/>
        </p:nvSpPr>
        <p:spPr>
          <a:xfrm>
            <a:off x="8321040" y="4535424"/>
            <a:ext cx="2956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때 함께 정하는 %. 귀속과 지급은 유어딜이 자동 처리합니다.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68580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6" name="Text 30"/>
          <p:cNvSpPr txBox="1"/>
          <p:nvPr/>
        </p:nvSpPr>
        <p:spPr>
          <a:xfrm>
            <a:off x="91440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흔한 오해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91440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"직접 입점 10%와 중개 5%의 차액 5%가 대행사 몫이다."</a:t>
            </a:r>
            <a:endParaRPr lang="en-US" sz="950" dirty="0"/>
          </a:p>
        </p:txBody>
      </p:sp>
      <p:sp>
        <p:nvSpPr>
          <p:cNvPr id="38" name="Shape 32"/>
          <p:cNvSpPr/>
          <p:nvPr/>
        </p:nvSpPr>
        <p:spPr>
          <a:xfrm>
            <a:off x="461772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9" name="Text 33"/>
          <p:cNvSpPr txBox="1"/>
          <p:nvPr/>
        </p:nvSpPr>
        <p:spPr>
          <a:xfrm>
            <a:off x="484632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484632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차액은 유어딜이 덜 받는 것입니다. 귀사 몫은 그 95% 안에서 귀사가 등록 때 정한 %이고, 유어딜이 매장 몫에서 떼어 귀사에게 보냅니다. 단가는 유어딜이 정하지 않습니다.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685800" y="5961888"/>
            <a:ext cx="10820095" cy="310896"/>
          </a:xfrm>
          <a:prstGeom prst="roundRect">
            <a:avLst>
              <a:gd name="adj" fmla="val 2941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1005840" y="5961888"/>
            <a:ext cx="10180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정산은 매장, 귀사, 인플루언서 각자의 계좌로 갑니다. 귀사 몫을 매장에 청구할 일이 없습니다.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입점과 대행사 경유, 무엇이 같고 무엇이 다른지 표 한 장으로.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셀러 대시보드, 같은 결제와 정산입니다. 다른 것은 요율 하나와 "누가 운영하나" 뿐입니다.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793992" y="2350008"/>
            <a:ext cx="4690872" cy="3913632"/>
          </a:xfrm>
          <a:prstGeom prst="roundRect">
            <a:avLst>
              <a:gd name="adj" fmla="val 2336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4231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3063240" y="242316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직접 입점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903720" y="2423160"/>
            <a:ext cx="4462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경유 (귀사)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85800" y="269748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2752344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08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2752344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금액의 10%</a:t>
            </a:r>
            <a:endParaRPr lang="en-US" sz="1080" dirty="0"/>
          </a:p>
        </p:txBody>
      </p:sp>
      <p:sp>
        <p:nvSpPr>
          <p:cNvPr id="15" name="Text 12"/>
          <p:cNvSpPr txBox="1"/>
          <p:nvPr/>
        </p:nvSpPr>
        <p:spPr>
          <a:xfrm>
            <a:off x="6903720" y="2752344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금액의 5%. 차액은 유어딜이 덜 받는 것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685800" y="3145536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182112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1080" dirty="0"/>
          </a:p>
        </p:txBody>
      </p:sp>
      <p:sp>
        <p:nvSpPr>
          <p:cNvPr id="18" name="Text 15"/>
          <p:cNvSpPr txBox="1"/>
          <p:nvPr/>
        </p:nvSpPr>
        <p:spPr>
          <a:xfrm>
            <a:off x="3063240" y="3182112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본인 카카오로</a:t>
            </a:r>
            <a:endParaRPr lang="en-US" sz="1080" dirty="0"/>
          </a:p>
        </p:txBody>
      </p:sp>
      <p:sp>
        <p:nvSpPr>
          <p:cNvPr id="19" name="Text 16"/>
          <p:cNvSpPr txBox="1"/>
          <p:nvPr/>
        </p:nvSpPr>
        <p:spPr>
          <a:xfrm>
            <a:off x="6903720" y="3182112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계정으로 (10분). 매장 코드가 생기고 사장님은 그 코드로 가입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85800" y="3575304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611880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운영</a:t>
            </a:r>
            <a:endParaRPr lang="en-US" sz="1080" dirty="0"/>
          </a:p>
        </p:txBody>
      </p:sp>
      <p:sp>
        <p:nvSpPr>
          <p:cNvPr id="22" name="Text 19"/>
          <p:cNvSpPr txBox="1"/>
          <p:nvPr/>
        </p:nvSpPr>
        <p:spPr>
          <a:xfrm>
            <a:off x="3063240" y="3611880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</a:t>
            </a:r>
            <a:endParaRPr lang="en-US" sz="1080" dirty="0"/>
          </a:p>
        </p:txBody>
      </p:sp>
      <p:sp>
        <p:nvSpPr>
          <p:cNvPr id="23" name="Text 20"/>
          <p:cNvSpPr txBox="1"/>
          <p:nvPr/>
        </p:nvSpPr>
        <p:spPr>
          <a:xfrm>
            <a:off x="6903720" y="3611880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귀사가 운영자 권한으로 대신</a:t>
            </a:r>
            <a:endParaRPr lang="en-US" sz="1080" dirty="0"/>
          </a:p>
        </p:txBody>
      </p:sp>
      <p:sp>
        <p:nvSpPr>
          <p:cNvPr id="24" name="Shape 21"/>
          <p:cNvSpPr/>
          <p:nvPr/>
        </p:nvSpPr>
        <p:spPr>
          <a:xfrm>
            <a:off x="685800" y="4005072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041648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섭외</a:t>
            </a:r>
            <a:endParaRPr lang="en-US" sz="1080" dirty="0"/>
          </a:p>
        </p:txBody>
      </p:sp>
      <p:sp>
        <p:nvSpPr>
          <p:cNvPr id="26" name="Text 23"/>
          <p:cNvSpPr txBox="1"/>
          <p:nvPr/>
        </p:nvSpPr>
        <p:spPr>
          <a:xfrm>
            <a:off x="3063240" y="4041648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직접, 또는 유어딜이 대행</a:t>
            </a:r>
            <a:endParaRPr lang="en-US" sz="1080" dirty="0"/>
          </a:p>
        </p:txBody>
      </p:sp>
      <p:sp>
        <p:nvSpPr>
          <p:cNvPr id="27" name="Text 24"/>
          <p:cNvSpPr txBox="1"/>
          <p:nvPr/>
        </p:nvSpPr>
        <p:spPr>
          <a:xfrm>
            <a:off x="6903720" y="4041648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귀사가 DB에서 골라 코드 링크. 탭하면 가입과 매칭</a:t>
            </a:r>
            <a:endParaRPr lang="en-US" sz="1080" dirty="0"/>
          </a:p>
        </p:txBody>
      </p:sp>
      <p:sp>
        <p:nvSpPr>
          <p:cNvPr id="28" name="Shape 25"/>
          <p:cNvSpPr/>
          <p:nvPr/>
        </p:nvSpPr>
        <p:spPr>
          <a:xfrm>
            <a:off x="685800" y="443484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85800" y="4471416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</a:t>
            </a:r>
            <a:endParaRPr lang="en-US" sz="1080" dirty="0"/>
          </a:p>
        </p:txBody>
      </p:sp>
      <p:sp>
        <p:nvSpPr>
          <p:cNvPr id="30" name="Text 27"/>
          <p:cNvSpPr txBox="1"/>
          <p:nvPr/>
        </p:nvSpPr>
        <p:spPr>
          <a:xfrm>
            <a:off x="3063240" y="4471416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사장님만</a:t>
            </a:r>
            <a:endParaRPr lang="en-US" sz="1080" dirty="0"/>
          </a:p>
        </p:txBody>
      </p:sp>
      <p:sp>
        <p:nvSpPr>
          <p:cNvPr id="31" name="Text 28"/>
          <p:cNvSpPr txBox="1"/>
          <p:nvPr/>
        </p:nvSpPr>
        <p:spPr>
          <a:xfrm>
            <a:off x="6903720" y="4471416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사장님만. 소유자 확인 전엔 정산이 나가지 않습니다</a:t>
            </a:r>
            <a:endParaRPr lang="en-US" sz="1080" dirty="0"/>
          </a:p>
        </p:txBody>
      </p:sp>
      <p:sp>
        <p:nvSpPr>
          <p:cNvPr id="32" name="Shape 29"/>
          <p:cNvSpPr/>
          <p:nvPr/>
        </p:nvSpPr>
        <p:spPr>
          <a:xfrm>
            <a:off x="685800" y="4864608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4901184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</a:t>
            </a:r>
            <a:endParaRPr lang="en-US" sz="1080" dirty="0"/>
          </a:p>
        </p:txBody>
      </p:sp>
      <p:sp>
        <p:nvSpPr>
          <p:cNvPr id="34" name="Text 31"/>
          <p:cNvSpPr txBox="1"/>
          <p:nvPr/>
        </p:nvSpPr>
        <p:spPr>
          <a:xfrm>
            <a:off x="3063240" y="4901184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없음</a:t>
            </a:r>
            <a:endParaRPr lang="en-US" sz="1080" dirty="0"/>
          </a:p>
        </p:txBody>
      </p:sp>
      <p:sp>
        <p:nvSpPr>
          <p:cNvPr id="35" name="Text 32"/>
          <p:cNvSpPr txBox="1"/>
          <p:nvPr/>
        </p:nvSpPr>
        <p:spPr>
          <a:xfrm>
            <a:off x="6903720" y="4901184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 안에서 등록 때 정한 %. 상한 없음, 유어딜이 직접 송금</a:t>
            </a:r>
            <a:endParaRPr lang="en-US" sz="1080" dirty="0"/>
          </a:p>
        </p:txBody>
      </p:sp>
      <p:sp>
        <p:nvSpPr>
          <p:cNvPr id="36" name="Shape 33"/>
          <p:cNvSpPr/>
          <p:nvPr/>
        </p:nvSpPr>
        <p:spPr>
          <a:xfrm>
            <a:off x="685800" y="5294376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5800" y="5330952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1080" dirty="0"/>
          </a:p>
        </p:txBody>
      </p:sp>
      <p:sp>
        <p:nvSpPr>
          <p:cNvPr id="38" name="Text 35"/>
          <p:cNvSpPr txBox="1"/>
          <p:nvPr/>
        </p:nvSpPr>
        <p:spPr>
          <a:xfrm>
            <a:off x="3063240" y="5330952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정한 %</a:t>
            </a:r>
            <a:endParaRPr lang="en-US" sz="1080" dirty="0"/>
          </a:p>
        </p:txBody>
      </p:sp>
      <p:sp>
        <p:nvSpPr>
          <p:cNvPr id="39" name="Text 36"/>
          <p:cNvSpPr txBox="1"/>
          <p:nvPr/>
        </p:nvSpPr>
        <p:spPr>
          <a:xfrm>
            <a:off x="6903720" y="5330952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귀사가 매장 등록 때 정한 %. 매장 단위</a:t>
            </a:r>
            <a:endParaRPr lang="en-US" sz="1080" dirty="0"/>
          </a:p>
        </p:txBody>
      </p:sp>
      <p:sp>
        <p:nvSpPr>
          <p:cNvPr id="40" name="Shape 37"/>
          <p:cNvSpPr/>
          <p:nvPr/>
        </p:nvSpPr>
        <p:spPr>
          <a:xfrm>
            <a:off x="685800" y="5724144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5800" y="5760720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회수</a:t>
            </a:r>
            <a:endParaRPr lang="en-US" sz="1080" dirty="0"/>
          </a:p>
        </p:txBody>
      </p:sp>
      <p:sp>
        <p:nvSpPr>
          <p:cNvPr id="42" name="Text 39"/>
          <p:cNvSpPr txBox="1"/>
          <p:nvPr/>
        </p:nvSpPr>
        <p:spPr>
          <a:xfrm>
            <a:off x="3063240" y="5760720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없음</a:t>
            </a:r>
            <a:endParaRPr lang="en-US" sz="1080" dirty="0"/>
          </a:p>
        </p:txBody>
      </p:sp>
      <p:sp>
        <p:nvSpPr>
          <p:cNvPr id="43" name="Text 40"/>
          <p:cNvSpPr txBox="1"/>
          <p:nvPr/>
        </p:nvSpPr>
        <p:spPr>
          <a:xfrm>
            <a:off x="6903720" y="5760720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언제든. 이용권·주문·리뷰는 매장에 남습니다</a:t>
            </a:r>
            <a:endParaRPr lang="en-US" sz="1080" dirty="0"/>
          </a:p>
        </p:txBody>
      </p:sp>
      <p:sp>
        <p:nvSpPr>
          <p:cNvPr id="44" name="Shape 41"/>
          <p:cNvSpPr/>
          <p:nvPr/>
        </p:nvSpPr>
        <p:spPr>
          <a:xfrm>
            <a:off x="685800" y="6153912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5870448"/>
            <a:ext cx="10820095" cy="384048"/>
          </a:xfrm>
          <a:prstGeom prst="roundRect">
            <a:avLst>
              <a:gd name="adj" fmla="val 2381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005840" y="5870448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5%와 10%의 차이는 귀사 몫이 아니라 유어딜이 덜 받는 것.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몫은 95% 안에서 등록 때 정하고, 유어딜이 보냅니다.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귀사에게 얼마가 되는지, 가정까지 함께 적었습니다.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12064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곳, 한 달 (바꿔서 다시 계산하셔도 됩니다)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6888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(라이브 실측)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470148" y="246888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4378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매장당 월 판매 (하루 1건 가정)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470148" y="284378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321868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월 거래액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470148" y="321868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972,330원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05840" y="3566160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3593592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470148" y="3593592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48,617원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968496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470148" y="3968496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923,714원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05840" y="4315968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" y="434340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인플루언서 소개비 (등록 때 정한 10% 가정)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3470148" y="434340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97,233원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05840" y="471830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귀사 몫 (3% 예시)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3470148" y="471830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29,170원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005840" y="509320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매장 순수취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3470148" y="509320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797,311원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55595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3%는 계산을 보여 드리려고 넣은 값입니다. 매장을 등록할 때 귀사가 정하고, 매장마다 다르게 해도 됩니다. 유어딜이 매장 몫에서 떼어 보냅니다.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6080760" y="2011680"/>
            <a:ext cx="54251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수를 늘리면 (같은 가정)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0807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9951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거래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790956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거래액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923544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10561320" y="228600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3% 가정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6080760" y="256032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807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69951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300건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790956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972만원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23544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924만원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561320" y="2615184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29만원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6080760" y="2999232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0807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30곳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9951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900건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90956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2,917만원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923544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2,771만원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10561320" y="3035808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88만원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6080760" y="3419856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989320" y="3419856"/>
            <a:ext cx="5608015" cy="420624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0807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100곳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69951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3,000건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790956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9,723만원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923544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9,237만원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10561320" y="3456432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292만원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6080760" y="384048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0807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300곳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9,000건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790956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9,170만원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923544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7,711만원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10561320" y="3877056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875만원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6080760" y="4261104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6080760" y="4617720"/>
            <a:ext cx="5425135" cy="1600200"/>
          </a:xfrm>
          <a:prstGeom prst="roundRect">
            <a:avLst>
              <a:gd name="adj" fmla="val 8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355080" y="477316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객단가가 가장 큰 변수입니다</a:t>
            </a:r>
            <a:endParaRPr lang="en-US" sz="1250" dirty="0"/>
          </a:p>
        </p:txBody>
      </p:sp>
      <p:sp>
        <p:nvSpPr>
          <p:cNvPr id="62" name="Text 59"/>
          <p:cNvSpPr txBox="1"/>
          <p:nvPr/>
        </p:nvSpPr>
        <p:spPr>
          <a:xfrm>
            <a:off x="6355080" y="5074920"/>
            <a:ext cx="48764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이용권의 평균가는 155,824원으로 식사의 4.8배입니다. 같은 품을 들여 매장을 붙인다면 숙소와 뷰티 쪽이 식당보다 훨씬 큽니다. 위 표의 모든 숫자가 그만큼 곱해집니다.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"네" 하시는 이유도 숫자에 있습니다. 광고비를 먼저 내지 않으니까요.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장이 팔렸을 때 (파스타 2인 세트 예시)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6888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621024" y="246888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32,000원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4378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(22% 할인)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621024" y="284378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05840" y="319125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5840" y="321868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621024" y="321868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1,250원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3593592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 10% (등록 때 정한 예시)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621024" y="359359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968496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 3% (등록 때 정한 예시)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3968496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750원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05840" y="4315968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" y="434340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들어오는 돈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3621024" y="434340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20,500원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05840" y="471830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35% 가정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3621024" y="471830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005840" y="506577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05840" y="509320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이익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3621024" y="509320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9,300원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" y="55778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없이 온 새 손님 한 명당 9,300원이 남습니다. 안 팔리면 0원이고, 세 항목 전부 팔린 뒤에만 나갑니다.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광고비 0</a:t>
            </a:r>
            <a:endParaRPr lang="en-US" sz="1350" dirty="0"/>
          </a:p>
        </p:txBody>
      </p:sp>
      <p:sp>
        <p:nvSpPr>
          <p:cNvPr id="32" name="Text 28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배너, 검색 광고, 체험단처럼 미리 내는 돈이 없습니다. 팔린 만큼만 나갑니다.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할인율과 유효기간은 사장님이</a:t>
            </a:r>
            <a:endParaRPr lang="en-US" sz="1350" dirty="0"/>
          </a:p>
        </p:txBody>
      </p:sp>
      <p:sp>
        <p:nvSpPr>
          <p:cNvPr id="36" name="Text 31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 올리고, 할인율도 마감 수량도 직접 정합니다. 손해 보는 구조를 만들 수 없습니다.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손님이 쓴 뒤 매주</a:t>
            </a:r>
            <a:endParaRPr lang="en-US" sz="1350" dirty="0"/>
          </a:p>
        </p:txBody>
      </p:sp>
      <p:sp>
        <p:nvSpPr>
          <p:cNvPr id="40" name="Text 34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QR을 찍은 이용권만 주간 정산으로 매장 계좌에 들어옵니다. 안 쓴 이용권은 손님에게 자동 환불됩니다.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하나</a:t>
            </a:r>
            <a:endParaRPr lang="en-US" sz="1350" dirty="0"/>
          </a:p>
        </p:txBody>
      </p:sp>
      <p:sp>
        <p:nvSpPr>
          <p:cNvPr id="44" name="Text 37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찍거나 확인 PIN을 눌러 주는 것. 등록과 운영은 대행사가 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이미 써 본 방식과 나란히 놓으면, 설명이 짧아집니다.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무료 식사를 내드리고 후기를 받는 구조이고, 광고는 노출을 삽니다. 유어딜은 손님이 결제한 이용권만 세고, 그 뒤에만 수수료가 나갑니다. 사장님 앞에서 이 표 한 장이면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974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" y="2697480"/>
            <a:ext cx="3454298" cy="566928"/>
          </a:xfrm>
          <a:prstGeom prst="roundRect">
            <a:avLst>
              <a:gd name="adj" fmla="val 2258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3063240"/>
            <a:ext cx="3454298" cy="201168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60120" y="2697480"/>
            <a:ext cx="29056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· 블로그 마케팅</a:t>
            </a:r>
            <a:endParaRPr lang="en-US" sz="13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566160"/>
            <a:ext cx="182880" cy="1828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34440" y="3520440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식사 제공 + 대행비 선지출</a:t>
            </a:r>
            <a:endParaRPr lang="en-US" sz="11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187952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34440" y="4142232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결과는 노출 수·방문자 수</a:t>
            </a:r>
            <a:endParaRPr lang="en-US" sz="11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809744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34440" y="4764024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남지만 손님 결제는 확인 못 함</a:t>
            </a:r>
            <a:endParaRPr lang="en-US" sz="11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431536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234440" y="5385816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건당 비용이 먼저 나감</a:t>
            </a:r>
            <a:endParaRPr lang="en-US" sz="1100" dirty="0"/>
          </a:p>
        </p:txBody>
      </p:sp>
      <p:sp>
        <p:nvSpPr>
          <p:cNvPr id="20" name="Shape 13"/>
          <p:cNvSpPr/>
          <p:nvPr/>
        </p:nvSpPr>
        <p:spPr>
          <a:xfrm>
            <a:off x="4368698" y="26974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4368698" y="2697480"/>
            <a:ext cx="3454298" cy="566928"/>
          </a:xfrm>
          <a:prstGeom prst="roundRect">
            <a:avLst>
              <a:gd name="adj" fmla="val 2258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4368698" y="3063240"/>
            <a:ext cx="3454298" cy="201168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643018" y="2697480"/>
            <a:ext cx="29056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 · 검색 광고</a:t>
            </a:r>
            <a:endParaRPr lang="en-US" sz="13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3018" y="3566160"/>
            <a:ext cx="182880" cy="1828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917338" y="3520440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광고비 또는 클릭당 과금</a:t>
            </a:r>
            <a:endParaRPr lang="en-US" sz="11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3018" y="4187952"/>
            <a:ext cx="182880" cy="18288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917338" y="4142232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결과는 클릭·노출</a:t>
            </a:r>
            <a:endParaRPr lang="en-US" sz="11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3018" y="4809744"/>
            <a:ext cx="182880" cy="18288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4917338" y="4764024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끄면 같이 끝남</a:t>
            </a:r>
            <a:endParaRPr lang="en-US" sz="1100" dirty="0"/>
          </a:p>
        </p:txBody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3018" y="5431536"/>
            <a:ext cx="182880" cy="18288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4917338" y="5385816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위에 광고비가 얹힘</a:t>
            </a:r>
            <a:endParaRPr lang="en-US" sz="1100" dirty="0"/>
          </a:p>
        </p:txBody>
      </p:sp>
      <p:sp>
        <p:nvSpPr>
          <p:cNvPr id="32" name="Shape 21"/>
          <p:cNvSpPr/>
          <p:nvPr/>
        </p:nvSpPr>
        <p:spPr>
          <a:xfrm>
            <a:off x="8051597" y="26974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8051597" y="2697480"/>
            <a:ext cx="3454298" cy="566928"/>
          </a:xfrm>
          <a:prstGeom prst="roundRect">
            <a:avLst>
              <a:gd name="adj" fmla="val 22581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4" name="Shape 23"/>
          <p:cNvSpPr/>
          <p:nvPr/>
        </p:nvSpPr>
        <p:spPr>
          <a:xfrm>
            <a:off x="8051597" y="3063240"/>
            <a:ext cx="3454298" cy="201168"/>
          </a:xfrm>
          <a:prstGeom prst="rect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8325917" y="2697480"/>
            <a:ext cx="29056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이용권</a:t>
            </a:r>
            <a:endParaRPr lang="en-US" sz="1350" dirty="0"/>
          </a:p>
        </p:txBody>
      </p:sp>
      <p:pic>
        <p:nvPicPr>
          <p:cNvPr id="3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25917" y="3566160"/>
            <a:ext cx="182880" cy="18288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8600237" y="3520440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0원, 팔린 뒤에만 수수료</a:t>
            </a:r>
            <a:endParaRPr lang="en-US" sz="11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25917" y="4187952"/>
            <a:ext cx="182880" cy="182880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8600237" y="4142232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결과는 결제 건수와 입금액</a:t>
            </a:r>
            <a:endParaRPr lang="en-US" sz="1100" dirty="0"/>
          </a:p>
        </p:txBody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25917" y="4809744"/>
            <a:ext cx="182880" cy="18288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8600237" y="4764024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먼저 결제하고 가게에 옴</a:t>
            </a:r>
            <a:endParaRPr lang="en-US" sz="1100" dirty="0"/>
          </a:p>
        </p:txBody>
      </p:sp>
      <p:pic>
        <p:nvPicPr>
          <p:cNvPr id="4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25917" y="5431536"/>
            <a:ext cx="182880" cy="182880"/>
          </a:xfrm>
          <a:prstGeom prst="rect">
            <a:avLst/>
          </a:prstGeom>
        </p:spPr>
      </p:pic>
      <p:sp>
        <p:nvSpPr>
          <p:cNvPr id="43" name="Text 28"/>
          <p:cNvSpPr txBox="1"/>
          <p:nvPr/>
        </p:nvSpPr>
        <p:spPr>
          <a:xfrm>
            <a:off x="8600237" y="5385816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미사용은 손님에게 100% 자동 환불</a:t>
            </a:r>
            <a:endParaRPr lang="en-US" sz="1100" dirty="0"/>
          </a:p>
        </p:txBody>
      </p:sp>
      <p:sp>
        <p:nvSpPr>
          <p:cNvPr id="44" name="Text 29"/>
          <p:cNvSpPr txBox="1"/>
          <p:nvPr/>
        </p:nvSpPr>
        <p:spPr>
          <a:xfrm>
            <a:off x="685800" y="5989320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체험단·광고의 항목은 일반적인 상품 구조를 요약한 것이고 업체마다 다릅니다. 유어딜 항목은 라이브 설정값입니다.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돌면, 다음 매장은 그 숫자로 설득됩니다.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바퀴는 담당자 한 분이 한 매장에서 하는 일 전부입니다. 매장이 늘수록 같은 바퀴가 여러 개 돕니다.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496312" y="2679192"/>
            <a:ext cx="2962656" cy="2962656"/>
          </a:xfrm>
          <a:prstGeom prst="ellipse">
            <a:avLst/>
          </a:prstGeom>
          <a:ln w="31750">
            <a:solidFill>
              <a:srgbClr val="1C69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7560000">
            <a:off x="4729471" y="2843228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40380" y="2340864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040380" y="241401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등록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131820" y="26883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10분, 담당자 폰으로</a:t>
            </a:r>
            <a:endParaRPr lang="en-US" sz="930" dirty="0"/>
          </a:p>
        </p:txBody>
      </p:sp>
      <p:sp>
        <p:nvSpPr>
          <p:cNvPr id="13" name="Shape 10"/>
          <p:cNvSpPr/>
          <p:nvPr/>
        </p:nvSpPr>
        <p:spPr>
          <a:xfrm rot="11880000">
            <a:off x="5267595" y="4499404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49207" y="3364436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449207" y="34375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연다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540647" y="37119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메뉴 두세 개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 rot="16200000">
            <a:off x="3858768" y="5522976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11083" y="5020612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3911083" y="50937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인플루언서를 붙인다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4002523" y="53680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골라 코드 링크</a:t>
            </a:r>
            <a:endParaRPr lang="en-US" sz="930" dirty="0"/>
          </a:p>
        </p:txBody>
      </p:sp>
      <p:sp>
        <p:nvSpPr>
          <p:cNvPr id="21" name="Shape 18"/>
          <p:cNvSpPr/>
          <p:nvPr/>
        </p:nvSpPr>
        <p:spPr>
          <a:xfrm rot="20520000">
            <a:off x="2449941" y="4499404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169677" y="5020612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2169677" y="50937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결제하고 방문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2261117" y="53680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쓴 것만 주간 정산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 rot="3240000">
            <a:off x="2988065" y="2843228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631553" y="3364436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1631553" y="34375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 확인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722993" y="37119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몫은 유어딜이 송금</a:t>
            </a:r>
            <a:endParaRPr lang="en-US" sz="930" dirty="0"/>
          </a:p>
        </p:txBody>
      </p:sp>
      <p:sp>
        <p:nvSpPr>
          <p:cNvPr id="29" name="Shape 26"/>
          <p:cNvSpPr/>
          <p:nvPr/>
        </p:nvSpPr>
        <p:spPr>
          <a:xfrm>
            <a:off x="3251789" y="3434669"/>
            <a:ext cx="1451701" cy="1451701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251789" y="3754044"/>
            <a:ext cx="1451701" cy="50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늘수록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도는 바퀴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388949" y="4247622"/>
            <a:ext cx="1177381" cy="43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1명, 매장 N곳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635240" y="251460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9847" y="2619207"/>
            <a:ext cx="193121" cy="193121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202168" y="2514600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보고서가 화면에 있습니다</a:t>
            </a:r>
            <a:endParaRPr lang="en-US" sz="1350" dirty="0"/>
          </a:p>
        </p:txBody>
      </p:sp>
      <p:sp>
        <p:nvSpPr>
          <p:cNvPr id="35" name="Text 31"/>
          <p:cNvSpPr txBox="1"/>
          <p:nvPr/>
        </p:nvSpPr>
        <p:spPr>
          <a:xfrm>
            <a:off x="8202168" y="2834640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요약에 매장별 매출과 주문이 뜹니다. 첫 매장의 이 화면이 두 번째 매장을 설득하는 자료가 됩니다.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7635240" y="3721608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9847" y="3826215"/>
            <a:ext cx="193121" cy="193121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8202168" y="3721608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만든 이용권은 계속 팝니다</a:t>
            </a:r>
            <a:endParaRPr lang="en-US" sz="1350" dirty="0"/>
          </a:p>
        </p:txBody>
      </p:sp>
      <p:sp>
        <p:nvSpPr>
          <p:cNvPr id="39" name="Text 34"/>
          <p:cNvSpPr txBox="1"/>
          <p:nvPr/>
        </p:nvSpPr>
        <p:spPr>
          <a:xfrm>
            <a:off x="8202168" y="4041648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이용권과 매장 페이지는 남고, 인플루언서 링크와 유어샵도 남습니다. 매달 새로 여는 캠페인이 아닙니다.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7635240" y="492861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9847" y="5033223"/>
            <a:ext cx="193121" cy="193121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8202168" y="4928616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객단가가 큰 업종으로 갈수록 커집니다</a:t>
            </a:r>
            <a:endParaRPr lang="en-US" sz="1350" dirty="0"/>
          </a:p>
        </p:txBody>
      </p:sp>
      <p:sp>
        <p:nvSpPr>
          <p:cNvPr id="43" name="Text 37"/>
          <p:cNvSpPr txBox="1"/>
          <p:nvPr/>
        </p:nvSpPr>
        <p:spPr>
          <a:xfrm>
            <a:off x="8202168" y="5248656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 평균가는 식사의 4.8배입니다. 같은 바퀴를 돌려도 귀사 몫의 재원이 그만큼 커집니다.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모은다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매장을 데려올지, 어떤 대행사에 맞는지, 사장님 앞에서 10분에 끝내는 등록, 대본, 그리고 목표별 이용권 설계.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여섯 가지 체크리스트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대행사에 맞습니다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10분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대본과 거절 답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목표별 이용권 설계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여섯 가지만 맞으면 됩니다.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 그 자리에서 진행됩니다.</a:t>
            </a:r>
            <a:endParaRPr lang="en-US" sz="26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21992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3327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있다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03327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개업일로 국세청 진위확인을 합니다. 없으면 올릴 수 없습니다.</a:t>
            </a:r>
            <a:endParaRPr lang="en-US" sz="10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21992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3095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 매장이 있다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33095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등록할 때 카카오맵 장소를 연결합니다. 없으면 사장님이 먼저 등록해야 합니다(무료, 하루 이틀).</a:t>
            </a:r>
            <a:endParaRPr lang="en-US" sz="10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56432"/>
            <a:ext cx="237744" cy="23774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3327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방문해서 쓰는 업종이다</a:t>
            </a:r>
            <a:endParaRPr lang="en-US" sz="1300" dirty="0"/>
          </a:p>
        </p:txBody>
      </p:sp>
      <p:sp>
        <p:nvSpPr>
          <p:cNvPr id="15" name="Text 9"/>
          <p:cNvSpPr txBox="1"/>
          <p:nvPr/>
        </p:nvSpPr>
        <p:spPr>
          <a:xfrm>
            <a:off x="103327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식당, 카페, 미용, 네일, 숙박, 키즈카페, 스튜디오, 클래스. 택배 상품만 파는 곳은 대상이 아닙니다.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456432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33095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15~30% 할인해도 남는 대표 메뉴가 있다</a:t>
            </a:r>
            <a:endParaRPr lang="en-US" sz="1300" dirty="0"/>
          </a:p>
        </p:txBody>
      </p:sp>
      <p:sp>
        <p:nvSpPr>
          <p:cNvPr id="18" name="Text 11"/>
          <p:cNvSpPr txBox="1"/>
          <p:nvPr/>
        </p:nvSpPr>
        <p:spPr>
          <a:xfrm>
            <a:off x="533095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할인가로 팝니다. 마진이 얇은 메뉴만 있는 곳은 사장님이 곧 후회합니다.</a:t>
            </a:r>
            <a:endParaRPr lang="en-US" sz="10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690872"/>
            <a:ext cx="237744" cy="237744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3327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 3장 이상 있다</a:t>
            </a:r>
            <a:endParaRPr lang="en-US" sz="1300" dirty="0"/>
          </a:p>
        </p:txBody>
      </p:sp>
      <p:sp>
        <p:nvSpPr>
          <p:cNvPr id="21" name="Text 13"/>
          <p:cNvSpPr txBox="1"/>
          <p:nvPr/>
        </p:nvSpPr>
        <p:spPr>
          <a:xfrm>
            <a:off x="103327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카드의 절반은 사진입니다. 없으면 방문할 때 폰으로 찍어 오세요.</a:t>
            </a:r>
            <a:endParaRPr lang="en-US" sz="105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4690872"/>
            <a:ext cx="237744" cy="237744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33095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사장님이나 직원이 폰으로 QR을 찍을 수 있다</a:t>
            </a:r>
            <a:endParaRPr lang="en-US" sz="1300" dirty="0"/>
          </a:p>
        </p:txBody>
      </p:sp>
      <p:sp>
        <p:nvSpPr>
          <p:cNvPr id="24" name="Text 15"/>
          <p:cNvSpPr txBox="1"/>
          <p:nvPr/>
        </p:nvSpPr>
        <p:spPr>
          <a:xfrm>
            <a:off x="533095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처리는 매장 폰 한 대로 끝납니다. POS 연동이 필요 없습니다.</a:t>
            </a:r>
            <a:endParaRPr lang="en-US" sz="1050" dirty="0"/>
          </a:p>
        </p:txBody>
      </p:sp>
      <p:sp>
        <p:nvSpPr>
          <p:cNvPr id="25" name="Shape 16"/>
          <p:cNvSpPr/>
          <p:nvPr/>
        </p:nvSpPr>
        <p:spPr>
          <a:xfrm>
            <a:off x="685800" y="5779008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1005840" y="5779008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갈 곳: 배달앱이나 예약앱에 광고비를 쓰고 있는 매장.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돈을 팔린 뒤에만 내는 걸로 바꾸자"가 통합니다.</a:t>
            </a:r>
            <a:endParaRPr lang="en-US" sz="110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99864" y="778824"/>
            <a:ext cx="2629164" cy="5026032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8961120" y="5724144"/>
            <a:ext cx="2906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올라간 매장 페이지 (유어샵)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대행사에 맞습니다. 지금 겪고 계신 말로 적었습니다.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오른쪽은 유어딜이 대신해 주는 것이 아니라, 구조가 그렇게 되어 있어서 귀사가 그 자리에서 쓸 수 있는 것입니다.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256946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688336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2377440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체험단을 돌려 온 대행사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3566160" y="2523744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16200000">
            <a:off x="3438144" y="2706624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767328" y="2523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"후기는 남는데 사장님이 효과를 못 느끼세요."</a:t>
            </a:r>
            <a:endParaRPr lang="en-US" sz="11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578608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3488" y="252374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건수와 입금액이 매장 화면에 남습니다. 그 숫자가 보고서입니다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852928"/>
            <a:ext cx="155448" cy="1554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33488" y="279806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식사 대신 손님이 결제하고 옵니다. 대행비 선지급이 없습니다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85800" y="3346704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60120" y="353872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3657600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346704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 광고 대행사</a:t>
            </a:r>
            <a:endParaRPr lang="en-US" sz="1350" dirty="0"/>
          </a:p>
        </p:txBody>
      </p:sp>
      <p:sp>
        <p:nvSpPr>
          <p:cNvPr id="23" name="Shape 16"/>
          <p:cNvSpPr/>
          <p:nvPr/>
        </p:nvSpPr>
        <p:spPr>
          <a:xfrm>
            <a:off x="3566160" y="3493008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 rot="16200000">
            <a:off x="3438144" y="3675888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3767328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 광고 대행은 남는 게 없어요."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547872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333488" y="349300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 %는 매장 등록 때 귀사가 정하고, 유어딜이 직접 보냅니다</a:t>
            </a:r>
            <a:endParaRPr lang="en-US" sz="10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822192"/>
            <a:ext cx="155448" cy="155448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333488" y="376732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유어딜에 내는 돈은 0. 매장에서 팔린 만큼만 유어딜 5%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85800" y="4315968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960120" y="450799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992" y="4626864"/>
            <a:ext cx="219456" cy="219456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554480" y="4315968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매니지먼트 · MCN</a:t>
            </a:r>
            <a:endParaRPr lang="en-US" sz="1350" dirty="0"/>
          </a:p>
        </p:txBody>
      </p:sp>
      <p:sp>
        <p:nvSpPr>
          <p:cNvPr id="34" name="Shape 24"/>
          <p:cNvSpPr/>
          <p:nvPr/>
        </p:nvSpPr>
        <p:spPr>
          <a:xfrm>
            <a:off x="3566160" y="4462272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 rot="16200000">
            <a:off x="3438144" y="4645152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3767328" y="44622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"소속 크리에이터에게 줄 딜이 부족해요."</a:t>
            </a:r>
            <a:endParaRPr lang="en-US" sz="11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6600" y="4517136"/>
            <a:ext cx="155448" cy="15544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333488" y="446227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등록하고 소속 채널에 코드 링크를 보내면 탭 한 번에 매칭되고 소개비가 자동 귀속됩니다</a:t>
            </a:r>
            <a:endParaRPr lang="en-US" sz="105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791456"/>
            <a:ext cx="155448" cy="15544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33488" y="473659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귀속, 확정, 원천징수, 지급은 유어딜이 합니다</a:t>
            </a:r>
            <a:endParaRPr lang="en-US" sz="1050" dirty="0"/>
          </a:p>
        </p:txBody>
      </p:sp>
      <p:sp>
        <p:nvSpPr>
          <p:cNvPr id="41" name="Shape 29"/>
          <p:cNvSpPr/>
          <p:nvPr/>
        </p:nvSpPr>
        <p:spPr>
          <a:xfrm>
            <a:off x="685800" y="5285232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42" name="Shape 30"/>
          <p:cNvSpPr/>
          <p:nvPr/>
        </p:nvSpPr>
        <p:spPr>
          <a:xfrm>
            <a:off x="960120" y="547725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8992" y="5596128"/>
            <a:ext cx="219456" cy="21945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1554480" y="5285232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매장을 한 번에 보는 곳</a:t>
            </a:r>
            <a:endParaRPr lang="en-US" sz="1350" dirty="0"/>
          </a:p>
        </p:txBody>
      </p:sp>
      <p:sp>
        <p:nvSpPr>
          <p:cNvPr id="45" name="Shape 32"/>
          <p:cNvSpPr/>
          <p:nvPr/>
        </p:nvSpPr>
        <p:spPr>
          <a:xfrm>
            <a:off x="3566160" y="5431536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33"/>
          <p:cNvSpPr/>
          <p:nvPr/>
        </p:nvSpPr>
        <p:spPr>
          <a:xfrm rot="16200000">
            <a:off x="3438144" y="5614416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3767328" y="54315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"매장마다 계정을 따로 만들기가 번거로워요."</a:t>
            </a:r>
            <a:endParaRPr lang="en-US" sz="1100" dirty="0"/>
          </a:p>
        </p:txBody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6600" y="5486400"/>
            <a:ext cx="155448" cy="155448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7333488" y="543153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권한 하나로 여러 매장을 한 대시보드에서 봅니다</a:t>
            </a:r>
            <a:endParaRPr lang="en-US" sz="1050" dirty="0"/>
          </a:p>
        </p:txBody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6600" y="5760720"/>
            <a:ext cx="155448" cy="15544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7333488" y="570585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매장 주인만. 귀사는 통장을 못 건드립니다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앞에서 10분이면 됩니다.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없이, 담당자 폰으로 끝납니다.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762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554480" y="2167128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578" y="2262226"/>
            <a:ext cx="175565" cy="1755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057400" y="21762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매장 찾기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057400" y="2478024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/seller/stores 에서 매장 이름을 검색해 장소를 연결합니다. 주소와 좌표가 자동으로 들어옵니다.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" y="2916936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98094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1554480" y="2971800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578" y="3066898"/>
            <a:ext cx="175565" cy="17556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57400" y="298094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국세청 진위확인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2057400" y="3282696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개업일을 넣으면 국세청 조회로 즉시 확인됩니다. 사업자등록증 사진만 보면 됩니다.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85800" y="3721608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858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20" name="Shape 15"/>
          <p:cNvSpPr/>
          <p:nvPr/>
        </p:nvSpPr>
        <p:spPr>
          <a:xfrm>
            <a:off x="1554480" y="3776472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9578" y="3871570"/>
            <a:ext cx="175565" cy="17556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2057400" y="378561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 선택, 두 % 입력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2057400" y="408736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"중개·대행사에요"를 고르면 그 매장은 5%가 적용됩니다. 이때 매장 코드가 자동으로 생기고, 귀사 몫 %와 인플루언서 소개비 %를 함께 정합니다. 정산 계좌는 사장님이 주인이 된 뒤에만.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85800" y="4526280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85800" y="459028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3분씩</a:t>
            </a:r>
            <a:endParaRPr lang="en-US" sz="1700" dirty="0"/>
          </a:p>
        </p:txBody>
      </p:sp>
      <p:sp>
        <p:nvSpPr>
          <p:cNvPr id="26" name="Shape 20"/>
          <p:cNvSpPr/>
          <p:nvPr/>
        </p:nvSpPr>
        <p:spPr>
          <a:xfrm>
            <a:off x="1554480" y="4581144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9578" y="4676242"/>
            <a:ext cx="175565" cy="17556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2057400" y="45902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만들기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2057400" y="489204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사진, 정가, 판매가, 유효기간, 마감 수량. 대표 메뉴 두세 개면 충분합니다. 사진은 그 자리에서 찍어도 됩니다.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685800" y="5330952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85800" y="539496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</a:t>
            </a:r>
            <a:endParaRPr lang="en-US" sz="1700" dirty="0"/>
          </a:p>
        </p:txBody>
      </p:sp>
      <p:sp>
        <p:nvSpPr>
          <p:cNvPr id="32" name="Shape 25"/>
          <p:cNvSpPr/>
          <p:nvPr/>
        </p:nvSpPr>
        <p:spPr>
          <a:xfrm>
            <a:off x="1554480" y="5385816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9578" y="5480914"/>
            <a:ext cx="175565" cy="17556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2057400" y="5394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코드와 사용법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2057400" y="569671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코드를 드립니다. 사장님이 가입하며 그 코드를 넣으면 매장 주인이 됩니다(등록증 확인은 그대로). 손님 QR 확인법까지, 이것만 설명하면 됩니다.</a:t>
            </a:r>
            <a:endParaRPr lang="en-US" sz="1050" dirty="0"/>
          </a:p>
        </p:txBody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0173" y="817733"/>
            <a:ext cx="2708039" cy="5176813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77824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화면 (예시 데이터)</a:t>
            </a:r>
            <a:endParaRPr lang="en-US" sz="1050" dirty="0"/>
          </a:p>
        </p:txBody>
      </p:sp>
      <p:sp>
        <p:nvSpPr>
          <p:cNvPr id="38" name="Shape 29"/>
          <p:cNvSpPr/>
          <p:nvPr/>
        </p:nvSpPr>
        <p:spPr>
          <a:xfrm>
            <a:off x="8732520" y="2240280"/>
            <a:ext cx="1939671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9" name="Text 30"/>
          <p:cNvSpPr txBox="1"/>
          <p:nvPr/>
        </p:nvSpPr>
        <p:spPr>
          <a:xfrm>
            <a:off x="8732520" y="2240280"/>
            <a:ext cx="1939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 검색으로 주소 자동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드릴 말씀 네 마디와, 거절에 대한 답 다섯 가지를 준비했습니다.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4114800" cy="4297680"/>
          </a:xfrm>
          <a:prstGeom prst="roundRect">
            <a:avLst>
              <a:gd name="adj" fmla="val 311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대본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24871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열기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24871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배달앱 말고 손님이 가게에 직접 오게 하는 건데요. 미리 내는 돈은 없고 팔린 만큼만 5% 나갑니다."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보여주기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1737360" y="34015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메뉴를 이용권으로 올리면 이렇게 보입니다." (오른쪽 화면을 폰으로 보여 준다)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60120" y="43159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정하기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737360" y="43159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"어떤 메뉴를 몇 % 할인해서 올릴까요? 유효기간은요?" 사장님이 정하게 한다.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52303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끝내기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1737360" y="52303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"등록증만 보여 주시면 지금 올라갑니다. 코드 하나 드릴 테니 사장님 카카오로 가입하실 때 넣어 주세요. 그러면 매장 주인이 되세요."</a:t>
            </a:r>
            <a:endParaRPr lang="en-US" sz="10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245" y="1752565"/>
            <a:ext cx="2471414" cy="47244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98080" y="196596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"할인하면 손해 아니에요?"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498080" y="224028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메뉴만, 사장님이 정한 할인율로만 올립니다. 안 팔리면 0원이고, 팔리면 새 손님입니다.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0" y="283464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"배달앱이랑 뭐가 달라요?"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7498080" y="310896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배달이 없고 손님이 가게에 옵니다. 수수료는 5%이고, 가게 페이지가 사장님 것으로 남습니다. 병행해도 됩니다.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498080" y="370332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"정산은 언제 들어와요?"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0" y="397764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쓴 이용권만 매주 정산돼 매장 계좌로 들어옵니다. 안 쓴 건 손님에게 자동 환불이라 분쟁이 없습니다.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7498080" y="457200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"귀찮은 일 있어요?"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498080" y="484632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찍는 것 하나입니다. 등록, 이용권 관리, 인플루언서 섭외는 제가 합니다.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7498080" y="544068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"계약서 써야 해요?"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498080" y="571500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유어딜과는 가입뿐입니다. 제 몫은 등록할 때 적힌 %로 유어딜이 보내고, 마음에 안 들면 오늘이라도 사장님이 제 권한을 빼시면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목표를 물으면, 이 표에서 한 줄을 고르십시오.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칸 전부 이용권 등록 화면의 입력값입니다. 유어딜이 정한 요율이 아니라 매장과 귀사가 정하는 값이라, 상담 자리에서 바로 바꿔도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714232" y="2487168"/>
            <a:ext cx="2770632" cy="2944368"/>
          </a:xfrm>
          <a:prstGeom prst="roundRect">
            <a:avLst>
              <a:gd name="adj" fmla="val 33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5603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매장의 목표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256032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256032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074920" y="256032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256032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조건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823960" y="2560320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85800" y="283464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889504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손님 만들기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2606040" y="2889504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20~30%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840480" y="2889504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30장 한정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074920" y="2889504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30일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2889504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823960" y="2889504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 정도. 동네 채널 한두 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85800" y="3346704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33832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평일 매출 채우기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2606040" y="338328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15~20%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38328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 없음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074920" y="3383280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60일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537960" y="338328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평일 점심 11~15시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823960" y="3383280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없어도 됩니다. 조건이 곧 홍보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85800" y="384048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3877056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 반응 보기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2606040" y="3877056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10~15%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3877056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30장 한정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074920" y="3877056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14일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6537960" y="3877056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823960" y="3877056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없음. 팔리는 속도가 곧 답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85800" y="4334256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5800" y="437083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 늘리기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2606040" y="4370832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3840480" y="4370832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 없음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5074920" y="437083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90일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6537960" y="437083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8823960" y="4370832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없음. 매장 단톡방·인스타에 직접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85800" y="4828032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800" y="486460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숙박·뷰티처럼 객단가가 큰 곳</a:t>
            </a:r>
            <a:endParaRPr 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2606040" y="4864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10~15%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3840480" y="4864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20장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5074920" y="4864608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60일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6537960" y="4864608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예약 필수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823960" y="4864608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5~8%. 단가가 커서 % 는 낮게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685800" y="5321808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85800" y="5742432"/>
            <a:ext cx="10820095" cy="420624"/>
          </a:xfrm>
          <a:prstGeom prst="roundRect">
            <a:avLst>
              <a:gd name="adj" fmla="val 2173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05840" y="5742432"/>
            <a:ext cx="101800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값은 권장 설정이지 약속이 아닙니다.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달 돌려 보고 화면의 숫자로 다시 정하면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인플루언서와 운영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섭외부터 정산까지 화면 안에서 끝나는 인플루언서 일, 담당자의 일주일, 그리고 "왜 남에게 계정을 맡기죠?"에 시스템이 답하는 방법.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붙이기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고르는 기준과 채널별 기대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담당자의 일주일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표와 운영자 화면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해 주는 것, 미리 말씀드리는 것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섭외부터 정산까지,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일은 화면 안에서 끝납니다.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216712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1762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고른다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47802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/seller/influencers 에서 플랫폼과 팔로워 구간으로 거릅니다. 매장 동네에서 활동하는 채널을 우선합니다.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2916936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" y="29718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9809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링크를 보낸다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28269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코드가 담긴 링크 하나를 보냅니다. 인플루언서가 탭하면 가입이 되고 그 순간 매장과 매칭됩니다. 제안, 수락, 코드 입력이 한 탭입니다.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3721608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85800" y="377647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776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37856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%는 이미 정해져 있다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408736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등록할 때 귀사가 정한 인플루언서 소개비 %가 그 매장의 값입니다. 사람마다 다시 협상할 일이 없습니다.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85800" y="4526280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" y="458114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4581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4590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귀속은 자동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188720" y="48920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마이페이지에 매장 단위 링크가 생기고, 그 링크로 들어온 주문이 자동 연결됩니다. 이용권이 바뀌어도 링크는 그대로입니다.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85800" y="5330952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85800" y="538581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5385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1188720" y="5394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지급도 자동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188720" y="569671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이용권을 쓰면 확정되고, 원천징수를 계산해 유어딜이 지급합니다. 대행사가 돈을 옮기지 않습니다.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876288" y="1069848"/>
            <a:ext cx="4702759" cy="2168186"/>
          </a:xfrm>
          <a:prstGeom prst="roundRect">
            <a:avLst>
              <a:gd name="adj" fmla="val 59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43000"/>
            <a:ext cx="4556455" cy="2021882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6949440" y="3347762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풀 (실제 화면, 연락처는 가렸습니다)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9585655" y="1033272"/>
            <a:ext cx="1396746" cy="274320"/>
          </a:xfrm>
          <a:prstGeom prst="roundRect">
            <a:avLst>
              <a:gd name="adj" fmla="val 50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9585655" y="1033272"/>
            <a:ext cx="13967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연락처는 가렸습니다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6949440" y="3731810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 (2026-09-13 실측)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6949440" y="4006130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150" dirty="0"/>
          </a:p>
        </p:txBody>
      </p:sp>
      <p:sp>
        <p:nvSpPr>
          <p:cNvPr id="38" name="Text 34"/>
          <p:cNvSpPr txBox="1"/>
          <p:nvPr/>
        </p:nvSpPr>
        <p:spPr>
          <a:xfrm>
            <a:off x="9455490" y="4006130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201,471명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6949440" y="4335314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 가능</a:t>
            </a:r>
            <a:endParaRPr lang="en-US" sz="1150" dirty="0"/>
          </a:p>
        </p:txBody>
      </p:sp>
      <p:sp>
        <p:nvSpPr>
          <p:cNvPr id="40" name="Text 36"/>
          <p:cNvSpPr txBox="1"/>
          <p:nvPr/>
        </p:nvSpPr>
        <p:spPr>
          <a:xfrm>
            <a:off x="9455490" y="4335314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46,220명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6949440" y="4637066"/>
            <a:ext cx="455645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949440" y="4664498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150" dirty="0"/>
          </a:p>
        </p:txBody>
      </p:sp>
      <p:sp>
        <p:nvSpPr>
          <p:cNvPr id="43" name="Text 39"/>
          <p:cNvSpPr txBox="1"/>
          <p:nvPr/>
        </p:nvSpPr>
        <p:spPr>
          <a:xfrm>
            <a:off x="9455490" y="4664498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172,755명</a:t>
            </a:r>
            <a:endParaRPr lang="en-US" sz="1200" dirty="0"/>
          </a:p>
        </p:txBody>
      </p:sp>
      <p:sp>
        <p:nvSpPr>
          <p:cNvPr id="44" name="Text 40"/>
          <p:cNvSpPr txBox="1"/>
          <p:nvPr/>
        </p:nvSpPr>
        <p:spPr>
          <a:xfrm>
            <a:off x="6949440" y="4993682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</a:t>
            </a:r>
            <a:endParaRPr lang="en-US" sz="1150" dirty="0"/>
          </a:p>
        </p:txBody>
      </p:sp>
      <p:sp>
        <p:nvSpPr>
          <p:cNvPr id="45" name="Text 41"/>
          <p:cNvSpPr txBox="1"/>
          <p:nvPr/>
        </p:nvSpPr>
        <p:spPr>
          <a:xfrm>
            <a:off x="9455490" y="4993682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18,170명</a:t>
            </a:r>
            <a:endParaRPr lang="en-US" sz="1200" dirty="0"/>
          </a:p>
        </p:txBody>
      </p:sp>
      <p:sp>
        <p:nvSpPr>
          <p:cNvPr id="46" name="Text 42"/>
          <p:cNvSpPr txBox="1"/>
          <p:nvPr/>
        </p:nvSpPr>
        <p:spPr>
          <a:xfrm>
            <a:off x="6949440" y="5322866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카페</a:t>
            </a:r>
            <a:endParaRPr lang="en-US" sz="1150" dirty="0"/>
          </a:p>
        </p:txBody>
      </p:sp>
      <p:sp>
        <p:nvSpPr>
          <p:cNvPr id="47" name="Text 43"/>
          <p:cNvSpPr txBox="1"/>
          <p:nvPr/>
        </p:nvSpPr>
        <p:spPr>
          <a:xfrm>
            <a:off x="9455490" y="5322866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9,939명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6949440" y="5697770"/>
            <a:ext cx="4556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인스타그램과 틱톡은 필터에 있으나 DB의 대부분은 네이버 블로그와 유튜브입니다.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 수만 보고 고르지 않으셔도 됩니다.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걸러 주는 기준이 화면에 있습니다.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85800" y="228600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7" y="2390607"/>
            <a:ext cx="193121" cy="19312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52728" y="228600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252728" y="260604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맛집, 뷰티, 여행, 육아처럼 채널이 실제로 다루는 주제로 거릅니다. 매장 업종과 맞는 채널만 남습니다.</a:t>
            </a:r>
            <a:endParaRPr lang="en-US" sz="1080" dirty="0"/>
          </a:p>
        </p:txBody>
      </p:sp>
      <p:sp>
        <p:nvSpPr>
          <p:cNvPr id="11" name="Shape 7"/>
          <p:cNvSpPr/>
          <p:nvPr/>
        </p:nvSpPr>
        <p:spPr>
          <a:xfrm>
            <a:off x="685800" y="3154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407" y="3259287"/>
            <a:ext cx="193121" cy="19312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52728" y="315468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 구간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252728" y="347472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1천 미만부터 10만 이상까지 구간으로 봅니다. 동네 매장은 큰 채널보다 동네에서 읽히는 중간 채널이 맞습니다.</a:t>
            </a:r>
            <a:endParaRPr lang="en-US" sz="1080" dirty="0"/>
          </a:p>
        </p:txBody>
      </p:sp>
      <p:sp>
        <p:nvSpPr>
          <p:cNvPr id="15" name="Shape 10"/>
          <p:cNvSpPr/>
          <p:nvPr/>
        </p:nvSpPr>
        <p:spPr>
          <a:xfrm>
            <a:off x="685800" y="402336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407" y="4127967"/>
            <a:ext cx="193121" cy="193121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52728" y="402336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 다섯 가지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252728" y="434340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팔로워순, 평균 조회순, 게시물순, 댓글순, 추천순. 팔로워는 많은데 조회가 낮은 채널은 여기서 걸러집니다.</a:t>
            </a:r>
            <a:endParaRPr lang="en-US" sz="1080" dirty="0"/>
          </a:p>
        </p:txBody>
      </p:sp>
      <p:sp>
        <p:nvSpPr>
          <p:cNvPr id="19" name="Shape 13"/>
          <p:cNvSpPr/>
          <p:nvPr/>
        </p:nvSpPr>
        <p:spPr>
          <a:xfrm>
            <a:off x="685800" y="489204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407" y="4996647"/>
            <a:ext cx="193121" cy="1931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252728" y="489204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표에 보이는 것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252728" y="521208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프로필, 팔로워, 게시물 수, 평균 조회, 평균 댓글. 연락처는 대행사에게도 안 보이고, 코드 링크는 유어딜이 대신 보냅니다.</a:t>
            </a:r>
            <a:endParaRPr lang="en-US" sz="1080" dirty="0"/>
          </a:p>
        </p:txBody>
      </p:sp>
      <p:sp>
        <p:nvSpPr>
          <p:cNvPr id="23" name="Shape 16"/>
          <p:cNvSpPr/>
          <p:nvPr/>
        </p:nvSpPr>
        <p:spPr>
          <a:xfrm>
            <a:off x="685800" y="5760720"/>
            <a:ext cx="6583680" cy="438912"/>
          </a:xfrm>
          <a:prstGeom prst="roundRect">
            <a:avLst>
              <a:gd name="adj" fmla="val 291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914400" y="576072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출처: </a:t>
            </a:r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수집한 인플루언서 DB 201,471명 (2026-09-13 실측). 채널 활동 지표는 주기적으로 다시 잽니다.</a:t>
            </a:r>
            <a:endParaRPr lang="en-US" sz="10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5382" y="843022"/>
            <a:ext cx="2944664" cy="562915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183880" y="6364224"/>
            <a:ext cx="31676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 찾기 (/seller/influencers, 예시 데이터)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8092440" y="2331720"/>
            <a:ext cx="2265426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28" name="Text 20"/>
          <p:cNvSpPr txBox="1"/>
          <p:nvPr/>
        </p:nvSpPr>
        <p:spPr>
          <a:xfrm>
            <a:off x="8092440" y="2331720"/>
            <a:ext cx="226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· 팔로워 구간 · 정렬</a:t>
            </a:r>
            <a:endParaRPr lang="en-US" sz="950" dirty="0"/>
          </a:p>
        </p:txBody>
      </p:sp>
      <p:sp>
        <p:nvSpPr>
          <p:cNvPr id="29" name="Shape 21"/>
          <p:cNvSpPr/>
          <p:nvPr/>
        </p:nvSpPr>
        <p:spPr>
          <a:xfrm>
            <a:off x="8092440" y="4114800"/>
            <a:ext cx="1722501" cy="274320"/>
          </a:xfrm>
          <a:prstGeom prst="roundRect">
            <a:avLst>
              <a:gd name="adj" fmla="val 50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0" name="Text 22"/>
          <p:cNvSpPr txBox="1"/>
          <p:nvPr/>
        </p:nvSpPr>
        <p:spPr>
          <a:xfrm>
            <a:off x="8092440" y="4114800"/>
            <a:ext cx="17225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골라서 코드 링크 보내기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채널마다 하는 일이 다릅니다. 이용권 링크 하나가 네 곳에 실립니다.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채널이든 인플루언서에게는 매장 단위 링크와 유어샵이 생기고, 그 링크로 들어온 결제만 소개비로 잡힙니다. 노출을 세지 않고 결제를 셉니다.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41832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94" y="2834274"/>
            <a:ext cx="201900" cy="201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41832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41832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"동네 + 메뉴" 검색에서 오래 남는 글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41832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941832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41832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1289304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검색으로 찾는 손님에게 매장 이름을 먼저 보여 줍니다</a:t>
            </a:r>
            <a:endParaRPr lang="en-US" sz="1020" dirty="0"/>
          </a:p>
        </p:txBody>
      </p:sp>
      <p:sp>
        <p:nvSpPr>
          <p:cNvPr id="17" name="Shape 13"/>
          <p:cNvSpPr/>
          <p:nvPr/>
        </p:nvSpPr>
        <p:spPr>
          <a:xfrm>
            <a:off x="941832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41832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1289304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 안의 이용권 링크가 결제로 이어집니다</a:t>
            </a:r>
            <a:endParaRPr lang="en-US" sz="1020" dirty="0"/>
          </a:p>
        </p:txBody>
      </p:sp>
      <p:sp>
        <p:nvSpPr>
          <p:cNvPr id="20" name="Shape 16"/>
          <p:cNvSpPr/>
          <p:nvPr/>
        </p:nvSpPr>
        <p:spPr>
          <a:xfrm>
            <a:off x="941832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41832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289304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쓴 글이 유효기간 동안 계속 팝니다</a:t>
            </a:r>
            <a:endParaRPr lang="en-US" sz="1020" dirty="0"/>
          </a:p>
        </p:txBody>
      </p:sp>
      <p:sp>
        <p:nvSpPr>
          <p:cNvPr id="23" name="Shape 19"/>
          <p:cNvSpPr/>
          <p:nvPr/>
        </p:nvSpPr>
        <p:spPr>
          <a:xfrm>
            <a:off x="3447974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704006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3368" y="2834274"/>
            <a:ext cx="201900" cy="2019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3704006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 · 쇼츠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3704006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먹는 장면으로 설득하는 영상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3704006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704006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704006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1" name="Text 26"/>
          <p:cNvSpPr txBox="1"/>
          <p:nvPr/>
        </p:nvSpPr>
        <p:spPr>
          <a:xfrm>
            <a:off x="4051478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설명란과 고정 댓글에 이용권 링크를 둡니다</a:t>
            </a:r>
            <a:endParaRPr lang="en-US" sz="1020" dirty="0"/>
          </a:p>
        </p:txBody>
      </p:sp>
      <p:sp>
        <p:nvSpPr>
          <p:cNvPr id="32" name="Shape 27"/>
          <p:cNvSpPr/>
          <p:nvPr/>
        </p:nvSpPr>
        <p:spPr>
          <a:xfrm>
            <a:off x="3704006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704006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4051478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쇼츠는 매장 근처 시청자에게 짧게 닿습니다</a:t>
            </a:r>
            <a:endParaRPr lang="en-US" sz="1020" dirty="0"/>
          </a:p>
        </p:txBody>
      </p:sp>
      <p:sp>
        <p:nvSpPr>
          <p:cNvPr id="35" name="Shape 30"/>
          <p:cNvSpPr/>
          <p:nvPr/>
        </p:nvSpPr>
        <p:spPr>
          <a:xfrm>
            <a:off x="3704006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704006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7" name="Text 32"/>
          <p:cNvSpPr txBox="1"/>
          <p:nvPr/>
        </p:nvSpPr>
        <p:spPr>
          <a:xfrm>
            <a:off x="4051478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하나로 여러 이용권을 함께 소개할 수 있습니다</a:t>
            </a:r>
            <a:endParaRPr lang="en-US" sz="1020" dirty="0"/>
          </a:p>
        </p:txBody>
      </p:sp>
      <p:sp>
        <p:nvSpPr>
          <p:cNvPr id="38" name="Shape 33"/>
          <p:cNvSpPr/>
          <p:nvPr/>
        </p:nvSpPr>
        <p:spPr>
          <a:xfrm>
            <a:off x="6210148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6466180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542" y="2834274"/>
            <a:ext cx="201900" cy="201900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6466180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 · 릴스</a:t>
            </a:r>
            <a:endParaRPr lang="en-US" sz="1350" dirty="0"/>
          </a:p>
        </p:txBody>
      </p:sp>
      <p:sp>
        <p:nvSpPr>
          <p:cNvPr id="42" name="Text 36"/>
          <p:cNvSpPr txBox="1"/>
          <p:nvPr/>
        </p:nvSpPr>
        <p:spPr>
          <a:xfrm>
            <a:off x="6466180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감성과 단골 손님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6466180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44" name="Shape 38"/>
          <p:cNvSpPr/>
          <p:nvPr/>
        </p:nvSpPr>
        <p:spPr>
          <a:xfrm>
            <a:off x="6466180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6466180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46" name="Text 40"/>
          <p:cNvSpPr txBox="1"/>
          <p:nvPr/>
        </p:nvSpPr>
        <p:spPr>
          <a:xfrm>
            <a:off x="6813652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링크를 유어샵으로 둡니다</a:t>
            </a:r>
            <a:endParaRPr lang="en-US" sz="1020" dirty="0"/>
          </a:p>
        </p:txBody>
      </p:sp>
      <p:sp>
        <p:nvSpPr>
          <p:cNvPr id="47" name="Shape 41"/>
          <p:cNvSpPr/>
          <p:nvPr/>
        </p:nvSpPr>
        <p:spPr>
          <a:xfrm>
            <a:off x="6466180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66180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49" name="Text 43"/>
          <p:cNvSpPr txBox="1"/>
          <p:nvPr/>
        </p:nvSpPr>
        <p:spPr>
          <a:xfrm>
            <a:off x="6813652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릴스와 스토리에서 이용권을 바로 안내합니다</a:t>
            </a:r>
            <a:endParaRPr lang="en-US" sz="1020" dirty="0"/>
          </a:p>
        </p:txBody>
      </p:sp>
      <p:sp>
        <p:nvSpPr>
          <p:cNvPr id="50" name="Shape 44"/>
          <p:cNvSpPr/>
          <p:nvPr/>
        </p:nvSpPr>
        <p:spPr>
          <a:xfrm>
            <a:off x="6466180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6466180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6813652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동네 손님이면 결제가 납니다</a:t>
            </a:r>
            <a:endParaRPr lang="en-US" sz="1020" dirty="0"/>
          </a:p>
        </p:txBody>
      </p:sp>
      <p:sp>
        <p:nvSpPr>
          <p:cNvPr id="53" name="Shape 47"/>
          <p:cNvSpPr/>
          <p:nvPr/>
        </p:nvSpPr>
        <p:spPr>
          <a:xfrm>
            <a:off x="8972321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9228353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7716" y="2834274"/>
            <a:ext cx="201900" cy="201900"/>
          </a:xfrm>
          <a:prstGeom prst="rect">
            <a:avLst/>
          </a:prstGeom>
        </p:spPr>
      </p:pic>
      <p:sp>
        <p:nvSpPr>
          <p:cNvPr id="56" name="Text 49"/>
          <p:cNvSpPr txBox="1"/>
          <p:nvPr/>
        </p:nvSpPr>
        <p:spPr>
          <a:xfrm>
            <a:off x="9228353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</a:t>
            </a:r>
            <a:endParaRPr lang="en-US" sz="1350" dirty="0"/>
          </a:p>
        </p:txBody>
      </p:sp>
      <p:sp>
        <p:nvSpPr>
          <p:cNvPr id="57" name="Text 50"/>
          <p:cNvSpPr txBox="1"/>
          <p:nvPr/>
        </p:nvSpPr>
        <p:spPr>
          <a:xfrm>
            <a:off x="9228353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페이지 안의 세로 영상</a:t>
            </a:r>
            <a:endParaRPr lang="en-US" sz="1000" dirty="0"/>
          </a:p>
        </p:txBody>
      </p:sp>
      <p:sp>
        <p:nvSpPr>
          <p:cNvPr id="58" name="Text 51"/>
          <p:cNvSpPr txBox="1"/>
          <p:nvPr/>
        </p:nvSpPr>
        <p:spPr>
          <a:xfrm>
            <a:off x="9228353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59" name="Shape 52"/>
          <p:cNvSpPr/>
          <p:nvPr/>
        </p:nvSpPr>
        <p:spPr>
          <a:xfrm>
            <a:off x="9228353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9228353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61" name="Text 54"/>
          <p:cNvSpPr txBox="1"/>
          <p:nvPr/>
        </p:nvSpPr>
        <p:spPr>
          <a:xfrm>
            <a:off x="9575825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홈과 이용권 상세에 영상이 실립니다</a:t>
            </a:r>
            <a:endParaRPr lang="en-US" sz="1020" dirty="0"/>
          </a:p>
        </p:txBody>
      </p:sp>
      <p:sp>
        <p:nvSpPr>
          <p:cNvPr id="62" name="Shape 55"/>
          <p:cNvSpPr/>
          <p:nvPr/>
        </p:nvSpPr>
        <p:spPr>
          <a:xfrm>
            <a:off x="9228353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9228353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4" name="Text 57"/>
          <p:cNvSpPr txBox="1"/>
          <p:nvPr/>
        </p:nvSpPr>
        <p:spPr>
          <a:xfrm>
            <a:off x="9575825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버튼으로 바로 결제합니다</a:t>
            </a:r>
            <a:endParaRPr lang="en-US" sz="1020" dirty="0"/>
          </a:p>
        </p:txBody>
      </p:sp>
      <p:sp>
        <p:nvSpPr>
          <p:cNvPr id="65" name="Shape 58"/>
          <p:cNvSpPr/>
          <p:nvPr/>
        </p:nvSpPr>
        <p:spPr>
          <a:xfrm>
            <a:off x="9228353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6" name="Text 59"/>
          <p:cNvSpPr txBox="1"/>
          <p:nvPr/>
        </p:nvSpPr>
        <p:spPr>
          <a:xfrm>
            <a:off x="9228353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7" name="Text 60"/>
          <p:cNvSpPr txBox="1"/>
          <p:nvPr/>
        </p:nvSpPr>
        <p:spPr>
          <a:xfrm>
            <a:off x="9575825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채널 없이도 소개 커미션이 잡힙니다</a:t>
            </a:r>
            <a:endParaRPr lang="en-US" sz="10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한 분의 일주일입니다.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화면은 여섯 장뿐입니다.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76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월·화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방문 4곳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4597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체크리스트로 고른 매장을 방문해 등록합니다. 하루 2곳이면 충분합니다.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85800" y="2898648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29626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2953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손보기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463040" y="32461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교체, 마감 수량, 할인율 조정. 잘 팔리는 메뉴는 수량을 늘립니다.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3685032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49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3739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링크 5건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403250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매장 동네 채널을 골라 코드 링크를 보내고, 매칭된 사람과 첫 주문을 확인합니다.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85800" y="4471416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45354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526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 확인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48188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대시보드에서 매장별, 인플루언서별 성과와 귀사 몫을 봅니다. 청구서를 쓸 일이 없고, 사장님께는 화면 숫자를 그대로 공유합니다.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53492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 여섯 장 (전부 셀러 대시보드, 별도 프로그램 없음)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17373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32004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42519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/seller/operators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탐색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7373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32004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협업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42519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/seller/influencer-deals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6858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내역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/seller/promo-spend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32004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42519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85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106" y="1644917"/>
            <a:ext cx="2129623" cy="4071086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545222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1050" dirty="0"/>
          </a:p>
        </p:txBody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7131" y="1644917"/>
            <a:ext cx="2129623" cy="4071086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7415254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1050" dirty="0"/>
          </a:p>
        </p:txBody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0155" y="1644917"/>
            <a:ext cx="2129623" cy="4071086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937827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</a:t>
            </a:r>
            <a:endParaRPr lang="en-US" sz="1050" dirty="0"/>
          </a:p>
        </p:txBody>
      </p:sp>
      <p:sp>
        <p:nvSpPr>
          <p:cNvPr id="41" name="Text 35"/>
          <p:cNvSpPr txBox="1"/>
          <p:nvPr/>
        </p:nvSpPr>
        <p:spPr>
          <a:xfrm>
            <a:off x="5817989" y="5989320"/>
            <a:ext cx="5687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데이터로 렌더한 실제 화면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"왜 남에게 계정을 맡기죠?" 계약서가 아니라 시스템이 답합니다.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영업에서 가장 어려운 질문은 "왜 남에게 우리 가게 계정을 맡기느냐"입니다. 운영자(귀사)가 무엇을 할 수 있고 무엇이 막혀 있는지 화면으로 보여 드리면 됩니다.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60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운영자(귀사)가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3840480" y="2560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85800" y="283464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29077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등록과 가격 설정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081528" y="298094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081528" y="298094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3840480" y="290779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대신 이용권을 만들고 운영합니다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685800" y="324612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2735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주문과 예약 관리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081528" y="334670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81528" y="334670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3840480" y="327355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일상 운영 전부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685800" y="361188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63931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인플루언서에게 코드 링크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081528" y="371246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081528" y="371246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3840480" y="363931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 한 번에 가입과 매칭. 소개비 %는 등록 때 정한 값</a:t>
            </a:r>
            <a:endParaRPr lang="en-US" sz="980" dirty="0"/>
          </a:p>
        </p:txBody>
      </p:sp>
      <p:sp>
        <p:nvSpPr>
          <p:cNvPr id="25" name="Shape 22"/>
          <p:cNvSpPr/>
          <p:nvPr/>
        </p:nvSpPr>
        <p:spPr>
          <a:xfrm>
            <a:off x="685800" y="397764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400507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정산계좌 등록과 변경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081528" y="407822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081528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3840480" y="400507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주인만. 사장님이 소유자가 되기 전엔 계좌가 비어 정산이 나가지 않습니다</a:t>
            </a:r>
            <a:endParaRPr lang="en-US" sz="980" dirty="0"/>
          </a:p>
        </p:txBody>
      </p:sp>
      <p:sp>
        <p:nvSpPr>
          <p:cNvPr id="30" name="Shape 27"/>
          <p:cNvSpPr/>
          <p:nvPr/>
        </p:nvSpPr>
        <p:spPr>
          <a:xfrm>
            <a:off x="685800" y="434340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437083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사업자정보 열람과 수정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081528" y="444398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081528" y="444398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3840480" y="437083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등록번호 끝 4자리, 대표자명 첫 글자만. 주소와 연락처는 안 보입니다</a:t>
            </a:r>
            <a:endParaRPr lang="en-US" sz="980" dirty="0"/>
          </a:p>
        </p:txBody>
      </p:sp>
      <p:sp>
        <p:nvSpPr>
          <p:cNvPr id="35" name="Shape 32"/>
          <p:cNvSpPr/>
          <p:nvPr/>
        </p:nvSpPr>
        <p:spPr>
          <a:xfrm>
            <a:off x="685800" y="470916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47365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탈퇴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3081528" y="480974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081528" y="480974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3840480" y="473659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 할 수 있습니다</a:t>
            </a:r>
            <a:endParaRPr lang="en-US" sz="980" dirty="0"/>
          </a:p>
        </p:txBody>
      </p:sp>
      <p:sp>
        <p:nvSpPr>
          <p:cNvPr id="40" name="Shape 37"/>
          <p:cNvSpPr/>
          <p:nvPr/>
        </p:nvSpPr>
        <p:spPr>
          <a:xfrm>
            <a:off x="685800" y="507492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5800" y="51023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 회수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3081528" y="517550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1528" y="517550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3840480" y="510235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주인이 언제든. 올려 둔 이용권, 주문, 리뷰는 매장에 남습니다</a:t>
            </a:r>
            <a:endParaRPr lang="en-US" sz="980" dirty="0"/>
          </a:p>
        </p:txBody>
      </p:sp>
      <p:sp>
        <p:nvSpPr>
          <p:cNvPr id="45" name="Shape 42"/>
          <p:cNvSpPr/>
          <p:nvPr/>
        </p:nvSpPr>
        <p:spPr>
          <a:xfrm>
            <a:off x="685800" y="544068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85800" y="5559552"/>
            <a:ext cx="6858000" cy="621792"/>
          </a:xfrm>
          <a:prstGeom prst="roundRect">
            <a:avLst>
              <a:gd name="adj" fmla="val 14706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005840" y="5559552"/>
            <a:ext cx="6217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매장의 돈이 다른 곳으로 갈 경로가 시스템에 없습니다.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"제가 통장을 못 건드립니다" 한 문장이 계약서 열 장보다 잘 통합니다.</a:t>
            </a:r>
            <a:endParaRPr lang="en-US" sz="1100" dirty="0"/>
          </a:p>
        </p:txBody>
      </p:sp>
      <p:pic>
        <p:nvPicPr>
          <p:cNvPr id="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49" name="Text 45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  <p:sp>
        <p:nvSpPr>
          <p:cNvPr id="50" name="Text 46"/>
          <p:cNvSpPr txBox="1"/>
          <p:nvPr/>
        </p:nvSpPr>
        <p:spPr>
          <a:xfrm>
            <a:off x="7726680" y="20116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핸들로 초대</a:t>
            </a:r>
            <a:endParaRPr lang="en-US" sz="1250" dirty="0"/>
          </a:p>
        </p:txBody>
      </p:sp>
      <p:sp>
        <p:nvSpPr>
          <p:cNvPr id="51" name="Text 47"/>
          <p:cNvSpPr txBox="1"/>
          <p:nvPr/>
        </p:nvSpPr>
        <p:spPr>
          <a:xfrm>
            <a:off x="7726680" y="22860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유어딜 핸들 하나면 됩니다</a:t>
            </a:r>
            <a:endParaRPr lang="en-US" sz="980" dirty="0"/>
          </a:p>
        </p:txBody>
      </p:sp>
      <p:sp>
        <p:nvSpPr>
          <p:cNvPr id="52" name="Shape 48"/>
          <p:cNvSpPr/>
          <p:nvPr/>
        </p:nvSpPr>
        <p:spPr>
          <a:xfrm>
            <a:off x="7616952" y="2157984"/>
            <a:ext cx="2692961" cy="353416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571232" y="211226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10227617" y="2429104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726680" y="29718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목록</a:t>
            </a:r>
            <a:endParaRPr lang="en-US" sz="1250" dirty="0"/>
          </a:p>
        </p:txBody>
      </p:sp>
      <p:sp>
        <p:nvSpPr>
          <p:cNvPr id="56" name="Text 52"/>
          <p:cNvSpPr txBox="1"/>
          <p:nvPr/>
        </p:nvSpPr>
        <p:spPr>
          <a:xfrm>
            <a:off x="7726680" y="32461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언제부터인지 남습니다</a:t>
            </a:r>
            <a:endParaRPr lang="en-US" sz="980" dirty="0"/>
          </a:p>
        </p:txBody>
      </p:sp>
      <p:sp>
        <p:nvSpPr>
          <p:cNvPr id="57" name="Shape 53"/>
          <p:cNvSpPr/>
          <p:nvPr/>
        </p:nvSpPr>
        <p:spPr>
          <a:xfrm>
            <a:off x="7616952" y="3118104"/>
            <a:ext cx="2692961" cy="5486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7571232" y="307238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10227617" y="3041294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7726680" y="3931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회수는 주인만</a:t>
            </a:r>
            <a:endParaRPr lang="en-US" sz="1250" dirty="0"/>
          </a:p>
        </p:txBody>
      </p:sp>
      <p:sp>
        <p:nvSpPr>
          <p:cNvPr id="61" name="Text 57"/>
          <p:cNvSpPr txBox="1"/>
          <p:nvPr/>
        </p:nvSpPr>
        <p:spPr>
          <a:xfrm>
            <a:off x="7726680" y="42062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언제든 누릅니다</a:t>
            </a:r>
            <a:endParaRPr lang="en-US" sz="980" dirty="0"/>
          </a:p>
        </p:txBody>
      </p:sp>
      <p:sp>
        <p:nvSpPr>
          <p:cNvPr id="62" name="Shape 58"/>
          <p:cNvSpPr/>
          <p:nvPr/>
        </p:nvSpPr>
        <p:spPr>
          <a:xfrm flipH="1">
            <a:off x="7616952" y="3264865"/>
            <a:ext cx="3521903" cy="813359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7571232" y="403250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11056559" y="3182569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시작하실 때 유어딜이 곁에서 해 드리는 여섯 가지입니다.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6676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매장 세 곳은 같이 갑니다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등록 세 건은 유어딜 담당자가 현장이나 통화로 동행합니다. 한 번 같이 하면 그다음은 혼자 됩니다.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14418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781" y="216676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414418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사장님용 소개서 (PDF 15장)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414418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수수료, 정산, QR 사용법, 목표별 이용권 설계, 자주 묻는 질문까지 담긴 사장님용 소개서를 드립니다. 대행사 이름을 넣어 드립니다.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414418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43037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399" y="2166762"/>
            <a:ext cx="201900" cy="2019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143037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DB와 발송 대행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143037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20만 명 DB 탐색과 코드 링크 발송을 유어딜이 합니다. 연락처를 모으거나 DM을 돌릴 필요가 없습니다.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8143037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85800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224162"/>
            <a:ext cx="201900" cy="201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정산, 환불, 세금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685800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주간 정산, 미사용 환불, 원천징수를 유어딜이 처리합니다. 손님 CS도 유어딜로 옵니다.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414418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3781" y="4224162"/>
            <a:ext cx="201900" cy="2019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414418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유입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414418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지도에 동네 기준으로 노출되고, 매장 페이지는 카톡 미리보기 카드와 네이버, 구글 검색에 잡힙니다. 6개 언어를 지원합니다.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8143037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399" y="4224162"/>
            <a:ext cx="201900" cy="2019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8143037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실적 공유</a:t>
            </a:r>
            <a:endParaRPr lang="en-US" sz="1400" dirty="0"/>
          </a:p>
        </p:txBody>
      </p:sp>
      <p:sp>
        <p:nvSpPr>
          <p:cNvPr id="33" name="Text 24"/>
          <p:cNvSpPr txBox="1"/>
          <p:nvPr/>
        </p:nvSpPr>
        <p:spPr>
          <a:xfrm>
            <a:off x="8143037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기간에는 매주 매장별 판매와 사용 숫자를 유어딜이 먼저 보내 드립니다. 매장 보고서에 그대로 쓰시면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가지는 미리 말씀드립니다.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대행을 맡기 전에 아셔야 하는 경계입니다. 감추지 않겠습니다.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77724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005840" y="25603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몫은 매장 매출 전체에 붙습니다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8036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 %는 매장 단위입니다. 운영자별로 누가 만든 매출인지 따로 가르지 않고, 확정된 주문의 총액에 등록 때 정한 %가 붙습니다. 화면도 매장 총액을 보여 주고 그 사실을 문장으로 밝힙니다. 두 대행사가 한 매장을 나눠 맡는 구조는 지원하지 않습니다.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4160520"/>
            <a:ext cx="7772400" cy="1325880"/>
          </a:xfrm>
          <a:prstGeom prst="roundRect">
            <a:avLst>
              <a:gd name="adj" fmla="val 965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05840" y="431596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5%의 경계와 권한 설계는 라이브, 코드와 직접 송금은 확정된 설계입니다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46177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5%와 95%의 경계, 정산계좌 차단, 운영 요약 화면은 지금 작동하는 기능입니다. 매장 코드와 귀사 몫 직접 송금은 2026년 9월 16일과 19일에 확정된 설계로, 이 문서와 같은 순서로 열립니다. 요율 수치는 어드민 조정값이라 파트너와 합의 없이 움직이지 않습니다.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5705856"/>
            <a:ext cx="0" cy="457200"/>
          </a:xfrm>
          <a:prstGeom prst="line">
            <a:avLst/>
          </a:prstGeom>
          <a:noFill/>
          <a:ln w="25400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5669280"/>
            <a:ext cx="7543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i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"매장 등록. 이때 매장 코드가 자동 생성되고, 중개사 몫 %와 인플루언서 커미션 %도 같이 정한다." "대행사 몫은 유어딜이 직접 송금."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598932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대표, 2026년 9월 19일 확정</a:t>
            </a:r>
            <a:endParaRPr lang="en-US" sz="9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요약. 화면이 그 경계를 직접 말합니다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파일럿 조건, 손님 경험 네 화면, 세 당사자의 절차, 남은 질문과 연락처.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파일럿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손님은 화면 네 장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사장님·인플루언서·대행사 절차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FAQ와 시작하는 방법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곳만 해 보시죠. 8주에 열 곳이면 구조가 맞는지 판정이 납니다.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3657600" cy="4251960"/>
          </a:xfrm>
          <a:prstGeom prst="roundRect">
            <a:avLst>
              <a:gd name="adj" fmla="val 35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목표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286000" y="26334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매장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33558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30개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22860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중 이용권 (매장당 3개)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41970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20명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228600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링크로 매칭된 인플루언서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50383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2286000" y="51572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정산 (귀사 몫 입금)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5623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곳으로 시작해 한 달 정산이 실제로 도는 것을 보신 뒤 규모를 정하시길 권합니다. 숫자는 제안이고, 담당자 한 명 주 2일 기준입니다.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준비할 것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251460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6344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120640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1명과 카카오 계정 (셀러 계정은 사업자 인증으로 10분)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66344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66344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5120640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리스트 10~20곳 (7장 체크리스트 기준)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663440" y="4306824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66344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5120640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매장별 귀사 몫 %와 인플루언서 소개비 % 초안 (매장을 등록할 때 입력합니다)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663440" y="5202936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663440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120640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방문 일정 2주치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8244688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준비할 것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244688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44688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8701888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3매장 등록 동행 (현장 또는 통화)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44688" y="34107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44688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8701888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이름이 들어간 사장님용 안내 한 장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8244688" y="430682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44688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8701888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링크 발송, 결제, 정산, 환불, CS 전부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8244688" y="52029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44688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8701888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매장별 판매와 사용 숫자 공유. 8주 뒤 함께 판정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손님은 화면 네 장이면 끝납니다. 그래서 매장이 올리면 팔립니다.</a:t>
            </a:r>
            <a:endParaRPr lang="en-US" sz="25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396" y="1811589"/>
            <a:ext cx="1787832" cy="341770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홈에서 내 동네 기준으로 이용권이 뜹니다. 카톡 카드와 네이버, 구글 검색에도 잡힙니다.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420" y="1811589"/>
            <a:ext cx="1787832" cy="341770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90824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3390824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정가와 할인가를 함께 보고 토스로 결제합니다. 앱 설치나 가입 강요 구간이 없습니다.</a:t>
            </a:r>
            <a:endParaRPr lang="en-US" sz="10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444" y="1811589"/>
            <a:ext cx="1787832" cy="341770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095848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6095848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QR을 보여 주거나 매장 PIN을 입력합니다. 매장은 폰 한 대로 확인합니다.</a:t>
            </a:r>
            <a:endParaRPr lang="en-US" sz="10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9468" y="1811589"/>
            <a:ext cx="1787832" cy="341770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800871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찾기</a:t>
            </a:r>
            <a:endParaRPr lang="en-US" sz="1400" dirty="0"/>
          </a:p>
        </p:txBody>
      </p:sp>
      <p:sp>
        <p:nvSpPr>
          <p:cNvPr id="18" name="Text 11"/>
          <p:cNvSpPr txBox="1"/>
          <p:nvPr/>
        </p:nvSpPr>
        <p:spPr>
          <a:xfrm>
            <a:off x="8800871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페이지(유어샵)가 남습니다. 안 쓴 이용권은 100% 자동 환불이라 응대가 매장이나 대행사로 오지 않습니다.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사장님, 인플루언서, 귀사가 각각 하는 일을 한 장에 놓았습니다.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열이 만나는 자리는 하나, 손님의 결제입니다. 돈을 걷거나 나누는 사람은 셋 중 아무도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252728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귀사가 준 매장 코드로 가입 → 매장 주인 (등록증 확인)</a:t>
            </a:r>
            <a:endParaRPr lang="en-US" sz="1030" dirty="0"/>
          </a:p>
        </p:txBody>
      </p:sp>
      <p:sp>
        <p:nvSpPr>
          <p:cNvPr id="14" name="Shape 11"/>
          <p:cNvSpPr/>
          <p:nvPr/>
        </p:nvSpPr>
        <p:spPr>
          <a:xfrm>
            <a:off x="914400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252728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 등록 (본인만, 첫 정산 전까지)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914400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252728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할인율·수량·기간 승인 또는 위임</a:t>
            </a:r>
            <a:endParaRPr lang="en-US" sz="1030" dirty="0"/>
          </a:p>
        </p:txBody>
      </p:sp>
      <p:sp>
        <p:nvSpPr>
          <p:cNvPr id="20" name="Shape 17"/>
          <p:cNvSpPr/>
          <p:nvPr/>
        </p:nvSpPr>
        <p:spPr>
          <a:xfrm>
            <a:off x="914400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252728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오면 QR 한 번 찍기</a:t>
            </a:r>
            <a:endParaRPr lang="en-US" sz="1030" dirty="0"/>
          </a:p>
        </p:txBody>
      </p:sp>
      <p:sp>
        <p:nvSpPr>
          <p:cNvPr id="23" name="Shape 20"/>
          <p:cNvSpPr/>
          <p:nvPr/>
        </p:nvSpPr>
        <p:spPr>
          <a:xfrm>
            <a:off x="914400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4400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252728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정산 확인</a:t>
            </a:r>
            <a:endParaRPr lang="en-US" sz="1030" dirty="0"/>
          </a:p>
        </p:txBody>
      </p:sp>
      <p:sp>
        <p:nvSpPr>
          <p:cNvPr id="26" name="Shape 23"/>
          <p:cNvSpPr/>
          <p:nvPr/>
        </p:nvSpPr>
        <p:spPr>
          <a:xfrm>
            <a:off x="914400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52728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몫은 유어딜이 보냄 (옮길 돈 없음)</a:t>
            </a:r>
            <a:endParaRPr lang="en-US" sz="1030" dirty="0"/>
          </a:p>
        </p:txBody>
      </p:sp>
      <p:sp>
        <p:nvSpPr>
          <p:cNvPr id="29" name="Shape 26"/>
          <p:cNvSpPr/>
          <p:nvPr/>
        </p:nvSpPr>
        <p:spPr>
          <a:xfrm>
            <a:off x="914400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하는 일은 QR 하나. 나머지는 위임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368698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68698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4368698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597298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97298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4935626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귀사가 보낸 코드 링크를 탭 → 가입, 즉시 매칭</a:t>
            </a:r>
            <a:endParaRPr lang="en-US" sz="1030" dirty="0"/>
          </a:p>
        </p:txBody>
      </p:sp>
      <p:sp>
        <p:nvSpPr>
          <p:cNvPr id="37" name="Shape 34"/>
          <p:cNvSpPr/>
          <p:nvPr/>
        </p:nvSpPr>
        <p:spPr>
          <a:xfrm>
            <a:off x="4597298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97298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4935626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왔다면 마이페이지에서 코드 입력)</a:t>
            </a:r>
            <a:endParaRPr lang="en-US" sz="1030" dirty="0"/>
          </a:p>
        </p:txBody>
      </p:sp>
      <p:sp>
        <p:nvSpPr>
          <p:cNvPr id="40" name="Shape 37"/>
          <p:cNvSpPr/>
          <p:nvPr/>
        </p:nvSpPr>
        <p:spPr>
          <a:xfrm>
            <a:off x="4597298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597298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4935626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 매장 단위 링크 (복사·카톡 공유)</a:t>
            </a:r>
            <a:endParaRPr lang="en-US" sz="1030" dirty="0"/>
          </a:p>
        </p:txBody>
      </p:sp>
      <p:sp>
        <p:nvSpPr>
          <p:cNvPr id="43" name="Shape 40"/>
          <p:cNvSpPr/>
          <p:nvPr/>
        </p:nvSpPr>
        <p:spPr>
          <a:xfrm>
            <a:off x="4597298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9729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4935626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콘텐츠와 유어샵에 링크</a:t>
            </a:r>
            <a:endParaRPr lang="en-US" sz="1030" dirty="0"/>
          </a:p>
        </p:txBody>
      </p:sp>
      <p:sp>
        <p:nvSpPr>
          <p:cNvPr id="46" name="Shape 43"/>
          <p:cNvSpPr/>
          <p:nvPr/>
        </p:nvSpPr>
        <p:spPr>
          <a:xfrm>
            <a:off x="4597298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597298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4935626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사용 후 확정, 매월 1일 유어딜이 지급</a:t>
            </a:r>
            <a:endParaRPr lang="en-US" sz="1030" dirty="0"/>
          </a:p>
        </p:txBody>
      </p:sp>
      <p:sp>
        <p:nvSpPr>
          <p:cNvPr id="49" name="Shape 46"/>
          <p:cNvSpPr/>
          <p:nvPr/>
        </p:nvSpPr>
        <p:spPr>
          <a:xfrm>
            <a:off x="4597298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97298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4935626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원천징수는 유어딜이 계산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4597298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97298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%는 매장 등록 때 정한 값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8051597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051597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(대행사)</a:t>
            </a:r>
            <a:endParaRPr lang="en-US" sz="1250" dirty="0"/>
          </a:p>
        </p:txBody>
      </p:sp>
      <p:sp>
        <p:nvSpPr>
          <p:cNvPr id="56" name="Shape 53"/>
          <p:cNvSpPr/>
          <p:nvPr/>
        </p:nvSpPr>
        <p:spPr>
          <a:xfrm>
            <a:off x="8051597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8280197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80197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59" name="Text 56"/>
          <p:cNvSpPr txBox="1"/>
          <p:nvPr/>
        </p:nvSpPr>
        <p:spPr>
          <a:xfrm>
            <a:off x="8618525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계정 (사업자 인증 10분)</a:t>
            </a:r>
            <a:endParaRPr lang="en-US" sz="1030" dirty="0"/>
          </a:p>
        </p:txBody>
      </p:sp>
      <p:sp>
        <p:nvSpPr>
          <p:cNvPr id="60" name="Shape 57"/>
          <p:cNvSpPr/>
          <p:nvPr/>
        </p:nvSpPr>
        <p:spPr>
          <a:xfrm>
            <a:off x="8280197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80197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2" name="Text 59"/>
          <p:cNvSpPr txBox="1"/>
          <p:nvPr/>
        </p:nvSpPr>
        <p:spPr>
          <a:xfrm>
            <a:off x="8618525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"중개"로 등록 → 5%, 코드 자동 생성</a:t>
            </a:r>
            <a:endParaRPr lang="en-US" sz="1030" dirty="0"/>
          </a:p>
        </p:txBody>
      </p:sp>
      <p:sp>
        <p:nvSpPr>
          <p:cNvPr id="63" name="Shape 60"/>
          <p:cNvSpPr/>
          <p:nvPr/>
        </p:nvSpPr>
        <p:spPr>
          <a:xfrm>
            <a:off x="8280197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80197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5" name="Text 62"/>
          <p:cNvSpPr txBox="1"/>
          <p:nvPr/>
        </p:nvSpPr>
        <p:spPr>
          <a:xfrm>
            <a:off x="8618525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 %와 소개비 % 입력, 사장님께 코드</a:t>
            </a:r>
            <a:endParaRPr lang="en-US" sz="1030" dirty="0"/>
          </a:p>
        </p:txBody>
      </p:sp>
      <p:sp>
        <p:nvSpPr>
          <p:cNvPr id="66" name="Shape 63"/>
          <p:cNvSpPr/>
          <p:nvPr/>
        </p:nvSpPr>
        <p:spPr>
          <a:xfrm>
            <a:off x="8280197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80197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68" name="Text 65"/>
          <p:cNvSpPr txBox="1"/>
          <p:nvPr/>
        </p:nvSpPr>
        <p:spPr>
          <a:xfrm>
            <a:off x="8618525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2~3개 열기 (사진·정가·판매가·기간)</a:t>
            </a:r>
            <a:endParaRPr lang="en-US" sz="1030" dirty="0"/>
          </a:p>
        </p:txBody>
      </p:sp>
      <p:sp>
        <p:nvSpPr>
          <p:cNvPr id="69" name="Shape 66"/>
          <p:cNvSpPr/>
          <p:nvPr/>
        </p:nvSpPr>
        <p:spPr>
          <a:xfrm>
            <a:off x="8280197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80197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71" name="Text 68"/>
          <p:cNvSpPr txBox="1"/>
          <p:nvPr/>
        </p:nvSpPr>
        <p:spPr>
          <a:xfrm>
            <a:off x="8618525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인플루언서 골라 코드 링크 발송</a:t>
            </a:r>
            <a:endParaRPr lang="en-US" sz="1030" dirty="0"/>
          </a:p>
        </p:txBody>
      </p:sp>
      <p:sp>
        <p:nvSpPr>
          <p:cNvPr id="72" name="Shape 69"/>
          <p:cNvSpPr/>
          <p:nvPr/>
        </p:nvSpPr>
        <p:spPr>
          <a:xfrm>
            <a:off x="8280197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80197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74" name="Text 71"/>
          <p:cNvSpPr txBox="1"/>
          <p:nvPr/>
        </p:nvSpPr>
        <p:spPr>
          <a:xfrm>
            <a:off x="8618525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대시보드에서 매장별·인플루언서별 성과와 내 몫</a:t>
            </a:r>
            <a:endParaRPr lang="en-US" sz="1030" dirty="0"/>
          </a:p>
        </p:txBody>
      </p:sp>
      <p:sp>
        <p:nvSpPr>
          <p:cNvPr id="75" name="Shape 72"/>
          <p:cNvSpPr/>
          <p:nvPr/>
        </p:nvSpPr>
        <p:spPr>
          <a:xfrm>
            <a:off x="8280197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80197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유어딜에 내는 돈 0. 귀사 몫은 유어딜이 송금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질문에 답하고, 시작하는 방법을 남깁니다.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65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수수료가 두 번 나가나요?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6771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아닙니다. 유어딜이 떼는 것은 중개 매장 5% 하나뿐입니다. 귀사 몫은 매장 몫 95% 안에서 등록 때 정한 %이고, 유어딜이 원천징수를 계산해 귀사 계좌로 직접 보냅니다. 매장에 청구할 일이 없습니다.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017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계정을 만들면 우리 관계는요?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31927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양도가 아니라 권한 변경입니다. 상품, 주문, 리뷰, 정산 이력은 매장에 그대로 남고, 귀사는 운영자로 계속 일할 수 있습니다.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69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유어딜에 내는 돈이 있나요?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437083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가입비, 월 이용료, 매장당 등록비 전부 없습니다. 매장에서 팔린 만큼만 유어딜 수수료가 나갑니다.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120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정산은 언제 되나요?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4223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사용한 이용권만 주간 정산으로 매장 계좌에 들어옵니다. 안 쓴 이용권은 손님에게 자동 환불됩니다.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309360" y="1828800"/>
            <a:ext cx="5196535" cy="4160520"/>
          </a:xfrm>
          <a:prstGeom prst="roundRect">
            <a:avLst>
              <a:gd name="adj" fmla="val 307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20299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29400" y="2377440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6294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086600" y="237744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계정을 만드십시오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86600" y="2660904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별도의 대행사 가입 절차가 없습니다. 귀사도 매장과 같은 셀러 대시보드를 씁니다.</a:t>
            </a:r>
            <a:endParaRPr lang="en-US" sz="980" dirty="0"/>
          </a:p>
        </p:txBody>
      </p:sp>
      <p:sp>
        <p:nvSpPr>
          <p:cNvPr id="21" name="Shape 18"/>
          <p:cNvSpPr/>
          <p:nvPr/>
        </p:nvSpPr>
        <p:spPr>
          <a:xfrm>
            <a:off x="6629400" y="3282696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29400" y="3282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282696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중개로 등록하고, 두 %를 정하십시오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86600" y="3566160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중개를 고르면 5%. 그 자리에서 매장 코드가 생기고, 귀사 몫 %와 인플루언서 소개비 %를 정합니다. 둘 다 유어딜이 직접 보냅니다.</a:t>
            </a:r>
            <a:endParaRPr lang="en-US" sz="980" dirty="0"/>
          </a:p>
        </p:txBody>
      </p:sp>
      <p:sp>
        <p:nvSpPr>
          <p:cNvPr id="25" name="Shape 22"/>
          <p:cNvSpPr/>
          <p:nvPr/>
        </p:nvSpPr>
        <p:spPr>
          <a:xfrm>
            <a:off x="6629400" y="4187952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62940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7086600" y="4187952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코드를 드리십시오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086600" y="4471416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본인 카카오로 가입하며 그 코드를 넣으면 매장 주인이 됩니다. 등록증 확인은 그대로이고, 첫 정산 전까지만 하시면 됩니다. 그 전에도 이용권은 팔립니다.</a:t>
            </a:r>
            <a:endParaRPr lang="en-US" sz="980" dirty="0"/>
          </a:p>
        </p:txBody>
      </p:sp>
      <p:sp>
        <p:nvSpPr>
          <p:cNvPr id="29" name="Shape 26"/>
          <p:cNvSpPr/>
          <p:nvPr/>
        </p:nvSpPr>
        <p:spPr>
          <a:xfrm>
            <a:off x="6629400" y="5084064"/>
            <a:ext cx="455645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629400" y="5120640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몇 곳의 이름과 동네만 보내 주세요. 하루 안에 확인해 첫 방문 일정을 잡습니다.</a:t>
            </a:r>
            <a:endParaRPr lang="en-US" sz="95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5394960"/>
            <a:ext cx="137160" cy="13716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6876288" y="5340096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  카카오톡 채널</a:t>
            </a:r>
            <a:endParaRPr lang="en-US" sz="1050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5559552"/>
            <a:ext cx="137160" cy="137160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6876288" y="5504688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05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5724144"/>
            <a:ext cx="137160" cy="13716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6876288" y="5669280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050" dirty="0"/>
          </a:p>
        </p:txBody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5888736"/>
            <a:ext cx="137160" cy="137160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6876288" y="5833872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리스터코퍼레이션, 사업자등록번호 479-09-02930</a:t>
            </a:r>
            <a:endParaRPr lang="en-US" sz="850" dirty="0"/>
          </a:p>
        </p:txBody>
      </p:sp>
      <p:sp>
        <p:nvSpPr>
          <p:cNvPr id="39" name="Text 32"/>
          <p:cNvSpPr txBox="1"/>
          <p:nvPr/>
        </p:nvSpPr>
        <p:spPr>
          <a:xfrm>
            <a:off x="685800" y="6053328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문서의 요율(직접 10%, 중개 5%)과 권한 범위는 2026년 9월 13일 라이브 설정값입니다. 요율은 어드민 조정값이고, 평균가와 매장 수는 같은 날 실측입니다.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2026-09-19T18:25:50Z</dcterms:created>
  <dcterms:modified xsi:type="dcterms:W3CDTF">2026-09-19T18:25:50Z</dcterms:modified>
</cp:coreProperties>
</file>