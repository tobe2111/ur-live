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5% / 95% / 0원. 2026-09-04 대표 확정.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평균가는 2026-09-07 공개 API 실측(meal 242건 avg 32,339 / stay 51건 avg 155,824).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확정: "중개사가 5% 내에서 가져가는 게 아니라 나머지 95%에서 매장이랑 거래". PG 2.75% 는 commission-budget.ts 실측 상수(플랫폼 부담).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 32,339 / 155,824 는 2026-09-07 활성 이용권 카탈로그 평균(실거래 평균 아님). 하루 1건은 가정. 보수율은 매장과 귀사의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사장님 덱 2장(한계 비교표)과 같은 논리. 체험단 = 사장님 덱 표지의 "무료 식사를 내드리고 후기를 받는"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오른쪽은 /seller/stores 실제 UI 를 예시 데이터로 렌더한 캡처(프로덕션 무접촉).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2026-09-13 실측. 오른쪽은 /admin/influencer-pool 데스크톱 캡처(capture-admin-shots.mjs — 이메일·IG·TT 블러).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필터·정렬·표 컬럼은 SellerInfluencersPage.tsx 실제 UI(카테고리 select, FOLLOWER_BANDS, sort 5종, 컬럼 프로필·팔로워·게시물·평균 조회·평균 댓글). 연락처 비공개 + 유어딜 발송은 같은 화면 안내 문구.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전용 링크·유어샵: influencer-deals(수락 시 링크 발급). 유어쇼츠: /videos + 이용권 상세 ProductShortsField. 결제 기준 커미션: order-commissions.ts. 채널별 기대는 운영 가이드이지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 (마스킹: 계좌 ****1234 · 등록번호 끝 4자리 · 대표자명 첫 글자 · 주소/연락처 null · 계좌 변경/사업자정보 수정/탈퇴 403). 오른쪽은 /seller/operators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"초기입니다(337 중 실제 1)" 블록 제거(대표 — 사장님 덱과 같은 판단). 귀속 미추적은 SellerOperatingSummaryPage 헤더 주석 그대로. 오른쪽은 /seller/operating 실제 UI + 예시 데이터.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 채널 변경은 POST /api/seller/stores/:id/channel (소유자만) + 어드민.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모으고 대신 운영해 주실 파트너를 찾습니다. 유어딜은 중개 매장에서 5%만 받고, 나머지는 매장과 귀사가 정합니다.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17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소개해 주시면,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5%만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받습니다.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95%는 매장 몫입니다. 그 안에서 매장과 직접 거래하십시오. 귀사의 보수를 유어딜이 정하지 않고, 상한도 두지 않습니다.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676656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귀사와의 거래 재원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입점비, 월정액,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미리 결제하고 매장에 찾아오는 이용권을 팝니다. 식당, 뷰티샵, 숙소가 팔고 있습니다. 매장을 모으고 대신 운영해 주실 파트너를 찾습니다.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바쁘실 테니, 한 장으로 먼저 정리했습니다.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하나가 곧 상품입니다.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3630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(241개)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2702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44714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평균가. 식사의 4.8배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111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13일 urdeal.kr 활성 이용권 337개의 카탈로그 평균가. 실거래 평균이 아니라 가격대 참고치입니다.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어디로 갈까요? 유어딜 몫은 5%에서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단순해서 흐릴 것이 없습니다. 카드 결제 수수료까지 같은 그림에 적었습니다.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17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5%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입점은 10%)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귀사의 보수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321040" y="382219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직접 정하는 금액. 유어딜은 이 거래의 당사자가 아니고, 상한도 두지 않습니다.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4288536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4535424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정하는 %. 귀속과 지급은 유어딜이 자동 처리합니다.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"직접 입점 10%와 중개 5%의 차액 5%가 대행사 몫이다."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8" name="Text 32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차액은 유어딜이 덜 받는 것입니다. 매장에 여유를 남겨 귀사가 그 안에서 거래하시라는 뜻입니다. 귀사의 단가는 유어딜이 아니라 귀사와 매장이 정합니다.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85800" y="599846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정산은 매장 계좌로만 갑니다. 귀사 보수는 매장이 귀사에게 직접 지급하고, 유어딜 장부에는 그 지급이 한 줄도 등장하지 않습니다.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귀사에게 얼마가 되는지, 가정까지 함께 적었습니다.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12064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곳, 한 달 (바꿔서 다시 계산하셔도 됩니다)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(라이브 실측)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470148" y="246888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 (하루 1건 가정)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0148" y="284378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21868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거래액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0148" y="321868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3566160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593592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70148" y="3593592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48,617원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470148" y="3968496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923,714원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470148" y="434340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97,233원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귀사 보수 (3% 예시)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470148" y="471830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29,170원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09320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470148" y="509320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797,311원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5559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3%는 유어딜이 정한 값이 아니라 계산을 보여 드리려고 넣은 값입니다. 2%로도, 5%로도, 매장별로 다르게도 하실 수 있습니다.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080760" y="201168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수를 늘리면 (같은 가정)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거래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90956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거래액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923544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61320" y="228600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3% 가정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080760" y="256032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0807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9951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300건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90956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972만원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23544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924만원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61320" y="2615184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29만원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080760" y="2999232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807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30곳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9951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900건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790956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2,917만원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923544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2,771만원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61320" y="3035808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88만원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080760" y="3419856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989320" y="3419856"/>
            <a:ext cx="5608015" cy="420624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0807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100곳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9951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3,000건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790956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9,723만원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92354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9,237만원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61320" y="3456432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292만원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080760" y="384048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0807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300곳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9951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9,000건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90956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9,170만원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923544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7,711만원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61320" y="3877056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875만원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6080760" y="4261104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080760" y="4617720"/>
            <a:ext cx="5425135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355080" y="477316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가장 큰 변수입니다</a:t>
            </a:r>
            <a:endParaRPr lang="en-US" sz="1250" dirty="0"/>
          </a:p>
        </p:txBody>
      </p:sp>
      <p:sp>
        <p:nvSpPr>
          <p:cNvPr id="61" name="Text 58"/>
          <p:cNvSpPr txBox="1"/>
          <p:nvPr/>
        </p:nvSpPr>
        <p:spPr>
          <a:xfrm>
            <a:off x="6355080" y="507492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이용권의 평균가는 155,824원으로 식사의 4.8배입니다. 같은 품을 들여 매장을 붙인다면 숙소와 뷰티 쪽이 식당보다 훨씬 큽니다. 위 표의 모든 숫자가 그만큼 곱해집니다.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하시는 이유도 숫자에 있습니다. 광고비를 먼저 내지 않으니까요.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보수 3% (계약 예시)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9,300원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9,300원이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5" name="Text 30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9" name="Text 33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3" name="Text 36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이미 써 본 방식과 나란히 놓으면, 설명이 짧아집니다.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무료 식사를 내드리고 후기를 받는 구조이고, 광고는 노출을 삽니다. 유어딜은 손님이 결제한 이용권만 세고, 그 뒤에만 수수료가 나갑니다. 사장님 앞에서 이 표 한 장이면 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85800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" y="3063240"/>
            <a:ext cx="3454298" cy="20116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· 블로그 마케팅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661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34440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 제공 + 대행비 선지출</a:t>
            </a:r>
            <a:endParaRPr lang="en-US" sz="11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18795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노출 수·방문자 수</a:t>
            </a:r>
            <a:endParaRPr lang="en-US" sz="11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809744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34440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남지만 손님 결제는 확인 못 함</a:t>
            </a:r>
            <a:endParaRPr lang="en-US" sz="11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31536"/>
            <a:ext cx="182880" cy="1828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건당 비용이 먼저 나감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368698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4368698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Shape 14"/>
          <p:cNvSpPr/>
          <p:nvPr/>
        </p:nvSpPr>
        <p:spPr>
          <a:xfrm>
            <a:off x="4368698" y="3063240"/>
            <a:ext cx="3454298" cy="20116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4643018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 · 검색 광고</a:t>
            </a:r>
            <a:endParaRPr lang="en-US" sz="135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3018" y="3566160"/>
            <a:ext cx="182880" cy="1828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4917338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광고비 또는 클릭당 과금</a:t>
            </a:r>
            <a:endParaRPr lang="en-US" sz="110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3018" y="4187952"/>
            <a:ext cx="182880" cy="18288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4917338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클릭·노출</a:t>
            </a:r>
            <a:endParaRPr lang="en-US" sz="11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3018" y="4809744"/>
            <a:ext cx="182880" cy="18288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4917338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끄면 같이 끝남</a:t>
            </a:r>
            <a:endParaRPr lang="en-US" sz="11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3018" y="5431536"/>
            <a:ext cx="182880" cy="18288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4917338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위에 광고비가 얹힘</a:t>
            </a:r>
            <a:endParaRPr lang="en-US" sz="1100" dirty="0"/>
          </a:p>
        </p:txBody>
      </p:sp>
      <p:sp>
        <p:nvSpPr>
          <p:cNvPr id="31" name="Shape 20"/>
          <p:cNvSpPr/>
          <p:nvPr/>
        </p:nvSpPr>
        <p:spPr>
          <a:xfrm>
            <a:off x="8051597" y="2697480"/>
            <a:ext cx="3454298" cy="3200400"/>
          </a:xfrm>
          <a:prstGeom prst="roundRect">
            <a:avLst>
              <a:gd name="adj" fmla="val 4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32" name="Shape 21"/>
          <p:cNvSpPr/>
          <p:nvPr/>
        </p:nvSpPr>
        <p:spPr>
          <a:xfrm>
            <a:off x="8051597" y="2697480"/>
            <a:ext cx="3454298" cy="566928"/>
          </a:xfrm>
          <a:prstGeom prst="roundRect">
            <a:avLst>
              <a:gd name="adj" fmla="val 22581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8051597" y="3063240"/>
            <a:ext cx="3454298" cy="201168"/>
          </a:xfrm>
          <a:prstGeom prst="rect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8325917" y="2697480"/>
            <a:ext cx="29056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이용권</a:t>
            </a:r>
            <a:endParaRPr lang="en-US" sz="135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5917" y="3566160"/>
            <a:ext cx="182880" cy="182880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8600237" y="3520440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0원, 팔린 뒤에만 수수료</a:t>
            </a:r>
            <a:endParaRPr lang="en-US" sz="1100" dirty="0"/>
          </a:p>
        </p:txBody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25917" y="4187952"/>
            <a:ext cx="182880" cy="182880"/>
          </a:xfrm>
          <a:prstGeom prst="rect">
            <a:avLst/>
          </a:prstGeom>
        </p:spPr>
      </p:pic>
      <p:sp>
        <p:nvSpPr>
          <p:cNvPr id="38" name="Text 25"/>
          <p:cNvSpPr txBox="1"/>
          <p:nvPr/>
        </p:nvSpPr>
        <p:spPr>
          <a:xfrm>
            <a:off x="8600237" y="4142232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결과는 결제 건수와 입금액</a:t>
            </a:r>
            <a:endParaRPr lang="en-US" sz="1100" dirty="0"/>
          </a:p>
        </p:txBody>
      </p:sp>
      <p:pic>
        <p:nvPicPr>
          <p:cNvPr id="3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25917" y="4809744"/>
            <a:ext cx="182880" cy="182880"/>
          </a:xfrm>
          <a:prstGeom prst="rect">
            <a:avLst/>
          </a:prstGeom>
        </p:spPr>
      </p:pic>
      <p:sp>
        <p:nvSpPr>
          <p:cNvPr id="40" name="Text 26"/>
          <p:cNvSpPr txBox="1"/>
          <p:nvPr/>
        </p:nvSpPr>
        <p:spPr>
          <a:xfrm>
            <a:off x="8600237" y="4764024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먼저 결제하고 가게에 옴</a:t>
            </a:r>
            <a:endParaRPr lang="en-US" sz="1100" dirty="0"/>
          </a:p>
        </p:txBody>
      </p:sp>
      <p:pic>
        <p:nvPicPr>
          <p:cNvPr id="4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25917" y="5431536"/>
            <a:ext cx="182880" cy="182880"/>
          </a:xfrm>
          <a:prstGeom prst="rect">
            <a:avLst/>
          </a:prstGeom>
        </p:spPr>
      </p:pic>
      <p:sp>
        <p:nvSpPr>
          <p:cNvPr id="42" name="Text 27"/>
          <p:cNvSpPr txBox="1"/>
          <p:nvPr/>
        </p:nvSpPr>
        <p:spPr>
          <a:xfrm>
            <a:off x="8600237" y="5385816"/>
            <a:ext cx="2631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미사용은 손님에게 100% 자동 환불</a:t>
            </a:r>
            <a:endParaRPr lang="en-US" sz="1100" dirty="0"/>
          </a:p>
        </p:txBody>
      </p:sp>
      <p:sp>
        <p:nvSpPr>
          <p:cNvPr id="43" name="Text 28"/>
          <p:cNvSpPr txBox="1"/>
          <p:nvPr/>
        </p:nvSpPr>
        <p:spPr>
          <a:xfrm>
            <a:off x="685800" y="5989320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체험단·광고의 항목은 일반적인 상품 구조를 요약한 것이고 업체마다 다릅니다. 유어딜 항목은 라이브 설정값입니다.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가지만 맞으면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685800" y="5806440"/>
            <a:ext cx="8229600" cy="502920"/>
          </a:xfrm>
          <a:prstGeom prst="roundRect">
            <a:avLst>
              <a:gd name="adj" fmla="val 254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914400" y="5806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"그 돈을 팔린 뒤에만 내는 걸로 바꾸자"가 통합니다.</a:t>
            </a:r>
            <a:endParaRPr lang="en-US" sz="10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10분이면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없이, 담당자 폰으로 끝납니다.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 선택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"중개·대행사에요"를 고르면 그 매장은 5%가 적용됩니다. 등록은 귀사 계정으로 해도 되지만, 정산 계좌는 사장님이 소유자가 된 뒤에만 넣을 수 있습니다(17장). 확인 PIN도 여기서.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  <p:sp>
        <p:nvSpPr>
          <p:cNvPr id="37" name="Shape 28"/>
          <p:cNvSpPr/>
          <p:nvPr/>
        </p:nvSpPr>
        <p:spPr>
          <a:xfrm>
            <a:off x="8732520" y="2240280"/>
            <a:ext cx="193967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8732520" y="2240280"/>
            <a:ext cx="1939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 검색으로 주소 자동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드릴 말씀 네 마디와, 거절에 대한 답 다섯 가지를 준비했습니다.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섭외부터 정산까지,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일은 화면 안에서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876288" y="1069848"/>
            <a:ext cx="4702759" cy="2168186"/>
          </a:xfrm>
          <a:prstGeom prst="roundRect">
            <a:avLst>
              <a:gd name="adj" fmla="val 59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43000"/>
            <a:ext cx="4556455" cy="2021882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6949440" y="3347762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풀 (실제 화면, 연락처는 가렸습니다)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9585655" y="1033272"/>
            <a:ext cx="1396746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9585655" y="1033272"/>
            <a:ext cx="1396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연락처는 가렸습니다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6949440" y="373181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(2026-09-13 실측)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6949440" y="4006130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9455490" y="4006130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201,471명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6949440" y="4335314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150" dirty="0"/>
          </a:p>
        </p:txBody>
      </p:sp>
      <p:sp>
        <p:nvSpPr>
          <p:cNvPr id="39" name="Text 35"/>
          <p:cNvSpPr txBox="1"/>
          <p:nvPr/>
        </p:nvSpPr>
        <p:spPr>
          <a:xfrm>
            <a:off x="9455490" y="4335314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46,220명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6949440" y="4637066"/>
            <a:ext cx="455645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949440" y="4664498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9455490" y="4664498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6949440" y="4993682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150" dirty="0"/>
          </a:p>
        </p:txBody>
      </p:sp>
      <p:sp>
        <p:nvSpPr>
          <p:cNvPr id="44" name="Text 40"/>
          <p:cNvSpPr txBox="1"/>
          <p:nvPr/>
        </p:nvSpPr>
        <p:spPr>
          <a:xfrm>
            <a:off x="9455490" y="4993682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6949440" y="5322866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9455490" y="5322866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9,939명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6949440" y="5697770"/>
            <a:ext cx="4556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수만 보고 고르지 않으셔도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걸러 주는 기준이 화면에 있습니다.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85800" y="22860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407" y="2390607"/>
            <a:ext cx="193121" cy="19312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52728" y="228600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1252728" y="260604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맛집, 뷰티, 여행, 육아처럼 채널이 실제로 다루는 주제로 거릅니다. 매장 업종과 맞는 채널만 남습니다.</a:t>
            </a:r>
            <a:endParaRPr lang="en-US" sz="1080" dirty="0"/>
          </a:p>
        </p:txBody>
      </p:sp>
      <p:sp>
        <p:nvSpPr>
          <p:cNvPr id="10" name="Shape 6"/>
          <p:cNvSpPr/>
          <p:nvPr/>
        </p:nvSpPr>
        <p:spPr>
          <a:xfrm>
            <a:off x="685800" y="3154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07" y="3259287"/>
            <a:ext cx="193121" cy="19312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52728" y="315468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구간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1252728" y="34747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1천 미만부터 10만 이상까지 구간으로 봅니다. 동네 매장은 큰 채널보다 동네에서 읽히는 중간 채널이 맞습니다.</a:t>
            </a:r>
            <a:endParaRPr lang="en-US" sz="1080" dirty="0"/>
          </a:p>
        </p:txBody>
      </p:sp>
      <p:sp>
        <p:nvSpPr>
          <p:cNvPr id="14" name="Shape 9"/>
          <p:cNvSpPr/>
          <p:nvPr/>
        </p:nvSpPr>
        <p:spPr>
          <a:xfrm>
            <a:off x="685800" y="402336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07" y="4127967"/>
            <a:ext cx="193121" cy="1931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52728" y="40233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정렬 다섯 가지</a:t>
            </a:r>
            <a:endParaRPr lang="en-US" sz="1350" dirty="0"/>
          </a:p>
        </p:txBody>
      </p:sp>
      <p:sp>
        <p:nvSpPr>
          <p:cNvPr id="17" name="Text 11"/>
          <p:cNvSpPr txBox="1"/>
          <p:nvPr/>
        </p:nvSpPr>
        <p:spPr>
          <a:xfrm>
            <a:off x="1252728" y="434340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팔로워순, 평균 조회순, 게시물순, 댓글순, 추천순. 팔로워는 많은데 조회가 낮은 채널은 여기서 걸러집니다.</a:t>
            </a:r>
            <a:endParaRPr lang="en-US" sz="1080" dirty="0"/>
          </a:p>
        </p:txBody>
      </p:sp>
      <p:sp>
        <p:nvSpPr>
          <p:cNvPr id="18" name="Shape 12"/>
          <p:cNvSpPr/>
          <p:nvPr/>
        </p:nvSpPr>
        <p:spPr>
          <a:xfrm>
            <a:off x="685800" y="489204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407" y="4996647"/>
            <a:ext cx="193121" cy="19312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52728" y="489204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표에 보이는 것</a:t>
            </a:r>
            <a:endParaRPr lang="en-US" sz="1350" dirty="0"/>
          </a:p>
        </p:txBody>
      </p:sp>
      <p:sp>
        <p:nvSpPr>
          <p:cNvPr id="21" name="Text 14"/>
          <p:cNvSpPr txBox="1"/>
          <p:nvPr/>
        </p:nvSpPr>
        <p:spPr>
          <a:xfrm>
            <a:off x="1252728" y="521208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프로필, 팔로워, 게시물 수, 평균 조회, 평균 댓글. 연락처는 대행사에게도 안 보이고, 제안은 유어딜이 대신 보냅니다.</a:t>
            </a:r>
            <a:endParaRPr lang="en-US" sz="1080" dirty="0"/>
          </a:p>
        </p:txBody>
      </p:sp>
      <p:sp>
        <p:nvSpPr>
          <p:cNvPr id="22" name="Shape 15"/>
          <p:cNvSpPr/>
          <p:nvPr/>
        </p:nvSpPr>
        <p:spPr>
          <a:xfrm>
            <a:off x="685800" y="5760720"/>
            <a:ext cx="6583680" cy="438912"/>
          </a:xfrm>
          <a:prstGeom prst="roundRect">
            <a:avLst>
              <a:gd name="adj" fmla="val 291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14400" y="576072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출처: </a:t>
            </a:r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수집한 인플루언서 DB 201,471명 (2026-09-13 실측). 채널 활동 지표는 주기적으로 다시 잽니다.</a:t>
            </a:r>
            <a:endParaRPr lang="en-US" sz="10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5382" y="843022"/>
            <a:ext cx="2944664" cy="562915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183880" y="6364224"/>
            <a:ext cx="31676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(/seller/influencers, 예시 데이터)</a:t>
            </a:r>
            <a:endParaRPr lang="en-US" sz="1050" dirty="0"/>
          </a:p>
        </p:txBody>
      </p:sp>
      <p:sp>
        <p:nvSpPr>
          <p:cNvPr id="26" name="Shape 18"/>
          <p:cNvSpPr/>
          <p:nvPr/>
        </p:nvSpPr>
        <p:spPr>
          <a:xfrm>
            <a:off x="8092440" y="2331720"/>
            <a:ext cx="2265426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7" name="Text 19"/>
          <p:cNvSpPr txBox="1"/>
          <p:nvPr/>
        </p:nvSpPr>
        <p:spPr>
          <a:xfrm>
            <a:off x="8092440" y="2331720"/>
            <a:ext cx="226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· 팔로워 구간 · 정렬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8092440" y="4114800"/>
            <a:ext cx="1288161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9" name="Text 21"/>
          <p:cNvSpPr txBox="1"/>
          <p:nvPr/>
        </p:nvSpPr>
        <p:spPr>
          <a:xfrm>
            <a:off x="8092440" y="4114800"/>
            <a:ext cx="12881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골라서 제안 접수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채널마다 하는 일이 다릅니다. 이용권 링크 하나가 네 곳에 실립니다.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채널이든 인플루언서에게는 전용 링크와 유어샵이 생기고, 그 링크로 들어온 결제만 소개비로 잡힙니다. 노출을 세지 않고 결제를 셉니다.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41832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94" y="2834274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41832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941832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"동네 + 메뉴" 검색에서 오래 남는 글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941832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41832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1289304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검색으로 찾는 손님에게 매장 이름을 먼저 보여 줍니다</a:t>
            </a:r>
            <a:endParaRPr lang="en-US" sz="1020" dirty="0"/>
          </a:p>
        </p:txBody>
      </p:sp>
      <p:sp>
        <p:nvSpPr>
          <p:cNvPr id="16" name="Shape 12"/>
          <p:cNvSpPr/>
          <p:nvPr/>
        </p:nvSpPr>
        <p:spPr>
          <a:xfrm>
            <a:off x="941832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41832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1289304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안의 이용권 링크가 결제로 이어집니다</a:t>
            </a:r>
            <a:endParaRPr lang="en-US" sz="1020" dirty="0"/>
          </a:p>
        </p:txBody>
      </p:sp>
      <p:sp>
        <p:nvSpPr>
          <p:cNvPr id="19" name="Shape 15"/>
          <p:cNvSpPr/>
          <p:nvPr/>
        </p:nvSpPr>
        <p:spPr>
          <a:xfrm>
            <a:off x="941832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41832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289304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쓴 글이 유효기간 동안 계속 팝니다</a:t>
            </a:r>
            <a:endParaRPr lang="en-US" sz="1020" dirty="0"/>
          </a:p>
        </p:txBody>
      </p:sp>
      <p:sp>
        <p:nvSpPr>
          <p:cNvPr id="22" name="Shape 18"/>
          <p:cNvSpPr/>
          <p:nvPr/>
        </p:nvSpPr>
        <p:spPr>
          <a:xfrm>
            <a:off x="3447974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3704006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368" y="2834274"/>
            <a:ext cx="201900" cy="2019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3704006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· 쇼츠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3704006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먹는 장면으로 설득하는 영상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3704006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3704006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3704006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4051478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설명란과 고정 댓글에 이용권 링크를 둡니다</a:t>
            </a:r>
            <a:endParaRPr lang="en-US" sz="1020" dirty="0"/>
          </a:p>
        </p:txBody>
      </p:sp>
      <p:sp>
        <p:nvSpPr>
          <p:cNvPr id="31" name="Shape 26"/>
          <p:cNvSpPr/>
          <p:nvPr/>
        </p:nvSpPr>
        <p:spPr>
          <a:xfrm>
            <a:off x="3704006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3704006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4051478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쇼츠는 매장 근처 시청자에게 짧게 닿습니다</a:t>
            </a:r>
            <a:endParaRPr lang="en-US" sz="1020" dirty="0"/>
          </a:p>
        </p:txBody>
      </p:sp>
      <p:sp>
        <p:nvSpPr>
          <p:cNvPr id="34" name="Shape 29"/>
          <p:cNvSpPr/>
          <p:nvPr/>
        </p:nvSpPr>
        <p:spPr>
          <a:xfrm>
            <a:off x="3704006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704006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4051478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하나로 여러 이용권을 함께 소개할 수 있습니다</a:t>
            </a:r>
            <a:endParaRPr lang="en-US" sz="1020" dirty="0"/>
          </a:p>
        </p:txBody>
      </p:sp>
      <p:sp>
        <p:nvSpPr>
          <p:cNvPr id="37" name="Shape 32"/>
          <p:cNvSpPr/>
          <p:nvPr/>
        </p:nvSpPr>
        <p:spPr>
          <a:xfrm>
            <a:off x="6210148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6466180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542" y="2834274"/>
            <a:ext cx="201900" cy="20190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66180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 · 릴스</a:t>
            </a:r>
            <a:endParaRPr lang="en-US" sz="1350" dirty="0"/>
          </a:p>
        </p:txBody>
      </p:sp>
      <p:sp>
        <p:nvSpPr>
          <p:cNvPr id="41" name="Text 35"/>
          <p:cNvSpPr txBox="1"/>
          <p:nvPr/>
        </p:nvSpPr>
        <p:spPr>
          <a:xfrm>
            <a:off x="6466180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감성과 단골 손님</a:t>
            </a:r>
            <a:endParaRPr lang="en-US" sz="1000" dirty="0"/>
          </a:p>
        </p:txBody>
      </p:sp>
      <p:sp>
        <p:nvSpPr>
          <p:cNvPr id="42" name="Text 36"/>
          <p:cNvSpPr txBox="1"/>
          <p:nvPr/>
        </p:nvSpPr>
        <p:spPr>
          <a:xfrm>
            <a:off x="6466180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43" name="Shape 37"/>
          <p:cNvSpPr/>
          <p:nvPr/>
        </p:nvSpPr>
        <p:spPr>
          <a:xfrm>
            <a:off x="6466180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6466180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45" name="Text 39"/>
          <p:cNvSpPr txBox="1"/>
          <p:nvPr/>
        </p:nvSpPr>
        <p:spPr>
          <a:xfrm>
            <a:off x="6813652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링크를 유어샵으로 둡니다</a:t>
            </a:r>
            <a:endParaRPr lang="en-US" sz="1020" dirty="0"/>
          </a:p>
        </p:txBody>
      </p:sp>
      <p:sp>
        <p:nvSpPr>
          <p:cNvPr id="46" name="Shape 40"/>
          <p:cNvSpPr/>
          <p:nvPr/>
        </p:nvSpPr>
        <p:spPr>
          <a:xfrm>
            <a:off x="6466180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6466180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48" name="Text 42"/>
          <p:cNvSpPr txBox="1"/>
          <p:nvPr/>
        </p:nvSpPr>
        <p:spPr>
          <a:xfrm>
            <a:off x="6813652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릴스와 스토리에서 이용권을 바로 안내합니다</a:t>
            </a:r>
            <a:endParaRPr lang="en-US" sz="1020" dirty="0"/>
          </a:p>
        </p:txBody>
      </p:sp>
      <p:sp>
        <p:nvSpPr>
          <p:cNvPr id="49" name="Shape 43"/>
          <p:cNvSpPr/>
          <p:nvPr/>
        </p:nvSpPr>
        <p:spPr>
          <a:xfrm>
            <a:off x="6466180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6466180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51" name="Text 45"/>
          <p:cNvSpPr txBox="1"/>
          <p:nvPr/>
        </p:nvSpPr>
        <p:spPr>
          <a:xfrm>
            <a:off x="6813652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동네 손님이면 결제가 납니다</a:t>
            </a:r>
            <a:endParaRPr lang="en-US" sz="1020" dirty="0"/>
          </a:p>
        </p:txBody>
      </p:sp>
      <p:sp>
        <p:nvSpPr>
          <p:cNvPr id="52" name="Shape 46"/>
          <p:cNvSpPr/>
          <p:nvPr/>
        </p:nvSpPr>
        <p:spPr>
          <a:xfrm>
            <a:off x="8972321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3" name="Shape 47"/>
          <p:cNvSpPr/>
          <p:nvPr/>
        </p:nvSpPr>
        <p:spPr>
          <a:xfrm>
            <a:off x="9228353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7716" y="2834274"/>
            <a:ext cx="201900" cy="201900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9228353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350" dirty="0"/>
          </a:p>
        </p:txBody>
      </p:sp>
      <p:sp>
        <p:nvSpPr>
          <p:cNvPr id="56" name="Text 49"/>
          <p:cNvSpPr txBox="1"/>
          <p:nvPr/>
        </p:nvSpPr>
        <p:spPr>
          <a:xfrm>
            <a:off x="9228353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페이지 안의 세로 영상</a:t>
            </a:r>
            <a:endParaRPr lang="en-US" sz="1000" dirty="0"/>
          </a:p>
        </p:txBody>
      </p:sp>
      <p:sp>
        <p:nvSpPr>
          <p:cNvPr id="57" name="Text 50"/>
          <p:cNvSpPr txBox="1"/>
          <p:nvPr/>
        </p:nvSpPr>
        <p:spPr>
          <a:xfrm>
            <a:off x="9228353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기대하나</a:t>
            </a:r>
            <a:endParaRPr lang="en-US" sz="1250" dirty="0"/>
          </a:p>
        </p:txBody>
      </p:sp>
      <p:sp>
        <p:nvSpPr>
          <p:cNvPr id="58" name="Shape 51"/>
          <p:cNvSpPr/>
          <p:nvPr/>
        </p:nvSpPr>
        <p:spPr>
          <a:xfrm>
            <a:off x="9228353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9228353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60" name="Text 53"/>
          <p:cNvSpPr txBox="1"/>
          <p:nvPr/>
        </p:nvSpPr>
        <p:spPr>
          <a:xfrm>
            <a:off x="9575825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영상이 실립니다</a:t>
            </a:r>
            <a:endParaRPr lang="en-US" sz="1020" dirty="0"/>
          </a:p>
        </p:txBody>
      </p:sp>
      <p:sp>
        <p:nvSpPr>
          <p:cNvPr id="61" name="Shape 54"/>
          <p:cNvSpPr/>
          <p:nvPr/>
        </p:nvSpPr>
        <p:spPr>
          <a:xfrm>
            <a:off x="9228353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9228353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3" name="Text 56"/>
          <p:cNvSpPr txBox="1"/>
          <p:nvPr/>
        </p:nvSpPr>
        <p:spPr>
          <a:xfrm>
            <a:off x="9575825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버튼으로 바로 결제합니다</a:t>
            </a:r>
            <a:endParaRPr lang="en-US" sz="1020" dirty="0"/>
          </a:p>
        </p:txBody>
      </p:sp>
      <p:sp>
        <p:nvSpPr>
          <p:cNvPr id="64" name="Shape 57"/>
          <p:cNvSpPr/>
          <p:nvPr/>
        </p:nvSpPr>
        <p:spPr>
          <a:xfrm>
            <a:off x="9228353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9228353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6" name="Text 59"/>
          <p:cNvSpPr txBox="1"/>
          <p:nvPr/>
        </p:nvSpPr>
        <p:spPr>
          <a:xfrm>
            <a:off x="9575825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채널 없이도 소개 커미션이 잡힙니다</a:t>
            </a:r>
            <a:endParaRPr lang="en-US" sz="10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분의 일주일입니다.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요약의 매장별 매출과 주문을 사장님께 보내고, 계약대로 청구합니다.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남에게 계정을 맡기죠?" 계약서가 아니라 시스템이 답합니다.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영업에서 가장 어려운 질문은 "왜 남에게 우리 가게 계정을 맡기느냐"입니다. 운영자(귀사)가 무엇을 할 수 있고 무엇이 막혀 있는지 화면으로 보여 드리면 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운영자(귀사)가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85800" y="283464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077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등록과 가격 설정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154680" y="2971800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9718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90779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대신 이용권을 만들고 운영합니다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322783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2552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주문과 예약 관리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154680" y="3319272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54680" y="33192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3931920" y="325526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운영 전부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357530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6027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154680" y="3666744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54680" y="366674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931920" y="360273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검색과 딜 제안까지 매장 대신 합니다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3922776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9502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 등록과 변경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3154680" y="4014216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54680" y="40142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3931920" y="39502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주인만. 사장님이 소유자가 되기 전엔 계좌가 비어 정산이 나가지 않습니다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4270248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42976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사업자정보 열람과 수정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3154680" y="4361688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54680" y="436168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3931920" y="42976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등록번호 끝 4자리, 대표자명 첫 글자만. 주소와 연락처는 안 보입니다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85800" y="461772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4645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3154680" y="4709160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4680" y="470916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3931920" y="46451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 할 수 있습니다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96519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5800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 회수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154680" y="5056632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54680" y="505663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3931920" y="49926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주인이 언제든. 올려 둔 이용권, 주문, 리뷰는 매장에 남습니다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85800" y="531266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5413248"/>
            <a:ext cx="7955280" cy="804672"/>
          </a:xfrm>
          <a:prstGeom prst="roundRect">
            <a:avLst>
              <a:gd name="adj" fmla="val 1590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5413248"/>
            <a:ext cx="7406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매장의 돈이 다른 곳으로 갈 수 있는 경로가 시스템에 없습니다. 사장님께 "제가 통장을 못 건드립니다"라고 말씀하시고 화면으로 보여 주시면 됩니다. 이 문장 하나가 계약서 열 장보다 잘 통합니다.</a:t>
            </a:r>
            <a:endParaRPr lang="en-US" sz="1050" dirty="0"/>
          </a:p>
        </p:txBody>
      </p:sp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8778240" y="2057400"/>
            <a:ext cx="1939671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8778240" y="2057400"/>
            <a:ext cx="1939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권한은 사장님이 언제든 회수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시작하실 때 유어딜이 곁에서 해 드리는 여섯 가지입니다.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소개서 (PDF 9장)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사용법, 자주 묻는 질문까지 담긴 사장님용 소개서를 드립니다. 대행사 이름을 넣어 드립니다.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2" name="Text 23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가지는 미리 말씀드립니다.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대행을 맡기 전에 아셔야 하는 경계입니다. 감추지 않겠습니다.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7772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560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운영자별 매출 귀속은 추적하지 않습니다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88036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숫자는 그 매장의 총액이고, 화면 자체가 그 사실을 문장으로 밝힙니다. "제가 만든 매출입니다"라고 쓸 수 있는 숫자는 드리지 않습니다. 방어 가능한 근거는 운영 시작 이후 구간뿐이고, 확정된 주문만 셉니다. 매장과 보수를 정하실 때 이 기준으로 정하시면 나중에 다툴 일이 없습니다.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4160520"/>
            <a:ext cx="7772400" cy="1325880"/>
          </a:xfrm>
          <a:prstGeom prst="roundRect">
            <a:avLst>
              <a:gd name="adj" fmla="val 96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43159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구조와 권한 설계는 코드로 확정되어 라이브에 있습니다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6177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95%의 경계, 정산계좌 차단, 운영 요약 화면은 만들겠다는 약속이 아니라 지금 작동하는 기능입니다. 바뀔 수 있는 것은 요율 수치이고, 어드민 조정값이라 파트너와 합의 없이 움직이지 않습니다.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5705856"/>
            <a:ext cx="0" cy="457200"/>
          </a:xfrm>
          <a:prstGeom prst="line">
            <a:avLst/>
          </a:prstGeom>
          <a:noFill/>
          <a:ln w="25400">
            <a:solidFill>
              <a:srgbClr val="1C69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566928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"중개사가 5% 내에서 가져가는 게 아니라, 나머지 95%에서 매장이랑 거래를 하는 거지. 5%는 중개사일 때 유어딜의 수수료인 거고."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59893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대표, 2026년 9월 4일 확정</a:t>
            </a:r>
            <a:endParaRPr lang="en-US" sz="9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요약. 화면이 그 경계를 직접 말합니다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곳만 해 보시죠. 8주에 열 곳이면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곳으로 시작해 한 달 정산이 실제로 도는 것을 보신 뒤 규모를 정하시길 권합니다. 숫자는 제안이고, 담당자 한 명 주 2일 기준입니다.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화면 네 장이면 끝납니다. 그래서 매장이 올리면 팔립니다.</a:t>
            </a:r>
            <a:endParaRPr lang="en-US" sz="2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질문에 답하고, 시작하는 방법을 남깁니다.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6771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귀사 보수는 매장이 귀사에게 직접 지급하고(세금계산서도 귀사와 매장 사이),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3192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귀사는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3708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120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422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309360" y="1828800"/>
            <a:ext cx="5196535" cy="4160520"/>
          </a:xfrm>
          <a:prstGeom prst="roundRect">
            <a:avLst>
              <a:gd name="adj" fmla="val 307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20299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629400" y="237744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29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086600" y="237744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계정을 만드십시오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66090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별도의 대행사 가입 절차가 없습니다. 귀사도 매장과 같은 셀러 대시보드를 씁니다.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6629400" y="3282696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29400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3282696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중개로 등록하고, 운영비는 매장과 합의하십시오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566160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중개를 고르면 5%. 귀사 보수는 95% 안에서 매장과 정하고, 매장이 귀사에게 직접 지급합니다.</a:t>
            </a:r>
            <a:endParaRPr lang="en-US" sz="980" dirty="0"/>
          </a:p>
        </p:txBody>
      </p:sp>
      <p:sp>
        <p:nvSpPr>
          <p:cNvPr id="24" name="Shape 21"/>
          <p:cNvSpPr/>
          <p:nvPr/>
        </p:nvSpPr>
        <p:spPr>
          <a:xfrm>
            <a:off x="6629400" y="418795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2940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18795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소유자로 세우십시오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47141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 urdeal.kr/store/find 에서 등록증을 올리면 유어딜이 확인해 소유자로 지정합니다. 그 전엔 정산 계좌가 없어 정산이 나가지 않습니다.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6629400" y="5084064"/>
            <a:ext cx="455645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29400" y="512064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몇 곳의 이름과 동네만 보내 주세요. 하루 안에 확인해 첫 방문 일정을 잡습니다.</a:t>
            </a:r>
            <a:endParaRPr lang="en-US" sz="9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394960"/>
            <a:ext cx="137160" cy="13716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876288" y="5340096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  카카오톡 채널</a:t>
            </a:r>
            <a:endParaRPr lang="en-US" sz="105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5559552"/>
            <a:ext cx="137160" cy="13716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876288" y="5504688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05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724144"/>
            <a:ext cx="137160" cy="13716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876288" y="5669280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050" dirty="0"/>
          </a:p>
        </p:txBody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5888736"/>
            <a:ext cx="137160" cy="1371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6876288" y="5833872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850" dirty="0"/>
          </a:p>
        </p:txBody>
      </p:sp>
      <p:sp>
        <p:nvSpPr>
          <p:cNvPr id="38" name="Text 31"/>
          <p:cNvSpPr txBox="1"/>
          <p:nvPr/>
        </p:nvSpPr>
        <p:spPr>
          <a:xfrm>
            <a:off x="685800" y="60533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문서의 요율(직접 10%, 중개 5%)과 권한 범위는 2026년 9월 13일 라이브 설정값입니다. 요율은 어드민 조정값이고, 평균가와 매장 수는 같은 날 실측입니다.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2026-09-14T07:51:39Z</dcterms:created>
  <dcterms:modified xsi:type="dcterms:W3CDTF">2026-09-14T07:51:39Z</dcterms:modified>
</cp:coreProperties>
</file>