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E6B68"/>
                </a:solidFill>
                <a:latin typeface="Pretendard"/>
              </a:defRPr>
            </a:pPr>
            <a:r>
              <a:rPr sz="1100" b="0" i="0" u="none" strike="noStrike">
                <a:solidFill>
                  <a:srgbClr val="6E6B68"/>
                </a:solidFill>
                <a:latin typeface="Pretendard"/>
              </a:rPr>
              <a:t>매장 수별 대행사 월 수입 (매장당 월 매출 120만원 가정)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보수 10%</c:v>
                </c:pt>
              </c:strCache>
            </c:strRef>
          </c:tx>
          <c:spPr>
            <a:solidFill>
              <a:srgbClr val="1C69EF"/>
            </a:solidFill>
            <a:effectLst/>
          </c:spPr>
          <c:invertIfNegative val="0"/>
          <c:dLbls>
            <c:numFmt formatCode="#,##0&quot;만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81C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5곳</c:v>
                  </c:pt>
                  <c:pt idx="1">
                    <c:v>10곳</c:v>
                  </c:pt>
                  <c:pt idx="2">
                    <c:v>20곳</c:v>
                  </c:pt>
                  <c:pt idx="3">
                    <c:v>30곳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120</c:v>
                </c:pt>
                <c:pt idx="2">
                  <c:v>240</c:v>
                </c:pt>
                <c:pt idx="3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보수 15%</c:v>
                </c:pt>
              </c:strCache>
            </c:strRef>
          </c:tx>
          <c:spPr>
            <a:solidFill>
              <a:srgbClr val="8FB4F5"/>
            </a:solidFill>
            <a:effectLst/>
          </c:spPr>
          <c:invertIfNegative val="0"/>
          <c:dLbls>
            <c:numFmt formatCode="#,##0&quot;만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81C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5곳</c:v>
                  </c:pt>
                  <c:pt idx="1">
                    <c:v>10곳</c:v>
                  </c:pt>
                  <c:pt idx="2">
                    <c:v>20곳</c:v>
                  </c:pt>
                  <c:pt idx="3">
                    <c:v>30곳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90</c:v>
                </c:pt>
                <c:pt idx="1">
                  <c:v>180</c:v>
                </c:pt>
                <c:pt idx="2">
                  <c:v>360</c:v>
                </c:pt>
                <c:pt idx="3">
                  <c:v>540</c:v>
                </c:pt>
              </c:numCache>
            </c:numRef>
          </c:val>
        </c:ser>
        <c:dLbls>
          <c:numFmt formatCode="#,##0&quot;만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6181C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l"/>
        <c:majorGridlines>
          <c:spPr>
            <a:ln w="6350" cap="flat">
              <a:solidFill>
                <a:srgbClr val="E6E2DE"/>
              </a:solidFill>
              <a:prstDash val="solid"/>
              <a:round/>
            </a:ln>
          </c:spPr>
        </c:majorGridlines>
        <c:numFmt formatCode="#,##0&quot;만원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580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  <c:majorUnit val="150"/>
      </c:valAx>
      <c:spPr>
        <a:solidFill>
          <a:srgbClr val="F8F7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6E6B68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solidFill>
      <a:srgbClr val="F8F7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첫 문장에 숫자. 가정은 5장에 공개.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338 은 2026-09-07 공개 API 실측(활성 이용권).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전부 가정. 보수율은 매장과 대행사의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실재. 셀러 화면 캡처는 셀러 로그인이 필요해 이 판에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2026-09-07 실측.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5544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6583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매장을 데려오세요.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곳당 월 12만원이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대행사에게 남습니다.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평균 2만원, 매장당 월 60건, 대행사 보수 매출의 10%를 가정한 값입니다. 유어딜은 매장에서 5%만 떼고, 인플루언서 소개비와 대행사 보수는 매장 몫 95% 안에서 매장이 정합니다.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49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53492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올리고, 이용권을 운영한다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60527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560527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금액의 5% + 소개비 + 대행사 보수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8613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586130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QR, 정산, 세금, 손님 유입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한 장으로 줄이면 이렇습니다.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매장이 인플루언서 소개비(딜마다 정한 %)와 대행사 보수(계약)를 냅니다.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메뉴 하나가 곧 상품입니다.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338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36301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판매 중인 이용권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27024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011680" y="44714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(식사, 미용, 숙소, 액티비티)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1114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53126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2026년 9월 7일 기준. 화면은 같은 날 모바일에서 그대로 캡처했습니다.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100원은 이렇게 갈립니다. 유어딜은 5에서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29184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결제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395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100원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17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토스로 할인가를 냅니다. 이용권이 즉시 발급됩니다.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512" y="272491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34840" y="1965960"/>
            <a:ext cx="3291840" cy="1783080"/>
          </a:xfrm>
          <a:prstGeom prst="roundRect">
            <a:avLst>
              <a:gd name="adj" fmla="val 717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091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2395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5원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3017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QR 확인, 정산, 세금, 손님 유입의 인프라 비용입니다.</a:t>
            </a:r>
            <a:endParaRPr lang="en-US" sz="10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552" y="2724912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183880" y="1965960"/>
            <a:ext cx="3291840" cy="1783080"/>
          </a:xfrm>
          <a:prstGeom prst="roundRect">
            <a:avLst>
              <a:gd name="adj" fmla="val 717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45820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8458200" y="2395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95원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8458200" y="3017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쓴 이용권만, 매주 매장 계좌로 정산됩니다.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685800" y="41148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95원 안에서 매장이 정하는 두 가지, 그리고 남는 것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8580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589922"/>
            <a:ext cx="201900" cy="2019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52728" y="45262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85800" y="5029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제안하는 비율입니다. 매장 부담이고, 링크 귀속과 지급과 원천징수는 유어딜이 자동 처리합니다. 대행사가 걷거나 나눌 일이 없습니다.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3484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202" y="4589922"/>
            <a:ext cx="201900" cy="2019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01768" y="45262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보수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4434840" y="5029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대행사의 계약입니다. 매출의 몇 %든, 월 정액이든 두 분이 정합니다. 유어딜 장부 밖이라 정산서에 한 줄도 나오지 않고, 유어딜이 중간에서 떼지도 않습니다.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18388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242" y="4589922"/>
            <a:ext cx="201900" cy="2019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750808" y="45262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순수취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183880" y="5029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둘을 뺀 나머지입니다. 다음 장에서 매장 한 곳 기준으로 실제 숫자를 놓습니다.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대행사에게 얼마가 되는가. 가정은 전부 공개합니다.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21208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(바꿔서 다시 계산하셔도 됩니다)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평균 판매가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520440" y="246888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84378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218688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매출(GMV)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321868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1,200,000원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3566160"/>
            <a:ext cx="4572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593592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359359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60,000원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396849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1,140,000원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572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(매장 제안 10% 가정)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434340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대행사 보수 (매출 10% 계약 시)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520440" y="471830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120,000원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093208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520440" y="509320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900,000원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5577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 안에서 세 갈래로 갈립니다. 매장 10곳이면 대행사 월 120만원, 30곳이면 360만원입니다.</a:t>
            </a:r>
            <a:endParaRPr lang="en-US" sz="11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6172200" y="1965960"/>
          <a:ext cx="5333695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하는 이유도 숫자입니다. 광고비 선지출이 없습니다.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(매장 제안 예시)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보수 10% (계약 예시)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18,750원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7,550원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7,550원이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5" name="Text 30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9" name="Text 33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3" name="Text 36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가지가 되면 데려오세요.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685800" y="5806440"/>
            <a:ext cx="8229600" cy="502920"/>
          </a:xfrm>
          <a:prstGeom prst="roundRect">
            <a:avLst>
              <a:gd name="adj" fmla="val 254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914400" y="5806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"그 돈을 팔린 뒤에만 내는 걸로 바꾸자"가 통합니다.</a:t>
            </a:r>
            <a:endParaRPr lang="en-US" sz="10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10분. 서명도 서류도 없이 대행사 폰으로 끝납니다.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85800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742834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2895539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2895539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95539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4901" y="2742834"/>
            <a:ext cx="201900" cy="201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95539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2895539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5105278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2200" dirty="0"/>
          </a:p>
        </p:txBody>
      </p:sp>
      <p:sp>
        <p:nvSpPr>
          <p:cNvPr id="19" name="Shape 14"/>
          <p:cNvSpPr/>
          <p:nvPr/>
        </p:nvSpPr>
        <p:spPr>
          <a:xfrm>
            <a:off x="5105278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105278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640" y="2742834"/>
            <a:ext cx="201900" cy="201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105278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"중개" 선택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5105278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시 채널을 중개로 고르면 유어딜 수수료가 5%로 잡힙니다. 매장 확인 PIN도 여기서 정합니다.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7315017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7315017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315017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379" y="2742834"/>
            <a:ext cx="201900" cy="2019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315017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7315017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9524756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9524756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9524756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4118" y="2742834"/>
            <a:ext cx="201900" cy="2019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524756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사용법</a:t>
            </a:r>
            <a:endParaRPr lang="en-US" sz="1350" dirty="0"/>
          </a:p>
        </p:txBody>
      </p:sp>
      <p:sp>
        <p:nvSpPr>
          <p:cNvPr id="35" name="Text 27"/>
          <p:cNvSpPr txBox="1"/>
          <p:nvPr/>
        </p:nvSpPr>
        <p:spPr>
          <a:xfrm>
            <a:off x="9524756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QR을 보여 주면 매장 폰으로 찍거나, 손님 화면에 매장 PIN을 눌러 주면 끝. 이것만 설명하면 됩니다.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85800" y="562356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대행사 셀러 계정으로 합니다. 사장님이 나중에 직접 계정을 만들어 이어받을 때는 계정 양도가 아니라 권한 변경이라, 올려 둔 이용권과 주문과 리뷰가 그대로 남습니다.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하는 말 네 마디와, 거절 다섯 가지의 답.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"사업자등록증만 보여 주시면 지금 10분 안에 올라갑니다. 손님 오면 QR만 찍어 주세요."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섭외, 계약, 정산이 화면 안에서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895539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9553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895539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95539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접수한다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95539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105278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10527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105278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05278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딜을 맺는다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5105278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/seller/influencer-deals 에서 커미션 %를 제안합니다. 매장이 정한 값이고 매장 부담입니다. 콘텐츠 게시 확인 뒤 발효되는 조건부도 됩니다.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315017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017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315017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017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315017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524756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2475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524756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524756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9524756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5800" y="4617720"/>
            <a:ext cx="10820095" cy="1554480"/>
          </a:xfrm>
          <a:prstGeom prst="roundRect">
            <a:avLst>
              <a:gd name="adj" fmla="val 8235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05840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198,704</a:t>
            </a:r>
            <a:endParaRPr lang="en-US" sz="2600" dirty="0"/>
          </a:p>
        </p:txBody>
      </p:sp>
      <p:sp>
        <p:nvSpPr>
          <p:cNvPr id="33" name="Text 30"/>
          <p:cNvSpPr txBox="1"/>
          <p:nvPr/>
        </p:nvSpPr>
        <p:spPr>
          <a:xfrm>
            <a:off x="1005840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3041843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45,725</a:t>
            </a:r>
            <a:endParaRPr lang="en-US" sz="2600" dirty="0"/>
          </a:p>
        </p:txBody>
      </p:sp>
      <p:sp>
        <p:nvSpPr>
          <p:cNvPr id="35" name="Text 32"/>
          <p:cNvSpPr txBox="1"/>
          <p:nvPr/>
        </p:nvSpPr>
        <p:spPr>
          <a:xfrm>
            <a:off x="3041843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5077846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170,307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5077846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113849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17,986</a:t>
            </a:r>
            <a:endParaRPr lang="en-US" sz="2600" dirty="0"/>
          </a:p>
        </p:txBody>
      </p:sp>
      <p:sp>
        <p:nvSpPr>
          <p:cNvPr id="39" name="Text 36"/>
          <p:cNvSpPr txBox="1"/>
          <p:nvPr/>
        </p:nvSpPr>
        <p:spPr>
          <a:xfrm>
            <a:off x="7113849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9149852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9,803</a:t>
            </a:r>
            <a:endParaRPr lang="en-US" sz="2600" dirty="0"/>
          </a:p>
        </p:txBody>
      </p:sp>
      <p:sp>
        <p:nvSpPr>
          <p:cNvPr id="41" name="Text 38"/>
          <p:cNvSpPr txBox="1"/>
          <p:nvPr/>
        </p:nvSpPr>
        <p:spPr>
          <a:xfrm>
            <a:off x="9149852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1005840" y="576072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7일 유어딜 운영 콘솔 실측. 인스타그램과 틱톡은 탐색 필터에 있으나 DB의 대부분은 네이버 블로그와 유튜브입니다.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명의 일주일. 쓰는 화면은 여섯 장뿐입니다.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2499284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30552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395728"/>
            <a:ext cx="20420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41832" y="2788920"/>
            <a:ext cx="2042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7장 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3840480"/>
            <a:ext cx="2042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59404" y="1965960"/>
            <a:ext cx="2499284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715436" y="2130552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715436" y="2395728"/>
            <a:ext cx="20420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715436" y="2788920"/>
            <a:ext cx="2042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3715436" y="3840480"/>
            <a:ext cx="2042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/seller/products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33008" y="1965960"/>
            <a:ext cx="2499284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89040" y="2130552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489040" y="2395728"/>
            <a:ext cx="20420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5건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89040" y="2788920"/>
            <a:ext cx="2042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489040" y="3840480"/>
            <a:ext cx="2042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9006611" y="1965960"/>
            <a:ext cx="2499284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262643" y="2130552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262643" y="2395728"/>
            <a:ext cx="20420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262643" y="2788920"/>
            <a:ext cx="2042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요약에서 매장별 매출과 주문을 뽑아 사장님께 보내고, 계약대로 청구합니다.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9262643" y="3840480"/>
            <a:ext cx="2042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448056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대시보드. 대행사 전용 계정이나 별도 프로그램이 없습니다)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48463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2148840" y="4864608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5120640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등록, 국세청 확인, 채널, 매장 전환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4368698" y="48463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831738" y="4864608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4368698" y="5120640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대행사 핸들을 추가하거나 회수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051597" y="48463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9514637" y="4864608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8051597" y="5120640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필터, 제안 접수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555955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2148840" y="5577840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85800" y="5833872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커미션 % 제안, 조건부 발효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68698" y="555955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5831738" y="5577840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368698" y="5833872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수령인별, 딜별. 사장님도 항상 열람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051597" y="555955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9514637" y="5577840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051597" y="5833872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매출과 주문, 운영 시작 이후 구간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맡겨도 잃을 게 없어서, 두 번째 방문이 쉬워집니다.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112264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회수는 언제든, 조건 없이</a:t>
            </a:r>
            <a:endParaRPr lang="en-US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2432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권한을 빼도 대행사가 올려 둔 이용권, 주문, 리뷰는 매장에 남습니다. 붙이는 것도 떼는 것도 권한 한 줄입니다.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474720"/>
            <a:ext cx="499856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2444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810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918808" y="2112264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정산계좌와 사업자정보는 주인만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6324448" y="262432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운영자에게는 사업자번호와 대표자명이 가려 보이고, 계좌 변경과 사업자정보 수정과 탈퇴는 서버가 막습니다. 매장 돈이 딴 데로 갈 길이 없습니다.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324448" y="3474720"/>
            <a:ext cx="499856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36576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37669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3712464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지출은 항상 사장님이 봅니다</a:t>
            </a:r>
            <a:endParaRPr lang="en-US" sz="145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22452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맡겨도 소개비가 누구에게 얼마 나갔는지 사장님이 직접 봅니다. 투명성은 위임 여부와 무관합니다.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324448" y="36576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3810" y="376696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918808" y="3712464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성과는 부풀리지 않습니다</a:t>
            </a:r>
            <a:endParaRPr lang="en-US" sz="1450" dirty="0"/>
          </a:p>
        </p:txBody>
      </p:sp>
      <p:sp>
        <p:nvSpPr>
          <p:cNvPr id="23" name="Text 16"/>
          <p:cNvSpPr txBox="1"/>
          <p:nvPr/>
        </p:nvSpPr>
        <p:spPr>
          <a:xfrm>
            <a:off x="6324448" y="422452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요약은 매장 총액과 "운영 시작 이후" 구간을 나눠 보여 줍니다. 그래서 그 숫자를 청구 근거로 쓸 수 있습니다.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85800" y="5349240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0120" y="534924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"계좌랑 사업자 정보는 사장님만 만질 수 있고 저는 못 봅니다. 마음에 안 들면 오늘이라도 권한만 빼시면 되고, 올려 둔 건 다 사장님 것으로 남습니다."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대행사에게 붙여 드리는 것 여섯 가지.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한 장 안내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사용법이 적힌 매장용 안내 한 장을 드립니다. 대행사 이름을 넣어 드립니다.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19만 명 DB 탐색과 제안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2" name="Text 23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파일럿 제안. 매장 10곳이면 구조가 맞는지 판정이 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52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제안입니다. 담당자 한 명, 주 2일 방문 기준입니다.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발송, 결제, 정산, 환불, CS 전부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쪽은 화면 네 장이면 끝납니다. 그래서 매장이 올리면 팔립니다.</a:t>
            </a:r>
            <a:endParaRPr lang="en-US" sz="2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질문과, 지금 하실 일.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7685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대행사 보수는 매장과 대행사의 계약이고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324448" y="196596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27685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대행사는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20040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51129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324448" y="320040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351129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43484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쇼핑 공구 벤더인데 바로 할 수 있나요?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74573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같습니다. 브랜드 대신 매장, 상품 대신 이용권, 택배 대신 QR입니다. 재고와 반품이 빠지고 정산이 자동으로 바뀝니다.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324448" y="4251960"/>
            <a:ext cx="5181448" cy="2011680"/>
          </a:xfrm>
          <a:prstGeom prst="roundRect">
            <a:avLst>
              <a:gd name="adj" fmla="val 6364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44488" y="44531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하실 일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44488" y="4727448"/>
            <a:ext cx="4541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5곳의 이름과 동네만 보내 주세요. 하루 안에 채널과 요율을 확인해 드리고, 첫 방문 일정을 잡습니다.</a:t>
            </a:r>
            <a:endParaRPr lang="en-US" sz="115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88" y="5440680"/>
            <a:ext cx="164592" cy="16459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918808" y="5385816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2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5715000"/>
            <a:ext cx="164592" cy="16459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18808" y="5660136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2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8" y="5989320"/>
            <a:ext cx="164592" cy="16459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18808" y="5934456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유어딜 대행사 제휴 제안서</dc:title>
  <dc:subject>PptxGenJS Presentation</dc:subject>
  <dc:creator>리스터코퍼레이션</dc:creator>
  <cp:lastModifiedBy>리스터코퍼레이션</cp:lastModifiedBy>
  <cp:revision>1</cp:revision>
  <dcterms:created xsi:type="dcterms:W3CDTF">2026-09-07T07:35:29Z</dcterms:created>
  <dcterms:modified xsi:type="dcterms:W3CDTF">2026-09-07T07:35:29Z</dcterms:modified>
</cp:coreProperties>
</file>