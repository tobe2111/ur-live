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5% / 95% / 0원. 5%: 2026-09-04 확정. 귀사 몫 직접 송금: 2026-09-16 결재 + 09-19 플로우 — 2026-10-12 실측 broker_share_enabled=ON, 적립 1건. 오른쪽은 urdeal.kr 홈(모바일) 라이브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요약. 사업계획서 C-2 + store-operator-model §7.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평균가는 2026-09-07 공개 API 실측(meal 242건 avg 32,339 / stay 51건 avg 155,824). 캡처는 scripts/capture-proposal-shots.mjs (detail/use).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5%: 2026-09-04 대표 확정. 귀사 몫·소개비 직접 송금: 2026-09-16 결재(broker-payout-model 안 1) + 09-19 플로우(매장 등록 때 두 요율). ✅ 2026-10-12 실측: broker_share_enabled=ON, 적립 1건(송금은 사용 확인 뒤 월 1일). PG 2.75% 는 commission-budget.ts 실측 상수(플랫폼 부담). 정산은 used 이용권만 주간(auto-settlement.ts).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"플랜별 기능 비교" 장치. 사실: fee-resolver.ts(직접 10 / 중개 5) · store-operator-model §7·§9(운영자 권한·계좌 owner 전용·회수·코드). 영입 2% 행은 09-16 폐지로 삭제. 귀사 몫 송금·코드는 09-19 확정 — 2026-10-12 실측에서 broker_share_enabled=ON, 적립 1건(송금은 사용 확인 뒤 월 1일).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평균가 32,339 / 155,824 는 2026-09-07 활성 이용권 카탈로그 평균(실거래 평균 아님). 하루 1건은 가정. 귀사 몫 %는 매장 등록 때 귀사가 정한다(09-19) — 유어딜이 정하지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재료비 35% 는 가정. 정산 규칙은 auto-settlement.ts. 사용 처리는 매장 QR 스캔 또는 확인 PIN.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사장님 덱 2장(한계 비교표)과 같은 논리. 체험단 = 사장님 덱 표지의 "무료 식사를 내드리고 후기를 받는"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"콘텐츠 기반 바이럴 루프" 장치. 노드 전부 현행 기능(seller-stores · 상품 · seller-influencers · auto-settlement · SellerOperatingSummaryPage). 4.8배는 09-13 카탈로그 평균가 실측. 구조 설명이지 성과 약속이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등록 필수 필드는 seller-stores.routes.ts. 오른쪽은 /u/jiwon1228 라이브 캡처(대표 계정).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"이런 브랜드에게 추천합니다" 장치. 사실: 운영 매장 요약(SellerOperatingSummaryPage) · 귀사 몫 직접 송금(09-16 결재 · 2026-10-12 ON) · 코드 링크 매칭(09-19) · store-operator-model §7·§9(계좌 owner 전용).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시간은 현장 추정. 필드는 seller-stores.routes.ts + seller-broker-terms.routes.ts 실재(채널·국세청·등록증·중개사 몫 0~50·인플루언서 상한 0~50·owner_claim 코드 — PR #1499). 오른쪽은 /seller/stores 실제 UI 를 예시 데이터로 렌더한 캡처(코드 열은 캡처 시점 전이라 안 보인다).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대본의 사실 주장은 앞 장들과 동일 출처. 가운데는 이용권 상세 라이브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"목표별 추천 조합" 장치. 사장님 덱 03-2 와 같은 표(문구만 대행사 시점). 필드: 상품 할인율·수량·유효기간·사용조건 프리셋·influencer-deals 소개비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숫자는 /api/admin/ads/influencer-pool/stats 2026-09-13 실측. 오른쪽은 /admin/influencer-pool 데스크톱 캡처(capture-admin-shots.mjs — 이메일·IG·TT 블러).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필터·정렬·표 컬럼은 SellerInfluencersPage.tsx 실제 UI(카테고리 select, FOLLOWER_BANDS, sort 5종, 컬럼 프로필·팔로워·게시물·평균 조회·평균 댓글). 연락처 비공개 + 유어딜 발송은 같은 화면 안내 문구.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전용 링크·유어샵: influencer-deals(수락 시 링크 발급). 유어쇼츠: /videos + 이용권 상세 ProductShortsField. 결제 기준 커미션: order-commissions.ts. 채널별 기대는 운영 가이드이지 성과 약속이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라우트 6개는 2026-09-07 main 실재. 요일 배분은 권장 루틴. 오른쪽 3장은 실제 UI + 예시 데이터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store-operator-model.md §7.7 (마스킹: 계좌 ****1234 · 등록번호 끝 4자리 · 대표자명 첫 글자 · 주소/연락처 null · 계좌 변경/사업자정보 수정/탈퇴 403). 오른쪽은 /seller/operators 실제 UI 를 예시 데이터로 렌더한 캡처. 인출선 좌표는 seller-operators.jpg 실측(초대 입력 31% · 운영자 행 44% · 회수 버튼 47%/우측 87%).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동행·안내장·주간 실적 공유는 파일럿 제안의 유어딜 측 약속. 나머지 셋은 현행 기능.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귀사 몫은 매장 단위 %(seller_meta.broker_share_pct). ✅ 2026-10-12 실측으로 문장을 뒤집었다 — broker_share_enabled=**true(ON)** 이고 influencer_attributions(source=broker_share) 에 실제 적립 1건(seller 26 · 620원 · status=pending · 2026-10-07). 종전 문장 "켜기 전입니다 / 종전대로 매장과 직접 정산" 은 **지금 사실과 다르다**(대행사에게 돈 얘기를 틀리게 말하는 자리라 가장 먼저 고쳤다). 🔑 그래도 "송금했다" 고는 말하지 않는다 — pending 은 적립이고, 성숙은 payout_requires_voucher_use=true(라이브) 게이트가 이용권 사용을 확인한 뒤이고, 실제 송금은 어드민 [송금 처리] 가 한 번 더 있다. 최소 지급액은 **10만원**(cron/influencer-payout.ts DEFAULT_PAYOUT_MIN=100_000 · 라이브 influencer_payout_min=100000 · 매월 1일) — 🩸 초안에 "1만원" 이라고 썼다가 코드를 확인하고 고쳤다. 1만원은 매장(셀러) 레일의 최소액이고 중개 몫은 인플루언서 레일이라 다르다(딜로 받으면 최소액 없음). 그래서 "적립이 시작됐다 / 적립은 송금이 아니다" 두 문장으로 쪼갰다. 오른쪽은 /seller/operating 실제 UI + 예시 데이터.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파일럿 조건은 이 문서의 제안. 귀사 몫 %는 귀사가 정한다(유어딜이 정하지 않음) — 09-19.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4장 전부 2026-09-07 urdeal.kr 모바일 라이브 캡처(home/detail/use/shop). 지갑 화면은 로그인이 필요해 제외.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"광고 집행 절차" 장치. 09-19 v8: 세 열을 대표 확정 플로우 11단계로 재배열 — PR #1499 구현(승계 코드 /store/find?code= · 협업 코드 /i/join/:code · 매장 링크 · /seller/operating). 직접 송금은 2026-10-12 실측 게이트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FAQ 출처: 사업계획서 C-3, 셀러 가이드, auto-settlement.ts, 09-16·09-19 결재. 채널 변경은 POST /api/seller/stores/:id/channel (소유자만) + 어드민. 코드로 주인 되기: /store/find?code= (PR #1499) — 등록증·어드민 승인은 그대로.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673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우리동네 이용권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40280"/>
            <a:ext cx="5120640" cy="12865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9383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 제휴 제안서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4869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매장을 모으고 대신 운영해 주실 파트너를 찾습니다. 유어딜은 중개 매장에서 5%만 받고, 귀사 몫은 매장을 등록할 때 귀사가 정한 %를 유어딜이 직접 보냅니다.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" y="5989320"/>
            <a:ext cx="10820095" cy="0"/>
          </a:xfrm>
          <a:prstGeom prst="line">
            <a:avLst/>
          </a:prstGeom>
          <a:noFill/>
          <a:ln w="9525">
            <a:solidFill>
              <a:srgbClr val="3A3D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6108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리스터코퍼레이션 · 사업자등록번호 479-09-02930 · urdeal.kr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6108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9월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3276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문서의 내용을 무단으로 복제·전재·재배포할 수 없습니다.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 제휴 제안, 2026년 9월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4000" b="1" spc="-10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매장을 소개해 주시면,</a:t>
            </a:r>
            <a:endParaRPr lang="en-US" sz="4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4000" b="1" spc="-10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유어딜은 </a:t>
            </a:r>
            <a:pPr indent="0" marL="0">
              <a:lnSpc>
                <a:spcPct val="114000"/>
              </a:lnSpc>
              <a:buNone/>
            </a:pPr>
            <a:r>
              <a:rPr lang="en-US" sz="4000" b="1" spc="-10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5%만</a:t>
            </a:r>
            <a:pPr indent="0" marL="0">
              <a:lnSpc>
                <a:spcPct val="114000"/>
              </a:lnSpc>
              <a:buNone/>
            </a:pPr>
            <a:r>
              <a:rPr lang="en-US" sz="4000" b="1" spc="-10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받습니다.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204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95%는 매장 몫입니다. 귀사 몫 %와 인플루언서 상한 %는 매장을 등록할 때 귀사가 정하고, 팔린 만큼 유어딜이 각자에게 직접 보냅니다. 귀사 몫에 유어딜이 정한 요율은 없습니다.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4315968"/>
            <a:ext cx="6766560" cy="0"/>
          </a:xfrm>
          <a:prstGeom prst="line">
            <a:avLst/>
          </a:prstGeom>
          <a:noFill/>
          <a:ln w="9525">
            <a:solidFill>
              <a:srgbClr val="3A3D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4622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074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 경유 매장의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수수료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971800" y="44622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971800" y="5074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몫.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몫과 소개비의 재원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44622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5074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입점비, 월정액,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광고비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669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유어딜은 손님이 미리 결제하고 매장에 찾아오는 이용권을 팝니다. 식당, 뷰티샵, 숙소가 팔고 있습니다. 매장을 모으고 대신 운영해 주실 파트너를 찾습니다.</a:t>
            </a:r>
            <a:endParaRPr lang="en-US" sz="10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771" y="598531"/>
            <a:ext cx="3128705" cy="59809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바쁘실 테니, 한 장으로 먼저 정리했습니다.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85800" y="201168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62" y="2121042"/>
            <a:ext cx="201900" cy="201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066544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파나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식당, 카페, 미용, 숙박, 액티비티의 이용권. 손님이 온라인에서 할인가로 미리 사고 매장에 와서 QR로 씁니다. 배송도 재고도 없습니다.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85800" y="3794760"/>
            <a:ext cx="495284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78728" y="201168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090" y="2121042"/>
            <a:ext cx="201900" cy="201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73088" y="2066544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대행사는 무엇을 하나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278728" y="260604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매장을 찾아 유어딜에 올리고(10분), 이용권을 만들고(3분), 인플루언서에게 링크를 보내고, 성과를 대시보드에서 봅니다. 돈을 걷거나 나누는 일은 없습니다.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78728" y="3794760"/>
            <a:ext cx="495284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85800" y="402336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62" y="413272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078224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얼마를 내나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85800" y="461772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매장이 팔린 금액의 5%를 유어딜에 냅니다(직접 입점은 10%). 나머지 95% 안에서 귀사 몫과 인플루언서 소개비가 나갑니다. 귀사 몫과 인플루언서 상한은 등록 때, 개별 소개비는 협업 코드로 정합니다. 송금은 유어딜이 각자에게 직접 합니다. 대행사가 유어딜에 내는 돈은 0입니다.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78728" y="402336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090" y="4132722"/>
            <a:ext cx="201900" cy="201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73088" y="4078224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유어딜은 무엇을 하나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278728" y="461772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결제(토스), 이용권 발급, QR 확인 앱, 주간 정산, 원천징수, 환불 응대, 홈 지도 노출과 검색 유입. 인플루언서 DB와 코드 링크 발송까지.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685800" y="59893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근거와 절차는 다음 장부터 순서대로. 마지막 장에 8주 파일럿 조건이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구조와 돈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이용권이 무엇이고, 손님이 낸 돈이 어디로 가고, 매장 한 곳이 귀사에게 얼마가 되는지. 가정은 전부 표에 적었습니다.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이용권은 이렇게 생겼다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돈의 흐름과 직접·경유 비교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1곳의 단위 경제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51572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157216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사장님의 셈법과 비교표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5046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5504688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매장이 늘수록 도는 바퀴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구조와 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하나가 곧 상품입니다.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이용권은 이렇게 생겼습니다.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보는 실제 화면입니다. 정가와 할인가가 함께 보이고, 토스로 결제하면 이용권이 바로 발급됩니다. 유효기간, 할인율, 마감 수량은 전부 매장이 정하고, 안 쓴 이용권은 100% 자동 환불됩니다.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29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32,411원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3630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식사 이용권 평균가 (241개)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4178808"/>
            <a:ext cx="530352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42702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155,824원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4471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 이용권 평균가. 식사의 4.8배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5020056"/>
            <a:ext cx="530352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51114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5312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재고, 배송, 반품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5861304"/>
            <a:ext cx="530352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5989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9월 13일 urdeal.kr 활성 이용권 337개의 카탈로그 평균가. 실거래 평균이 아니라 가격대 참고치입니다.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94" y="781094"/>
            <a:ext cx="2602872" cy="497577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583680" y="5678424"/>
            <a:ext cx="288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상세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394" y="781094"/>
            <a:ext cx="2602872" cy="49757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11380" y="5678424"/>
            <a:ext cx="288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방법과 환불 안내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구조와 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낸 돈은 어디로 갈까요? 유어딜 몫은 5%에서 끝납니다.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단순해서 흐릴 것이 없습니다. 카드 결제 수수료까지 같은 그림에 적었습니다.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37744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결제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624328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54680" y="237744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1546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카드사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15468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처리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2624328"/>
            <a:ext cx="219456" cy="2194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23560" y="237744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62356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62356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624328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092440" y="237744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09244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-3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0924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95%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160520" y="3090672"/>
            <a:ext cx="0" cy="292608"/>
          </a:xfrm>
          <a:prstGeom prst="line">
            <a:avLst/>
          </a:prstGeom>
          <a:noFill/>
          <a:ln w="9525">
            <a:solidFill>
              <a:srgbClr val="8A8580"/>
            </a:solidFill>
            <a:prstDash val="solid"/>
            <a:tailEnd type="triangle"/>
          </a:ln>
        </p:spPr>
      </p:sp>
      <p:sp>
        <p:nvSpPr>
          <p:cNvPr id="24" name="Text 18"/>
          <p:cNvSpPr txBox="1"/>
          <p:nvPr/>
        </p:nvSpPr>
        <p:spPr>
          <a:xfrm>
            <a:off x="3154680" y="34381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5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2.75%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30175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결제 수수료.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자기 5% 안에서 냅니다.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카드사 정책에 따라 바뀔 수 있습니다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629400" y="3090672"/>
            <a:ext cx="0" cy="292608"/>
          </a:xfrm>
          <a:prstGeom prst="line">
            <a:avLst/>
          </a:prstGeom>
          <a:noFill/>
          <a:ln w="9525">
            <a:solidFill>
              <a:srgbClr val="8A8580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5623560" y="34381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5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 경유 매장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(직접 입점은 10%)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9098280" y="3090672"/>
            <a:ext cx="0" cy="292608"/>
          </a:xfrm>
          <a:prstGeom prst="line">
            <a:avLst/>
          </a:prstGeom>
          <a:noFill/>
          <a:ln w="9525">
            <a:solidFill>
              <a:srgbClr val="8A8580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8092440" y="3419856"/>
            <a:ext cx="3413455" cy="1481328"/>
          </a:xfrm>
          <a:prstGeom prst="roundRect">
            <a:avLst>
              <a:gd name="adj" fmla="val 8642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321040" y="3547872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귀사의 몫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8321040" y="3822192"/>
            <a:ext cx="2956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등록 때 귀사가 정하는 %. 팔린 만큼 유어딜이 귀사 계좌로 직접 보냅니다.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8321040" y="4288536"/>
            <a:ext cx="2956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소개비</a:t>
            </a:r>
            <a:endParaRPr lang="en-US" sz="1150" dirty="0"/>
          </a:p>
        </p:txBody>
      </p:sp>
      <p:sp>
        <p:nvSpPr>
          <p:cNvPr id="34" name="Text 28"/>
          <p:cNvSpPr txBox="1"/>
          <p:nvPr/>
        </p:nvSpPr>
        <p:spPr>
          <a:xfrm>
            <a:off x="8321040" y="4535424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코드에 싣는 %(등록 때 정한 상한 안). 귀속과 지급은 유어딜이 자동 처리합니다.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85800" y="4919472"/>
            <a:ext cx="36576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6" name="Text 30"/>
          <p:cNvSpPr txBox="1"/>
          <p:nvPr/>
        </p:nvSpPr>
        <p:spPr>
          <a:xfrm>
            <a:off x="914400" y="5047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오해</a:t>
            </a:r>
            <a:endParaRPr lang="en-US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914400" y="532180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"직접 입점 10%와 중개 5%의 차액 5%가 대행사 몫이다."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4617720" y="4919472"/>
            <a:ext cx="36576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9" name="Text 33"/>
          <p:cNvSpPr txBox="1"/>
          <p:nvPr/>
        </p:nvSpPr>
        <p:spPr>
          <a:xfrm>
            <a:off x="4846320" y="5047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3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endParaRPr lang="en-US" sz="1150" dirty="0"/>
          </a:p>
        </p:txBody>
      </p:sp>
      <p:sp>
        <p:nvSpPr>
          <p:cNvPr id="40" name="Text 34"/>
          <p:cNvSpPr txBox="1"/>
          <p:nvPr/>
        </p:nvSpPr>
        <p:spPr>
          <a:xfrm>
            <a:off x="4846320" y="532180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차액은 유어딜이 덜 받는 것입니다. 귀사 몫은 그 95% 안에서 귀사가 등록 때 정한 %이고, 유어딜이 매장 몫에서 떼어 귀사에게 보냅니다. 단가는 유어딜이 정하지 않습니다.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685800" y="5961888"/>
            <a:ext cx="10820095" cy="310896"/>
          </a:xfrm>
          <a:prstGeom prst="roundRect">
            <a:avLst>
              <a:gd name="adj" fmla="val 29412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1005840" y="5961888"/>
            <a:ext cx="10180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정산은 매장, 귀사, 인플루언서 각자의 계좌로 갑니다. 귀사 몫을 매장에 청구할 일이 없습니다.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구조와 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입점과 대행사 경유, 무엇이 같고 무엇이 다른지 표 한 장으로.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셀러 대시보드, 같은 결제와 정산입니다. 다른 것은 요율 하나와 "누가 운영하나" 뿐입니다.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93992" y="2350008"/>
            <a:ext cx="4690872" cy="3913632"/>
          </a:xfrm>
          <a:prstGeom prst="roundRect">
            <a:avLst>
              <a:gd name="adj" fmla="val 2336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4231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24231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직접 입점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2423160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 경유 (귀사)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5800" y="2697480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752344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수수료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63240" y="2752344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금액의 10%</a:t>
            </a:r>
            <a:endParaRPr lang="en-US" sz="108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752344"/>
            <a:ext cx="4462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금액의 5%. 차액은 유어딜이 덜 받는 것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85800" y="3145536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182112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등록</a:t>
            </a:r>
            <a:endParaRPr lang="en-US" sz="108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3182112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본인 카카오로</a:t>
            </a:r>
            <a:endParaRPr lang="en-US" sz="108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3182112"/>
            <a:ext cx="4462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계정으로 (10분). 매장 코드가 생기고 사장님은 그 코드로 가입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85800" y="3575304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611880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운영</a:t>
            </a:r>
            <a:endParaRPr lang="en-US" sz="1080" dirty="0"/>
          </a:p>
        </p:txBody>
      </p:sp>
      <p:sp>
        <p:nvSpPr>
          <p:cNvPr id="22" name="Text 19"/>
          <p:cNvSpPr txBox="1"/>
          <p:nvPr/>
        </p:nvSpPr>
        <p:spPr>
          <a:xfrm>
            <a:off x="3063240" y="361188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직접</a:t>
            </a:r>
            <a:endParaRPr lang="en-US" sz="108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3611880"/>
            <a:ext cx="4462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귀사가 운영자 권한으로 대신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685800" y="4005072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041648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섭외</a:t>
            </a:r>
            <a:endParaRPr lang="en-US" sz="1080" dirty="0"/>
          </a:p>
        </p:txBody>
      </p:sp>
      <p:sp>
        <p:nvSpPr>
          <p:cNvPr id="26" name="Text 23"/>
          <p:cNvSpPr txBox="1"/>
          <p:nvPr/>
        </p:nvSpPr>
        <p:spPr>
          <a:xfrm>
            <a:off x="3063240" y="4041648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직접, 또는 유어딜이 대행</a:t>
            </a:r>
            <a:endParaRPr lang="en-US" sz="1080" dirty="0"/>
          </a:p>
        </p:txBody>
      </p:sp>
      <p:sp>
        <p:nvSpPr>
          <p:cNvPr id="27" name="Text 24"/>
          <p:cNvSpPr txBox="1"/>
          <p:nvPr/>
        </p:nvSpPr>
        <p:spPr>
          <a:xfrm>
            <a:off x="6903720" y="4041648"/>
            <a:ext cx="4462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귀사가 DB에서 골라 코드 링크. 탭하면 가입과 매칭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85800" y="4434840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4471416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계좌</a:t>
            </a:r>
            <a:endParaRPr lang="en-US" sz="1080" dirty="0"/>
          </a:p>
        </p:txBody>
      </p:sp>
      <p:sp>
        <p:nvSpPr>
          <p:cNvPr id="30" name="Text 27"/>
          <p:cNvSpPr txBox="1"/>
          <p:nvPr/>
        </p:nvSpPr>
        <p:spPr>
          <a:xfrm>
            <a:off x="3063240" y="4471416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사장님만</a:t>
            </a:r>
            <a:endParaRPr lang="en-US" sz="1080" dirty="0"/>
          </a:p>
        </p:txBody>
      </p:sp>
      <p:sp>
        <p:nvSpPr>
          <p:cNvPr id="31" name="Text 28"/>
          <p:cNvSpPr txBox="1"/>
          <p:nvPr/>
        </p:nvSpPr>
        <p:spPr>
          <a:xfrm>
            <a:off x="6903720" y="4471416"/>
            <a:ext cx="4462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사장님만. 소유자 확인 전엔 정산이 나가지 않습니다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685800" y="4864608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4901184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몫</a:t>
            </a:r>
            <a:endParaRPr lang="en-US" sz="1080" dirty="0"/>
          </a:p>
        </p:txBody>
      </p:sp>
      <p:sp>
        <p:nvSpPr>
          <p:cNvPr id="34" name="Text 31"/>
          <p:cNvSpPr txBox="1"/>
          <p:nvPr/>
        </p:nvSpPr>
        <p:spPr>
          <a:xfrm>
            <a:off x="3063240" y="4901184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없음</a:t>
            </a:r>
            <a:endParaRPr lang="en-US" sz="108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4901184"/>
            <a:ext cx="4462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95% 안에서 등록 때 정한 %. 상한 없음, 유어딜이 직접 송금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685800" y="5294376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" y="5330952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소개비</a:t>
            </a:r>
            <a:endParaRPr lang="en-US" sz="1080" dirty="0"/>
          </a:p>
        </p:txBody>
      </p:sp>
      <p:sp>
        <p:nvSpPr>
          <p:cNvPr id="38" name="Text 35"/>
          <p:cNvSpPr txBox="1"/>
          <p:nvPr/>
        </p:nvSpPr>
        <p:spPr>
          <a:xfrm>
            <a:off x="3063240" y="5330952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코드의 %</a:t>
            </a:r>
            <a:endParaRPr lang="en-US" sz="1080" dirty="0"/>
          </a:p>
        </p:txBody>
      </p:sp>
      <p:sp>
        <p:nvSpPr>
          <p:cNvPr id="39" name="Text 36"/>
          <p:cNvSpPr txBox="1"/>
          <p:nvPr/>
        </p:nvSpPr>
        <p:spPr>
          <a:xfrm>
            <a:off x="6903720" y="5330952"/>
            <a:ext cx="4462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코드의 %. 상한은 등록 때, 딜마다 조정</a:t>
            </a:r>
            <a:endParaRPr lang="en-US" sz="1080" dirty="0"/>
          </a:p>
        </p:txBody>
      </p:sp>
      <p:sp>
        <p:nvSpPr>
          <p:cNvPr id="40" name="Shape 37"/>
          <p:cNvSpPr/>
          <p:nvPr/>
        </p:nvSpPr>
        <p:spPr>
          <a:xfrm>
            <a:off x="685800" y="5724144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85800" y="5760720"/>
            <a:ext cx="2240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회수</a:t>
            </a:r>
            <a:endParaRPr lang="en-US" sz="1080" dirty="0"/>
          </a:p>
        </p:txBody>
      </p:sp>
      <p:sp>
        <p:nvSpPr>
          <p:cNvPr id="42" name="Text 39"/>
          <p:cNvSpPr txBox="1"/>
          <p:nvPr/>
        </p:nvSpPr>
        <p:spPr>
          <a:xfrm>
            <a:off x="3063240" y="576072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없음</a:t>
            </a:r>
            <a:endParaRPr lang="en-US" sz="1080" dirty="0"/>
          </a:p>
        </p:txBody>
      </p:sp>
      <p:sp>
        <p:nvSpPr>
          <p:cNvPr id="43" name="Text 40"/>
          <p:cNvSpPr txBox="1"/>
          <p:nvPr/>
        </p:nvSpPr>
        <p:spPr>
          <a:xfrm>
            <a:off x="6903720" y="5760720"/>
            <a:ext cx="4462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언제든. 이용권·주문·리뷰는 매장에 남습니다</a:t>
            </a:r>
            <a:endParaRPr lang="en-US" sz="1080" dirty="0"/>
          </a:p>
        </p:txBody>
      </p:sp>
      <p:sp>
        <p:nvSpPr>
          <p:cNvPr id="44" name="Shape 41"/>
          <p:cNvSpPr/>
          <p:nvPr/>
        </p:nvSpPr>
        <p:spPr>
          <a:xfrm>
            <a:off x="685800" y="6153912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85800" y="5870448"/>
            <a:ext cx="10820095" cy="384048"/>
          </a:xfrm>
          <a:prstGeom prst="roundRect">
            <a:avLst>
              <a:gd name="adj" fmla="val 2381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05840" y="5870448"/>
            <a:ext cx="10180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5%와 10%의 차이는 귀사 몫이 아니라 유어딜이 덜 받는 것. </a:t>
            </a:r>
            <a:pPr algn="ctr"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몫은 95% 안에서 등록 때 정하고, 유어딜이 보냅니다.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구조와 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한 곳이 귀사에게 얼마가 되는지, 가정까지 함께 적었습니다.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512064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05840" y="21488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한 곳, 한 달 (바꿔서 다시 계산하셔도 됩니다)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468880"/>
            <a:ext cx="28675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식사 이용권 평균가 (라이브 실측)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470148" y="2468880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32,411원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843784"/>
            <a:ext cx="28675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매장당 월 판매 (하루 1건 가정)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470148" y="2843784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30건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3218688"/>
            <a:ext cx="28675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월 거래액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470148" y="3218688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972,330원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05840" y="3566160"/>
            <a:ext cx="44805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3593592"/>
            <a:ext cx="28675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5%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470148" y="3593592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48,617원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968496"/>
            <a:ext cx="28675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몫 95%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3470148" y="3968496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923,714원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05840" y="4315968"/>
            <a:ext cx="44805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05840" y="4343400"/>
            <a:ext cx="28675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인플루언서 소개비 (협업 코드 10% 가정)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3470148" y="4343400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97,233원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4718304"/>
            <a:ext cx="28675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귀사 몫 (3% 예시)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3470148" y="4718304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29,170원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5093208"/>
            <a:ext cx="28675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매장 순수취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3470148" y="5093208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797,311원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55595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3%는 계산을 보여 드리려고 넣은 값입니다. 매장을 등록할 때 귀사가 정하고, 매장마다 다르게 해도 됩니다. 유어딜이 매장 몫에서 떼어 보냅니다.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080760" y="2011680"/>
            <a:ext cx="5425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수를 늘리면 (같은 가정)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080760" y="22860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매장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995160" y="22860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거래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2860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거래액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235440" y="22860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몫 95%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10561320" y="2286000"/>
            <a:ext cx="944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3% 가정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080760" y="2560320"/>
            <a:ext cx="54251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080760" y="26151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10곳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995160" y="26151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300건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7909560" y="261518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972만원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235440" y="261518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924만원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561320" y="2615184"/>
            <a:ext cx="944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29만원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080760" y="2999232"/>
            <a:ext cx="54251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080760" y="3035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30곳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995160" y="3035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900건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7909560" y="30358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2,917만원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9235440" y="30358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2,771만원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10561320" y="3035808"/>
            <a:ext cx="944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88만원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080760" y="3419856"/>
            <a:ext cx="54251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989320" y="3419856"/>
            <a:ext cx="5608015" cy="420624"/>
          </a:xfrm>
          <a:prstGeom prst="rect">
            <a:avLst/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080760" y="3456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100곳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6995160" y="3456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3,000건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7909560" y="34564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9,723만원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9235440" y="34564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9,237만원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10561320" y="3456432"/>
            <a:ext cx="944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292만원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080760" y="3840480"/>
            <a:ext cx="54251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080760" y="38770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300곳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38770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9,000건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7909560" y="38770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2억 9,170만원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9235440" y="38770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2억 7,711만원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10561320" y="3877056"/>
            <a:ext cx="944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875만원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6080760" y="4261104"/>
            <a:ext cx="54251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080760" y="4617720"/>
            <a:ext cx="5425135" cy="1600200"/>
          </a:xfrm>
          <a:prstGeom prst="roundRect">
            <a:avLst>
              <a:gd name="adj" fmla="val 8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355080" y="477316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객단가가 가장 큰 변수입니다</a:t>
            </a:r>
            <a:endParaRPr lang="en-US" sz="1250" dirty="0"/>
          </a:p>
        </p:txBody>
      </p:sp>
      <p:sp>
        <p:nvSpPr>
          <p:cNvPr id="62" name="Text 59"/>
          <p:cNvSpPr txBox="1"/>
          <p:nvPr/>
        </p:nvSpPr>
        <p:spPr>
          <a:xfrm>
            <a:off x="6355080" y="5074920"/>
            <a:ext cx="48764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 이용권의 평균가는 155,824원으로 식사의 4.8배입니다. 같은 품을 들여 매장을 붙인다면 숙소와 뷰티 쪽이 식당보다 훨씬 큽니다. 위 표의 모든 숫자가 그만큼 곱해집니다.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구조와 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"네" 하시는 이유도 숫자에 있습니다. 광고비를 먼저 내지 않으니까요.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539496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05840" y="21488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한 장이 팔렸을 때 (파스타 2인 세트 예시)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468880"/>
            <a:ext cx="304312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정가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621024" y="2468880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32,000원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843784"/>
            <a:ext cx="304312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판매가 (22% 할인)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621024" y="2843784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25,000원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05840" y="3191256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3218688"/>
            <a:ext cx="304312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5%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621024" y="3218688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1,250원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593592"/>
            <a:ext cx="304312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소개비 10% (협업 코드 예시)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621024" y="3593592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2,500원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968496"/>
            <a:ext cx="304312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몫 3% (등록 때 정한 예시)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3621024" y="396849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750원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05840" y="4315968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05840" y="4343400"/>
            <a:ext cx="304312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매장에 들어오는 돈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3621024" y="4343400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20,500원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4718304"/>
            <a:ext cx="304312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재료비 35% 가정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3621024" y="4718304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11,200원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05840" y="5065776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5840" y="5093208"/>
            <a:ext cx="304312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이익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3621024" y="5093208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9,300원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5577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없이 온 새 손님 한 명당 9,300원이 남습니다. 안 팔리면 0원이고, 세 항목 전부 팔린 뒤에만 나갑니다.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46520" y="2011680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127" y="2116287"/>
            <a:ext cx="193121" cy="193121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040880" y="2011680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선지출 광고비 0</a:t>
            </a:r>
            <a:endParaRPr lang="en-US" sz="1350" dirty="0"/>
          </a:p>
        </p:txBody>
      </p:sp>
      <p:sp>
        <p:nvSpPr>
          <p:cNvPr id="32" name="Text 28"/>
          <p:cNvSpPr txBox="1"/>
          <p:nvPr/>
        </p:nvSpPr>
        <p:spPr>
          <a:xfrm>
            <a:off x="7040880" y="2340864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배너, 검색 광고, 체험단처럼 미리 내는 돈이 없습니다. 팔린 만큼만 나갑니다.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446520" y="3090672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127" y="3195279"/>
            <a:ext cx="193121" cy="193121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040880" y="3090672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할인율과 유효기간은 사장님이</a:t>
            </a:r>
            <a:endParaRPr lang="en-US" sz="1350" dirty="0"/>
          </a:p>
        </p:txBody>
      </p:sp>
      <p:sp>
        <p:nvSpPr>
          <p:cNvPr id="36" name="Text 31"/>
          <p:cNvSpPr txBox="1"/>
          <p:nvPr/>
        </p:nvSpPr>
        <p:spPr>
          <a:xfrm>
            <a:off x="7040880" y="3419856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남는 메뉴만 올리고, 할인율도 마감 수량도 직접 정합니다. 손해 보는 구조를 만들 수 없습니다.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446520" y="4169664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127" y="4274271"/>
            <a:ext cx="193121" cy="193121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040880" y="4169664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정산은 손님이 쓴 뒤 매주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7040880" y="4498848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매장에서 QR을 찍은 이용권만 주간 정산으로 매장 계좌에 들어옵니다. 안 쓴 이용권은 손님에게 자동 환불됩니다.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446520" y="5248656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127" y="5353263"/>
            <a:ext cx="193121" cy="193121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040880" y="5248656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하는 일은 하나</a:t>
            </a:r>
            <a:endParaRPr lang="en-US" sz="1350" dirty="0"/>
          </a:p>
        </p:txBody>
      </p:sp>
      <p:sp>
        <p:nvSpPr>
          <p:cNvPr id="44" name="Text 37"/>
          <p:cNvSpPr txBox="1"/>
          <p:nvPr/>
        </p:nvSpPr>
        <p:spPr>
          <a:xfrm>
            <a:off x="7040880" y="5577840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QR을 폰으로 찍거나 확인 PIN을 눌러 주는 것. 등록과 운영은 대행사가 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구조와 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이미 써 본 방식과 나란히 놓으면, 설명이 짧아집니다.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체험단은 무료 식사를 내드리고 후기를 받는 구조이고, 광고는 노출을 삽니다. 유어딜은 손님이 결제한 이용권만 세고, 그 뒤에만 수수료가 나갑니다. 사장님 앞에서 이 표 한 장이면 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697480"/>
            <a:ext cx="345429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2697480"/>
            <a:ext cx="3454298" cy="566928"/>
          </a:xfrm>
          <a:prstGeom prst="roundRect">
            <a:avLst>
              <a:gd name="adj" fmla="val 22581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3063240"/>
            <a:ext cx="3454298" cy="201168"/>
          </a:xfrm>
          <a:prstGeom prst="rect">
            <a:avLst/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2697480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 · 블로그 마케팅</a:t>
            </a:r>
            <a:endParaRPr lang="en-US" sz="13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56616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4440" y="352044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식사 제공 + 대행비 선지출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8795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4142232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결과는 노출 수·방문자 수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809744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4764024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후기는 남지만 손님 결제는 확인 못 함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431536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34440" y="5385816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건당 비용이 먼저 나감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368698" y="2697480"/>
            <a:ext cx="345429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368698" y="2697480"/>
            <a:ext cx="3454298" cy="566928"/>
          </a:xfrm>
          <a:prstGeom prst="roundRect">
            <a:avLst>
              <a:gd name="adj" fmla="val 22581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368698" y="3063240"/>
            <a:ext cx="3454298" cy="201168"/>
          </a:xfrm>
          <a:prstGeom prst="rect">
            <a:avLst/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643018" y="2697480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배달앱 · 검색 광고</a:t>
            </a:r>
            <a:endParaRPr lang="en-US" sz="13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018" y="356616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917338" y="352044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광고비 또는 클릭당 과금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018" y="4187952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917338" y="4142232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결과는 클릭·노출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3018" y="4809744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917338" y="4764024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끄면 같이 끝남</a:t>
            </a:r>
            <a:endParaRPr lang="en-US" sz="11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3018" y="5431536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4917338" y="5385816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위에 광고비가 얹힘</a:t>
            </a:r>
            <a:endParaRPr lang="en-US" sz="1100" dirty="0"/>
          </a:p>
        </p:txBody>
      </p:sp>
      <p:sp>
        <p:nvSpPr>
          <p:cNvPr id="32" name="Shape 21"/>
          <p:cNvSpPr/>
          <p:nvPr/>
        </p:nvSpPr>
        <p:spPr>
          <a:xfrm>
            <a:off x="8051597" y="2697480"/>
            <a:ext cx="3454298" cy="3200400"/>
          </a:xfrm>
          <a:prstGeom prst="roundRect">
            <a:avLst>
              <a:gd name="adj" fmla="val 4000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8051597" y="2697480"/>
            <a:ext cx="3454298" cy="566928"/>
          </a:xfrm>
          <a:prstGeom prst="roundRect">
            <a:avLst>
              <a:gd name="adj" fmla="val 22581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8051597" y="3063240"/>
            <a:ext cx="3454298" cy="201168"/>
          </a:xfrm>
          <a:prstGeom prst="rect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8325917" y="2697480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이용권</a:t>
            </a:r>
            <a:endParaRPr lang="en-US" sz="135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5917" y="3566160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600237" y="352044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선지출 0원, 팔린 뒤에만 수수료</a:t>
            </a:r>
            <a:endParaRPr lang="en-US" sz="11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5917" y="4187952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8600237" y="4142232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결과는 결제 건수와 입금액</a:t>
            </a:r>
            <a:endParaRPr lang="en-US" sz="11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5917" y="4809744"/>
            <a:ext cx="182880" cy="182880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8600237" y="4764024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먼저 결제하고 가게에 옴</a:t>
            </a:r>
            <a:endParaRPr lang="en-US" sz="11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5917" y="5431536"/>
            <a:ext cx="182880" cy="18288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8600237" y="5385816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미사용은 손님에게 100% 자동 환불</a:t>
            </a:r>
            <a:endParaRPr lang="en-US" sz="1100" dirty="0"/>
          </a:p>
        </p:txBody>
      </p:sp>
      <p:sp>
        <p:nvSpPr>
          <p:cNvPr id="44" name="Text 29"/>
          <p:cNvSpPr txBox="1"/>
          <p:nvPr/>
        </p:nvSpPr>
        <p:spPr>
          <a:xfrm>
            <a:off x="685800" y="5989320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체험단·광고의 항목은 일반적인 상품 구조를 요약한 것이고 업체마다 다릅니다. 유어딜 항목은 라이브 설정값입니다.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구조와 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한 곳이 돌면, 다음 매장은 그 숫자로 설득됩니다.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바퀴는 담당자 한 분이 한 매장에서 하는 일 전부입니다. 매장이 늘수록 같은 바퀴가 여러 개 돕니다.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496312" y="2679192"/>
            <a:ext cx="2962656" cy="2962656"/>
          </a:xfrm>
          <a:prstGeom prst="ellipse">
            <a:avLst/>
          </a:prstGeom>
          <a:ln w="31750">
            <a:solidFill>
              <a:srgbClr val="1C69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7560000">
            <a:off x="4729471" y="2843228"/>
            <a:ext cx="237744" cy="237744"/>
          </a:xfrm>
          <a:prstGeom prst="triangl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40380" y="2340864"/>
            <a:ext cx="187452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040380" y="24140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매장을 등록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131820" y="26883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10분, 담당자 폰으로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 rot="11880000">
            <a:off x="5267595" y="4499404"/>
            <a:ext cx="237744" cy="237744"/>
          </a:xfrm>
          <a:prstGeom prst="triangl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49207" y="3364436"/>
            <a:ext cx="187452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449207" y="34375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이용권을 연다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40647" y="37119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메뉴 두세 개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 rot="16200000">
            <a:off x="3858768" y="5522976"/>
            <a:ext cx="237744" cy="237744"/>
          </a:xfrm>
          <a:prstGeom prst="triangl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11083" y="5020612"/>
            <a:ext cx="187452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911083" y="50937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인플루언서를 붙인다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002523" y="53680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DB에서 골라 코드 링크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 rot="20520000">
            <a:off x="2449941" y="4499404"/>
            <a:ext cx="237744" cy="237744"/>
          </a:xfrm>
          <a:prstGeom prst="triangl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69677" y="5020612"/>
            <a:ext cx="187452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2169677" y="50937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결제하고 방문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2261117" y="53680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쓴 것만 주간 정산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 rot="3240000">
            <a:off x="2988065" y="2843228"/>
            <a:ext cx="237744" cy="237744"/>
          </a:xfrm>
          <a:prstGeom prst="triangl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31553" y="3364436"/>
            <a:ext cx="187452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1631553" y="34375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확인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1722993" y="37119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몫은 유어딜이 송금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3251789" y="3434669"/>
            <a:ext cx="1451701" cy="1451701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251789" y="3754044"/>
            <a:ext cx="1451701" cy="50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매장이 늘수록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도는 바퀴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388949" y="4247622"/>
            <a:ext cx="1177381" cy="43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1명, 매장 N곳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635240" y="2514600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847" y="2619207"/>
            <a:ext cx="193121" cy="193121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202168" y="2514600"/>
            <a:ext cx="33037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보고서가 화면에 있습니다</a:t>
            </a:r>
            <a:endParaRPr lang="en-US" sz="1350" dirty="0"/>
          </a:p>
        </p:txBody>
      </p:sp>
      <p:sp>
        <p:nvSpPr>
          <p:cNvPr id="35" name="Text 31"/>
          <p:cNvSpPr txBox="1"/>
          <p:nvPr/>
        </p:nvSpPr>
        <p:spPr>
          <a:xfrm>
            <a:off x="8202168" y="2834640"/>
            <a:ext cx="33037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매장 요약에 매장별 매출과 주문이 뜹니다. 첫 매장의 이 화면이 두 번째 매장을 설득하는 자료가 됩니다.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7635240" y="3721608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847" y="3826215"/>
            <a:ext cx="193121" cy="193121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202168" y="3721608"/>
            <a:ext cx="33037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만든 이용권은 계속 팝니다</a:t>
            </a:r>
            <a:endParaRPr lang="en-US" sz="1350" dirty="0"/>
          </a:p>
        </p:txBody>
      </p:sp>
      <p:sp>
        <p:nvSpPr>
          <p:cNvPr id="39" name="Text 34"/>
          <p:cNvSpPr txBox="1"/>
          <p:nvPr/>
        </p:nvSpPr>
        <p:spPr>
          <a:xfrm>
            <a:off x="8202168" y="4041648"/>
            <a:ext cx="33037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이용권과 매장 페이지는 남고, 인플루언서 링크와 유어샵도 남습니다. 매달 새로 여는 캠페인이 아닙니다.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7635240" y="4928616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847" y="5033223"/>
            <a:ext cx="193121" cy="193121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8202168" y="4928616"/>
            <a:ext cx="33037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객단가가 큰 업종으로 갈수록 커집니다</a:t>
            </a:r>
            <a:endParaRPr 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8202168" y="5248656"/>
            <a:ext cx="33037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 이용권 평균가는 식사의 4.8배입니다. 같은 바퀴를 돌려도 귀사 몫의 재원이 그만큼 커집니다.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매장을 모은다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매장을 데려올지, 어떤 대행사에 맞는지, 사장님 앞에서 10분에 끝내는 등록, 대본, 그리고 목표별 이용권 설계.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가지 체크리스트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대행사에 맞습니다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10분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51572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157216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대본과 거절 답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5046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5504688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목표별 이용권 설계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매장을 모은다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여섯 가지만 맞으면 됩니다.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 그 자리에서 진행됩니다.</a:t>
            </a:r>
            <a:endParaRPr lang="en-US" sz="2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21992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33272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사업자등록이 있다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033272" y="252374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사업자번호, 대표자명, 개업일로 국세청 진위확인을 합니다. 없으면 올릴 수 없습니다.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22199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330952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카카오맵에 매장이 있다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330952" y="252374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등록할 때 카카오맵 장소를 연결합니다. 없으면 사장님이 먼저 등록해야 합니다(무료, 하루 이틀).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5643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33272" y="3429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방문해서 쓰는 업종이다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1033272" y="375818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식당, 카페, 미용, 네일, 숙박, 키즈카페, 스튜디오, 클래스. 택배 상품만 파는 곳은 대상이 아닙니다.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456432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330952" y="3429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15~30% 할인해도 남는 대표 메뉴가 있다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5330952" y="375818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이용권은 할인가로 팝니다. 마진이 얇은 메뉴만 있는 곳은 사장님이 곧 후회합니다.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690872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33272" y="4663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사진이 3장 이상 있다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1033272" y="499262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카드의 절반은 사진입니다. 없으면 방문할 때 폰으로 찍어 오세요.</a:t>
            </a:r>
            <a:endParaRPr lang="en-US" sz="10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4690872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330952" y="4663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사장님이나 직원이 폰으로 QR을 찍을 수 있다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5330952" y="499262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처리는 매장 폰 한 대로 끝납니다. POS 연동이 필요 없습니다.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685800" y="5779008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1005840" y="577900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갈 곳: 배달앱이나 예약앱에 광고비를 쓰고 있는 매장. </a:t>
            </a:r>
            <a:pPr algn="ctr"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 돈을 팔린 뒤에만 내는 걸로 바꾸자"가 통합니다.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9864" y="778824"/>
            <a:ext cx="2629164" cy="502603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961120" y="5724144"/>
            <a:ext cx="29066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올라간 매장 페이지 (유어샵)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매장을 모은다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대행사에 맞습니다. 지금 겪고 계신 말로 적었습니다.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오른쪽은 유어딜이 대신해 주는 것이 아니라, 구조가 그렇게 되어 있어서 귀사가 그 자리에서 쓸 수 있는 것입니다.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377440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2569464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68833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3774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체험단을 돌려 온 대행사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3566160" y="2523744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16200000">
            <a:off x="3438144" y="2706624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767328" y="25237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"후기는 남는데 사장님이 효과를 못 느끼세요."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578608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33488" y="2523744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건수와 입금액이 매장 화면에 남습니다. 그 숫자가 보고서입니다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852928"/>
            <a:ext cx="155448" cy="1554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33488" y="2798064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식사 대신 손님이 결제하고 옵니다. 대행비 선지급이 없습니다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85800" y="3346704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60120" y="3538728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657600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54480" y="334670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광고 대행사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3566160" y="3493008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 rot="16200000">
            <a:off x="3438144" y="3675888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3767328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"배달앱 광고 대행은 남는 게 없어요."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547872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33488" y="349300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몫 %는 매장 등록 때 귀사가 정하고, 유어딜이 직접 보냅니다</a:t>
            </a:r>
            <a:endParaRPr lang="en-US" sz="10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822192"/>
            <a:ext cx="155448" cy="15544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333488" y="376732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유어딜에 내는 돈은 0. 매장에서 팔린 만큼만 유어딜 5%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85800" y="4315968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960120" y="4507992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" y="4626864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554480" y="43159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매니지먼트 · MCN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3566160" y="4462272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 rot="16200000">
            <a:off x="3438144" y="4645152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3767328" y="4462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"소속 크리에이터에게 줄 딜이 부족해요."</a:t>
            </a:r>
            <a:endParaRPr lang="en-US" sz="11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4517136"/>
            <a:ext cx="155448" cy="15544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333488" y="4462272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매장을 등록하고 소속 채널에 코드 링크를 보내면 탭 한 번에 매칭되고 소개비가 자동 귀속됩니다</a:t>
            </a:r>
            <a:endParaRPr lang="en-US" sz="10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4791456"/>
            <a:ext cx="155448" cy="15544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333488" y="4736592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귀속, 확정, 원천징수, 지급은 유어딜이 합니다</a:t>
            </a:r>
            <a:endParaRPr lang="en-US" sz="1050" dirty="0"/>
          </a:p>
        </p:txBody>
      </p:sp>
      <p:sp>
        <p:nvSpPr>
          <p:cNvPr id="41" name="Shape 29"/>
          <p:cNvSpPr/>
          <p:nvPr/>
        </p:nvSpPr>
        <p:spPr>
          <a:xfrm>
            <a:off x="685800" y="5285232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960120" y="5477256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8992" y="5596128"/>
            <a:ext cx="219456" cy="219456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554480" y="528523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매장을 한 번에 보는 곳</a:t>
            </a:r>
            <a:endParaRPr lang="en-US" sz="1350" dirty="0"/>
          </a:p>
        </p:txBody>
      </p:sp>
      <p:sp>
        <p:nvSpPr>
          <p:cNvPr id="45" name="Shape 32"/>
          <p:cNvSpPr/>
          <p:nvPr/>
        </p:nvSpPr>
        <p:spPr>
          <a:xfrm>
            <a:off x="3566160" y="5431536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 rot="16200000">
            <a:off x="3438144" y="5614416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3767328" y="54315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"매장마다 계정을 따로 만들기가 번거로워요."</a:t>
            </a:r>
            <a:endParaRPr lang="en-US" sz="11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5486400"/>
            <a:ext cx="155448" cy="155448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333488" y="5431536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권한 하나로 여러 매장을 한 대시보드에서 봅니다</a:t>
            </a:r>
            <a:endParaRPr lang="en-US" sz="105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5760720"/>
            <a:ext cx="155448" cy="155448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333488" y="5705856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계좌는 매장 주인만. 귀사는 통장을 못 건드립니다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매장을 모은다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앞에서 10분이면 됩니다.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서류 없이, 담당자 폰으로 끝납니다.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762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6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554480" y="2167128"/>
            <a:ext cx="365760" cy="36576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578" y="2262226"/>
            <a:ext cx="175565" cy="1755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57400" y="21762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카카오맵에서 매장 찾기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057400" y="247802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/seller/stores 에서 매장 이름을 검색해 장소를 연결합니다. 주소와 좌표가 자동으로 들어옵니다.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85800" y="2916936"/>
            <a:ext cx="76809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29809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6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1554480" y="2971800"/>
            <a:ext cx="365760" cy="36576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578" y="3066898"/>
            <a:ext cx="175565" cy="1755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57400" y="29809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국세청 진위확인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2057400" y="328269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사업자번호, 대표자명, 개업일을 넣으면 국세청 조회로 즉시 확인됩니다. 사업자등록증 사진만 보면 됩니다.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85800" y="3721608"/>
            <a:ext cx="76809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785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6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1554480" y="3776472"/>
            <a:ext cx="365760" cy="36576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578" y="3871570"/>
            <a:ext cx="175565" cy="17556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057400" y="37856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"누가 운영하나요"에서 중개 선택, 두 % 입력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2057400" y="408736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"중개·대행사에요"를 고르면 그 매장은 5%가 적용됩니다. 이때 사장님께 드릴 코드가 자동으로 생기고, 귀사 몫 %와 인플루언서 상한 %를 함께 정합니다. 정산 계좌는 사장님이 주인이 된 뒤에만.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85800" y="4526280"/>
            <a:ext cx="76809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85800" y="45902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6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3분씩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1554480" y="4581144"/>
            <a:ext cx="365760" cy="36576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9578" y="4676242"/>
            <a:ext cx="175565" cy="17556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057400" y="45902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만들기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2057400" y="48920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사진, 정가, 판매가, 유효기간, 마감 수량. 대표 메뉴 두세 개면 충분합니다. 사진은 그 자리에서 찍어도 됩니다.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85800" y="5330952"/>
            <a:ext cx="76809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85800" y="53949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6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</a:t>
            </a:r>
            <a:endParaRPr lang="en-US" sz="1700" dirty="0"/>
          </a:p>
        </p:txBody>
      </p:sp>
      <p:sp>
        <p:nvSpPr>
          <p:cNvPr id="32" name="Shape 25"/>
          <p:cNvSpPr/>
          <p:nvPr/>
        </p:nvSpPr>
        <p:spPr>
          <a:xfrm>
            <a:off x="1554480" y="5385816"/>
            <a:ext cx="365760" cy="36576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9578" y="5480914"/>
            <a:ext cx="175565" cy="17556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2057400" y="5394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사장님께 코드와 사용법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2057400" y="56967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코드를 드립니다. 사장님이 가입하며 그 코드를 넣으면 매장 주인이 됩니다(등록증 확인은 그대로). 손님 QR 확인법까지, 이것만 설명하면 됩니다.</a:t>
            </a:r>
            <a:endParaRPr lang="en-US" sz="105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0173" y="817733"/>
            <a:ext cx="2708039" cy="517681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778240" y="5907024"/>
            <a:ext cx="2971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관리 화면 (예시 데이터)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8732520" y="2240280"/>
            <a:ext cx="1939671" cy="274320"/>
          </a:xfrm>
          <a:prstGeom prst="roundRect">
            <a:avLst>
              <a:gd name="adj" fmla="val 50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  <a:effectLst>
            <a:outerShdw sx="100000" sy="100000" kx="0" ky="0" algn="bl" rotWithShape="0" blurRad="76200" dist="25400" dir="5400000">
              <a:srgbClr val="16181C">
                <a:alpha val="22000"/>
              </a:srgbClr>
            </a:outerShdw>
          </a:effectLst>
        </p:spPr>
      </p:sp>
      <p:sp>
        <p:nvSpPr>
          <p:cNvPr id="39" name="Text 30"/>
          <p:cNvSpPr txBox="1"/>
          <p:nvPr/>
        </p:nvSpPr>
        <p:spPr>
          <a:xfrm>
            <a:off x="8732520" y="2240280"/>
            <a:ext cx="1939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카카오맵 검색으로 주소 자동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매장을 모은다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사장님께 드릴 말씀 네 마디와, 거절에 대한 답 다섯 가지를 준비했습니다.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4114800" cy="4297680"/>
          </a:xfrm>
          <a:prstGeom prst="roundRect">
            <a:avLst>
              <a:gd name="adj" fmla="val 3111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대본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4871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열기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48716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"사장님, 배달앱 말고 손님이 가게에 직접 오게 하는 건데요. 미리 내는 돈은 없고 팔린 만큼만 5% 나갑니다."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4015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보여주기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340156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메뉴를 이용권으로 올리면 이렇게 보입니다." (오른쪽 화면을 폰으로 보여 준다)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정하기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431596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"어떤 메뉴를 몇 % 할인해서 올릴까요? 유효기간은요?" 사장님이 정하게 한다.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5230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끝내기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523036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"등록증만 보여 주시면 지금 올라갑니다. 코드 하나 드릴 테니 사장님 카카오로 가입하실 때 넣어 주세요. 그러면 매장 주인이 되세요."</a:t>
            </a:r>
            <a:endParaRPr lang="en-US" sz="10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245" y="1752565"/>
            <a:ext cx="2471414" cy="472447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98080" y="1965960"/>
            <a:ext cx="4007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"할인하면 손해 아니에요?"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2240280"/>
            <a:ext cx="4007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남는 메뉴만, 사장님이 정한 할인율로만 올립니다. 안 팔리면 0원이고, 팔리면 새 손님입니다.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498080" y="2834640"/>
            <a:ext cx="4007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"배달앱이랑 뭐가 달라요?"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498080" y="3108960"/>
            <a:ext cx="4007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배달이 없고 손님이 가게에 옵니다. 수수료는 5%이고, 가게 페이지가 사장님 것으로 남습니다. 병행해도 됩니다.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498080" y="3703320"/>
            <a:ext cx="4007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"정산은 언제 들어와요?"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498080" y="3977640"/>
            <a:ext cx="4007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매장에서 쓴 이용권만 매주 정산돼 매장 계좌로 들어옵니다. 안 쓴 건 손님에게 자동 환불이라 분쟁이 없습니다.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4572000"/>
            <a:ext cx="4007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"귀찮은 일 있어요?"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498080" y="4846320"/>
            <a:ext cx="4007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QR을 폰으로 찍는 것 하나입니다. 등록, 이용권 관리, 인플루언서 섭외는 제가 합니다.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7498080" y="5440680"/>
            <a:ext cx="4007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"계약서 써야 해요?"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498080" y="5715000"/>
            <a:ext cx="4007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유어딜과는 가입뿐입니다. 제 몫은 등록할 때 적힌 %로 유어딜이 보내고, 마음에 안 들면 오늘이라도 사장님이 제 권한을 빼시면 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매장을 모은다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사장님께 목표를 물으면, 이 표에서 한 줄을 고르십시오.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다섯 칸 전부 이용권 등록 화면의 입력값입니다. 유어딜이 정한 요율이 아니라 매장과 귀사가 정하는 값이라, 상담 자리에서 바로 바꿔도 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714232" y="2487168"/>
            <a:ext cx="2770632" cy="2944368"/>
          </a:xfrm>
          <a:prstGeom prst="roundRect">
            <a:avLst>
              <a:gd name="adj" fmla="val 33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5603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매장의 목표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할인율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25603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유효기간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5603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조건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25603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소개비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5800" y="2834640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88950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손님 만들기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606040" y="28895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20~30%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28895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30장 한정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288950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30일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288950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823960" y="288950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 정도. 동네 채널 한두 곳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5800" y="3346704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3832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평일 매출 채우기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2606040" y="33832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15~20%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3832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 없음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33832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60일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33832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평일 점심 11~15시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338328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없어도 됩니다. 조건이 곧 홍보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85800" y="3840480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38770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메뉴 반응 보기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606040" y="38770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10~15%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38770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30장 한정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5074920" y="387705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14일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537960" y="387705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823960" y="3877056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없음. 팔리는 속도가 곧 답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85800" y="4334256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" y="437083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 늘리기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2606040" y="437083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3840480" y="437083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 없음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074920" y="43708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90일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437083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823960" y="437083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없음. 매장 단톡방·인스타에 직접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85800" y="4828032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486460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숙박·뷰티처럼 객단가가 큰 곳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2606040" y="4864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10~15%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3840480" y="4864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20장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5074920" y="48646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60일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6537960" y="486460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필수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8823960" y="486460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5~8%. 단가가 커서 % 는 낮게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85800" y="5321808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85800" y="5742432"/>
            <a:ext cx="10820095" cy="420624"/>
          </a:xfrm>
          <a:prstGeom prst="roundRect">
            <a:avLst>
              <a:gd name="adj" fmla="val 21739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05840" y="5742432"/>
            <a:ext cx="10180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값은 권장 설정이지 약속이 아닙니다. </a:t>
            </a:r>
            <a:pPr algn="ctr"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달 돌려 보고 화면의 숫자로 다시 정하면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인플루언서와 운영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섭외부터 정산까지 화면 안에서 끝나는 인플루언서 일, 담당자의 일주일, 그리고 "왜 남에게 계정을 맡기죠?"에 시스템이 답하는 방법.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붙이기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고르는 기준과 채널별 기대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담당자의 일주일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51572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157216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표와 운영자 화면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5046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5504688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해 주는 것, 미리 말씀드리는 것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인플루언서와 운영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섭외부터 정산까지,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일은 화면 안에서 끝납니다.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2167128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176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DB에서 고른다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47802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/seller/influencers 에서 플랫폼과 팔로워 구간으로 거릅니다. 매장 동네에서 활동하는 채널을 우선합니다.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916936"/>
            <a:ext cx="60807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980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링크를 보낸다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28269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코드가 담긴 링크 하나를 보냅니다. 인플루언서가 탭하면 가입이 되고 그 순간 매장과 매칭됩니다. 승인이 필요한 코드로 만들면 귀사가 한 번 더 확인합니다.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3721608"/>
            <a:ext cx="60807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776472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3785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 %는 코드에 싣고, 딜마다 조정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4087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코드를 만들 때 기본 %를 정합니다(등록 때 정한 상한 안). 인플루언서마다 다른 코드를 쓰거나, 딜에서 바로 조정하면 이후 판매분부터 적용됩니다.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5800" y="4526280"/>
            <a:ext cx="60807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4581144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581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4590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귀속은 자동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88720" y="4892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마이페이지에 매장 단위 링크가 생기고, 그 링크로 들어온 주문이 자동 연결됩니다. 이용권이 바뀌어도 링크는 그대로입니다.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85800" y="5330952"/>
            <a:ext cx="60807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" y="5385816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5385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지급도 자동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188720" y="56967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이용권을 쓰면 확정되고, 원천징수를 계산해 유어딜이 지급합니다. 대행사가 돈을 옮기지 않습니다.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876288" y="1069848"/>
            <a:ext cx="4702759" cy="2168186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43000"/>
            <a:ext cx="4556455" cy="2021882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949440" y="3347762"/>
            <a:ext cx="4556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풀 (실제 화면, 연락처는 가렸습니다)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9585655" y="1033272"/>
            <a:ext cx="1396746" cy="274320"/>
          </a:xfrm>
          <a:prstGeom prst="roundRect">
            <a:avLst>
              <a:gd name="adj" fmla="val 50000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  <a:effectLst>
            <a:outerShdw sx="100000" sy="100000" kx="0" ky="0" algn="bl" rotWithShape="0" blurRad="76200" dist="25400" dir="5400000">
              <a:srgbClr val="16181C">
                <a:alpha val="22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9585655" y="1033272"/>
            <a:ext cx="1396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연락처는 가렸습니다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6949440" y="3731810"/>
            <a:ext cx="4556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DB (2026-10-12 실측)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949440" y="4006130"/>
            <a:ext cx="2916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1150" dirty="0"/>
          </a:p>
        </p:txBody>
      </p:sp>
      <p:sp>
        <p:nvSpPr>
          <p:cNvPr id="38" name="Text 34"/>
          <p:cNvSpPr txBox="1"/>
          <p:nvPr/>
        </p:nvSpPr>
        <p:spPr>
          <a:xfrm>
            <a:off x="9455490" y="4006130"/>
            <a:ext cx="2050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337,842명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6949440" y="4335314"/>
            <a:ext cx="2916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 가능</a:t>
            </a:r>
            <a:endParaRPr lang="en-US" sz="1150" dirty="0"/>
          </a:p>
        </p:txBody>
      </p:sp>
      <p:sp>
        <p:nvSpPr>
          <p:cNvPr id="40" name="Text 36"/>
          <p:cNvSpPr txBox="1"/>
          <p:nvPr/>
        </p:nvSpPr>
        <p:spPr>
          <a:xfrm>
            <a:off x="9455490" y="4335314"/>
            <a:ext cx="2050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65,431명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6949440" y="4637066"/>
            <a:ext cx="455645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949440" y="4664498"/>
            <a:ext cx="2916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블로그</a:t>
            </a:r>
            <a:endParaRPr lang="en-US" sz="1150" dirty="0"/>
          </a:p>
        </p:txBody>
      </p:sp>
      <p:sp>
        <p:nvSpPr>
          <p:cNvPr id="43" name="Text 39"/>
          <p:cNvSpPr txBox="1"/>
          <p:nvPr/>
        </p:nvSpPr>
        <p:spPr>
          <a:xfrm>
            <a:off x="9455490" y="4664498"/>
            <a:ext cx="2050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299,363명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6949440" y="4993682"/>
            <a:ext cx="2916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</a:t>
            </a:r>
            <a:endParaRPr lang="en-US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9455490" y="4993682"/>
            <a:ext cx="2050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20,584명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6949440" y="5322866"/>
            <a:ext cx="2916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카페</a:t>
            </a:r>
            <a:endParaRPr lang="en-US" sz="1150" dirty="0"/>
          </a:p>
        </p:txBody>
      </p:sp>
      <p:sp>
        <p:nvSpPr>
          <p:cNvPr id="47" name="Text 43"/>
          <p:cNvSpPr txBox="1"/>
          <p:nvPr/>
        </p:nvSpPr>
        <p:spPr>
          <a:xfrm>
            <a:off x="9455490" y="5322866"/>
            <a:ext cx="2050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9,939명</a:t>
            </a:r>
            <a:endParaRPr lang="en-US" sz="1200" dirty="0"/>
          </a:p>
        </p:txBody>
      </p:sp>
      <p:sp>
        <p:nvSpPr>
          <p:cNvPr id="48" name="Text 44"/>
          <p:cNvSpPr txBox="1"/>
          <p:nvPr/>
        </p:nvSpPr>
        <p:spPr>
          <a:xfrm>
            <a:off x="6949440" y="5697770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인스타그램과 틱톡은 필터에 있으나 DB의 대부분은 네이버 블로그와 유튜브입니다.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인플루언서와 운영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 수만 보고 고르지 않으셔도 됩니다.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걸러 주는 기준이 화면에 있습니다.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85800" y="2286000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07" y="2390607"/>
            <a:ext cx="193121" cy="1931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52728" y="22860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252728" y="260604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맛집, 뷰티, 여행, 육아처럼 채널이 실제로 다루는 주제로 거릅니다. 매장 업종과 맞는 채널만 남습니다.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685800" y="3154680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07" y="3259287"/>
            <a:ext cx="193121" cy="19312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52728" y="31546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 구간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252728" y="34747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1천 미만부터 10만 이상까지 구간으로 봅니다. 동네 매장은 큰 채널보다 동네에서 읽히는 중간 채널이 맞습니다.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685800" y="4023360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07" y="4127967"/>
            <a:ext cx="193121" cy="19312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52728" y="40233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정렬 다섯 가지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252728" y="43434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팔로워순, 평균 조회순, 게시물순, 댓글순, 추천순. 팔로워는 많은데 조회가 낮은 채널은 여기서 걸러집니다.</a:t>
            </a:r>
            <a:endParaRPr lang="en-US" sz="1080" dirty="0"/>
          </a:p>
        </p:txBody>
      </p:sp>
      <p:sp>
        <p:nvSpPr>
          <p:cNvPr id="19" name="Shape 13"/>
          <p:cNvSpPr/>
          <p:nvPr/>
        </p:nvSpPr>
        <p:spPr>
          <a:xfrm>
            <a:off x="685800" y="4892040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07" y="4996647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52728" y="48920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표에 보이는 것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252728" y="521208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프로필, 팔로워, 게시물 수, 평균 조회, 평균 댓글. 연락처는 대행사에게도 안 보이고, 코드 링크는 유어딜이 대신 보냅니다.</a:t>
            </a:r>
            <a:endParaRPr lang="en-US" sz="1080" dirty="0"/>
          </a:p>
        </p:txBody>
      </p:sp>
      <p:sp>
        <p:nvSpPr>
          <p:cNvPr id="23" name="Shape 16"/>
          <p:cNvSpPr/>
          <p:nvPr/>
        </p:nvSpPr>
        <p:spPr>
          <a:xfrm>
            <a:off x="685800" y="5760720"/>
            <a:ext cx="6583680" cy="438912"/>
          </a:xfrm>
          <a:prstGeom prst="roundRect">
            <a:avLst>
              <a:gd name="adj" fmla="val 29167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914400" y="576072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출처: </a:t>
            </a:r>
            <a:pPr indent="0" marL="0"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직접 수집한 인플루언서 DB 337,842명 (2026-10-12 실측). 채널 활동 지표는 주기적으로 다시 잽니다.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5382" y="843022"/>
            <a:ext cx="2944664" cy="56291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183880" y="6364224"/>
            <a:ext cx="3167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 파트너 찾기 (/seller/influencers, 예시 데이터)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8092440" y="2331720"/>
            <a:ext cx="2265426" cy="274320"/>
          </a:xfrm>
          <a:prstGeom prst="roundRect">
            <a:avLst>
              <a:gd name="adj" fmla="val 50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  <a:effectLst>
            <a:outerShdw sx="100000" sy="100000" kx="0" ky="0" algn="bl" rotWithShape="0" blurRad="76200" dist="25400" dir="5400000">
              <a:srgbClr val="16181C">
                <a:alpha val="22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8092440" y="2331720"/>
            <a:ext cx="2265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· 팔로워 구간 · 정렬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8092440" y="4114800"/>
            <a:ext cx="1722501" cy="274320"/>
          </a:xfrm>
          <a:prstGeom prst="roundRect">
            <a:avLst>
              <a:gd name="adj" fmla="val 50000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  <a:effectLst>
            <a:outerShdw sx="100000" sy="100000" kx="0" ky="0" algn="bl" rotWithShape="0" blurRad="76200" dist="25400" dir="5400000">
              <a:srgbClr val="16181C">
                <a:alpha val="22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8092440" y="4114800"/>
            <a:ext cx="17225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골라서 코드 링크 보내기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인플루언서와 운영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채널마다 하는 일이 다릅니다. 이용권 링크 하나가 네 곳에 실립니다.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채널이든 인플루언서에게는 매장 단위 링크와 유어샵이 생기고, 그 링크로 들어온 결제만 소개비로 잡힙니다. 노출을 세지 않고 결제를 셉니다.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468880"/>
            <a:ext cx="2533574" cy="36576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41832" y="2724912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94" y="2834274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41832" y="3273552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블로그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941832" y="356616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"동네 + 메뉴" 검색에서 오래 남는 글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41832" y="3913632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기대하나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41832" y="432511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41832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289304" y="429768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검색으로 찾는 손님에게 매장 이름을 먼저 보여 줍니다</a:t>
            </a:r>
            <a:endParaRPr lang="en-US" sz="1020" dirty="0"/>
          </a:p>
        </p:txBody>
      </p:sp>
      <p:sp>
        <p:nvSpPr>
          <p:cNvPr id="17" name="Shape 13"/>
          <p:cNvSpPr/>
          <p:nvPr/>
        </p:nvSpPr>
        <p:spPr>
          <a:xfrm>
            <a:off x="941832" y="487375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41832" y="4873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1289304" y="484632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 안의 이용권 링크가 결제로 이어집니다</a:t>
            </a:r>
            <a:endParaRPr lang="en-US" sz="1020" dirty="0"/>
          </a:p>
        </p:txBody>
      </p:sp>
      <p:sp>
        <p:nvSpPr>
          <p:cNvPr id="20" name="Shape 16"/>
          <p:cNvSpPr/>
          <p:nvPr/>
        </p:nvSpPr>
        <p:spPr>
          <a:xfrm>
            <a:off x="941832" y="542239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41832" y="5422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1289304" y="539496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쓴 글이 유효기간 동안 계속 팝니다</a:t>
            </a:r>
            <a:endParaRPr lang="en-US" sz="1020" dirty="0"/>
          </a:p>
        </p:txBody>
      </p:sp>
      <p:sp>
        <p:nvSpPr>
          <p:cNvPr id="23" name="Shape 19"/>
          <p:cNvSpPr/>
          <p:nvPr/>
        </p:nvSpPr>
        <p:spPr>
          <a:xfrm>
            <a:off x="3447974" y="2468880"/>
            <a:ext cx="2533574" cy="36576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04006" y="2724912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368" y="2834274"/>
            <a:ext cx="201900" cy="2019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3704006" y="3273552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· 쇼츠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3704006" y="356616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먹는 장면으로 설득하는 영상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3704006" y="3913632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기대하나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3704006" y="432511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704006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4051478" y="429768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설명란과 고정 댓글에 이용권 링크를 둡니다</a:t>
            </a:r>
            <a:endParaRPr lang="en-US" sz="1020" dirty="0"/>
          </a:p>
        </p:txBody>
      </p:sp>
      <p:sp>
        <p:nvSpPr>
          <p:cNvPr id="32" name="Shape 27"/>
          <p:cNvSpPr/>
          <p:nvPr/>
        </p:nvSpPr>
        <p:spPr>
          <a:xfrm>
            <a:off x="3704006" y="487375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704006" y="4873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4051478" y="484632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쇼츠는 매장 근처 시청자에게 짧게 닿습니다</a:t>
            </a:r>
            <a:endParaRPr lang="en-US" sz="1020" dirty="0"/>
          </a:p>
        </p:txBody>
      </p:sp>
      <p:sp>
        <p:nvSpPr>
          <p:cNvPr id="35" name="Shape 30"/>
          <p:cNvSpPr/>
          <p:nvPr/>
        </p:nvSpPr>
        <p:spPr>
          <a:xfrm>
            <a:off x="3704006" y="542239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704006" y="5422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4051478" y="539496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하나로 여러 이용권을 함께 소개할 수 있습니다</a:t>
            </a:r>
            <a:endParaRPr lang="en-US" sz="1020" dirty="0"/>
          </a:p>
        </p:txBody>
      </p:sp>
      <p:sp>
        <p:nvSpPr>
          <p:cNvPr id="38" name="Shape 33"/>
          <p:cNvSpPr/>
          <p:nvPr/>
        </p:nvSpPr>
        <p:spPr>
          <a:xfrm>
            <a:off x="6210148" y="2468880"/>
            <a:ext cx="2533574" cy="36576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466180" y="2724912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542" y="2834274"/>
            <a:ext cx="201900" cy="20190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6466180" y="3273552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 · 릴스</a:t>
            </a:r>
            <a:endParaRPr 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466180" y="356616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감성과 단골 손님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466180" y="3913632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기대하나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6466180" y="432511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466180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46" name="Text 40"/>
          <p:cNvSpPr txBox="1"/>
          <p:nvPr/>
        </p:nvSpPr>
        <p:spPr>
          <a:xfrm>
            <a:off x="6813652" y="429768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링크를 유어샵으로 둡니다</a:t>
            </a:r>
            <a:endParaRPr lang="en-US" sz="1020" dirty="0"/>
          </a:p>
        </p:txBody>
      </p:sp>
      <p:sp>
        <p:nvSpPr>
          <p:cNvPr id="47" name="Shape 41"/>
          <p:cNvSpPr/>
          <p:nvPr/>
        </p:nvSpPr>
        <p:spPr>
          <a:xfrm>
            <a:off x="6466180" y="487375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6466180" y="4873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49" name="Text 43"/>
          <p:cNvSpPr txBox="1"/>
          <p:nvPr/>
        </p:nvSpPr>
        <p:spPr>
          <a:xfrm>
            <a:off x="6813652" y="484632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릴스와 스토리에서 이용권을 바로 안내합니다</a:t>
            </a:r>
            <a:endParaRPr lang="en-US" sz="1020" dirty="0"/>
          </a:p>
        </p:txBody>
      </p:sp>
      <p:sp>
        <p:nvSpPr>
          <p:cNvPr id="50" name="Shape 44"/>
          <p:cNvSpPr/>
          <p:nvPr/>
        </p:nvSpPr>
        <p:spPr>
          <a:xfrm>
            <a:off x="6466180" y="542239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6466180" y="5422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52" name="Text 46"/>
          <p:cNvSpPr txBox="1"/>
          <p:nvPr/>
        </p:nvSpPr>
        <p:spPr>
          <a:xfrm>
            <a:off x="6813652" y="539496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팔로워가 적어도 동네 손님이면 결제가 납니다</a:t>
            </a:r>
            <a:endParaRPr lang="en-US" sz="1020" dirty="0"/>
          </a:p>
        </p:txBody>
      </p:sp>
      <p:sp>
        <p:nvSpPr>
          <p:cNvPr id="53" name="Shape 47"/>
          <p:cNvSpPr/>
          <p:nvPr/>
        </p:nvSpPr>
        <p:spPr>
          <a:xfrm>
            <a:off x="8972321" y="2468880"/>
            <a:ext cx="2533574" cy="36576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9228353" y="2724912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7716" y="2834274"/>
            <a:ext cx="201900" cy="201900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9228353" y="3273552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유어쇼츠</a:t>
            </a:r>
            <a:endParaRPr lang="en-US" sz="1350" dirty="0"/>
          </a:p>
        </p:txBody>
      </p:sp>
      <p:sp>
        <p:nvSpPr>
          <p:cNvPr id="57" name="Text 50"/>
          <p:cNvSpPr txBox="1"/>
          <p:nvPr/>
        </p:nvSpPr>
        <p:spPr>
          <a:xfrm>
            <a:off x="9228353" y="356616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페이지 안의 세로 영상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9228353" y="3913632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기대하나</a:t>
            </a:r>
            <a:endParaRPr lang="en-US" sz="1250" dirty="0"/>
          </a:p>
        </p:txBody>
      </p:sp>
      <p:sp>
        <p:nvSpPr>
          <p:cNvPr id="59" name="Shape 52"/>
          <p:cNvSpPr/>
          <p:nvPr/>
        </p:nvSpPr>
        <p:spPr>
          <a:xfrm>
            <a:off x="9228353" y="432511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9228353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61" name="Text 54"/>
          <p:cNvSpPr txBox="1"/>
          <p:nvPr/>
        </p:nvSpPr>
        <p:spPr>
          <a:xfrm>
            <a:off x="9575825" y="429768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홈과 이용권 상세에 영상이 실립니다</a:t>
            </a:r>
            <a:endParaRPr lang="en-US" sz="1020" dirty="0"/>
          </a:p>
        </p:txBody>
      </p:sp>
      <p:sp>
        <p:nvSpPr>
          <p:cNvPr id="62" name="Shape 55"/>
          <p:cNvSpPr/>
          <p:nvPr/>
        </p:nvSpPr>
        <p:spPr>
          <a:xfrm>
            <a:off x="9228353" y="487375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9228353" y="4873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64" name="Text 57"/>
          <p:cNvSpPr txBox="1"/>
          <p:nvPr/>
        </p:nvSpPr>
        <p:spPr>
          <a:xfrm>
            <a:off x="9575825" y="484632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아래 구매 버튼으로 바로 결제합니다</a:t>
            </a:r>
            <a:endParaRPr lang="en-US" sz="1020" dirty="0"/>
          </a:p>
        </p:txBody>
      </p:sp>
      <p:sp>
        <p:nvSpPr>
          <p:cNvPr id="65" name="Shape 58"/>
          <p:cNvSpPr/>
          <p:nvPr/>
        </p:nvSpPr>
        <p:spPr>
          <a:xfrm>
            <a:off x="9228353" y="542239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9228353" y="5422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67" name="Text 60"/>
          <p:cNvSpPr txBox="1"/>
          <p:nvPr/>
        </p:nvSpPr>
        <p:spPr>
          <a:xfrm>
            <a:off x="9575825" y="5394960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채널 없이도 소개 커미션이 잡힙니다</a:t>
            </a:r>
            <a:endParaRPr lang="en-US" sz="10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인플루언서와 운영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한 분의 일주일입니다.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화면은 여섯 장뿐입니다.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76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월·화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67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방문 4곳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4597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체크리스트로 고른 매장을 방문해 등록합니다. 하루 2곳이면 충분합니다.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" y="2898648"/>
            <a:ext cx="484632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9626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953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손보기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교체, 마감 수량, 할인율 조정. 잘 팔리는 메뉴는 수량을 늘립니다.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" y="3685032"/>
            <a:ext cx="484632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3739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링크 5건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40325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DB에서 매장 동네 채널을 골라 코드 링크를 보내고, 매칭된 사람과 첫 주문을 확인합니다.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5800" y="4471416"/>
            <a:ext cx="484632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5354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확인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48188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셀러 대시보드에서 매장별, 인플루언서별 성과와 귀사 몫을 봅니다. 청구서를 쓸 일이 없고, 사장님께는 화면 숫자를 그대로 공유합니다.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53492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화면 여섯 장 (전부 셀러 대시보드, 별도 프로그램 없음)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6235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관리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737360" y="5632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6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/seller/stores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3200400" y="56235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권한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251960" y="5632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6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/seller/operators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5852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탐색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737360" y="5861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6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/seller/influencers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3200400" y="5852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 협업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251960" y="5861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6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/seller/influencer-deals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60807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 내역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737360" y="6089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6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/seller/promo-spend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3200400" y="60807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매장 요약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251960" y="6089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6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/seller/operating</a:t>
            </a:r>
            <a:endParaRPr lang="en-US" sz="8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106" y="1644917"/>
            <a:ext cx="2129623" cy="4071086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5452229" y="5678424"/>
            <a:ext cx="24933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관리</a:t>
            </a:r>
            <a:endParaRPr lang="en-US" sz="105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131" y="1644917"/>
            <a:ext cx="2129623" cy="4071086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7415254" y="5678424"/>
            <a:ext cx="24933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매장 요약</a:t>
            </a:r>
            <a:endParaRPr lang="en-US" sz="105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155" y="1644917"/>
            <a:ext cx="2129623" cy="4071086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378279" y="5678424"/>
            <a:ext cx="24933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관리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5817989" y="5989320"/>
            <a:ext cx="5687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데이터로 렌더한 실제 화면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인플루언서와 운영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"왜 남에게 계정을 맡기죠?" 계약서가 아니라 시스템이 답합니다.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영업에서 가장 어려운 질문은 "왜 남에게 우리 가게 계정을 맡기느냐"입니다. 운영자(귀사)가 무엇을 할 수 있고 무엇이 막혀 있는지 화면으로 보여 드리면 됩니다.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60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운영자(귀사)가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2560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2834640"/>
            <a:ext cx="685800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9077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등록과 가격 설정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81528" y="2980944"/>
            <a:ext cx="640080" cy="182880"/>
          </a:xfrm>
          <a:prstGeom prst="roundRect">
            <a:avLst>
              <a:gd name="adj" fmla="val 60000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81528" y="29809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29077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대신 이용권을 만들고 운영합니다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85800" y="3246120"/>
            <a:ext cx="685800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2735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주문과 예약 관리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081528" y="3346704"/>
            <a:ext cx="640080" cy="182880"/>
          </a:xfrm>
          <a:prstGeom prst="roundRect">
            <a:avLst>
              <a:gd name="adj" fmla="val 60000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81528" y="33467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840480" y="327355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 운영 전부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685800" y="3611880"/>
            <a:ext cx="685800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6393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인플루언서에게 코드 링크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081528" y="3712464"/>
            <a:ext cx="640080" cy="182880"/>
          </a:xfrm>
          <a:prstGeom prst="roundRect">
            <a:avLst>
              <a:gd name="adj" fmla="val 60000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81528" y="37124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3840480" y="3639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탭 한 번에 가입과 매칭. 소개비 %는 등록 때 정한 값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685800" y="3977640"/>
            <a:ext cx="685800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40050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정산계좌 등록과 변경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081528" y="4078224"/>
            <a:ext cx="640080" cy="182880"/>
          </a:xfrm>
          <a:prstGeom prst="roundRect">
            <a:avLst>
              <a:gd name="adj" fmla="val 60000"/>
            </a:avLst>
          </a:prstGeom>
          <a:solidFill>
            <a:srgbClr val="FCE4E4"/>
          </a:solidFill>
          <a:ln w="12700">
            <a:solidFill>
              <a:srgbClr val="FCE4E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81528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3840480" y="40050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주인만. 사장님이 소유자가 되기 전엔 계좌가 비어 정산이 나가지 않습니다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685800" y="4343400"/>
            <a:ext cx="685800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43708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사업자정보 열람과 수정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081528" y="4443984"/>
            <a:ext cx="640080" cy="182880"/>
          </a:xfrm>
          <a:prstGeom prst="roundRect">
            <a:avLst>
              <a:gd name="adj" fmla="val 60000"/>
            </a:avLst>
          </a:prstGeom>
          <a:solidFill>
            <a:srgbClr val="FCE4E4"/>
          </a:solidFill>
          <a:ln w="12700">
            <a:solidFill>
              <a:srgbClr val="FCE4E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081528" y="44439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3840480" y="43708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등록번호 끝 4자리, 대표자명 첫 글자만. 주소와 연락처는 안 보입니다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685800" y="4709160"/>
            <a:ext cx="685800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47365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탈퇴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081528" y="4809744"/>
            <a:ext cx="640080" cy="182880"/>
          </a:xfrm>
          <a:prstGeom prst="roundRect">
            <a:avLst>
              <a:gd name="adj" fmla="val 60000"/>
            </a:avLst>
          </a:prstGeom>
          <a:solidFill>
            <a:srgbClr val="FCE4E4"/>
          </a:solidFill>
          <a:ln w="12700">
            <a:solidFill>
              <a:srgbClr val="FCE4E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081528" y="48097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3840480" y="47365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주인만 할 수 있습니다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685800" y="5074920"/>
            <a:ext cx="685800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85800" y="51023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권한 회수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081528" y="5175504"/>
            <a:ext cx="640080" cy="182880"/>
          </a:xfrm>
          <a:prstGeom prst="roundRect">
            <a:avLst>
              <a:gd name="adj" fmla="val 60000"/>
            </a:avLst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081528" y="51755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3840480" y="510235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주인이 언제든. 올려 둔 이용권, 주문, 리뷰는 매장에 남습니다</a:t>
            </a:r>
            <a:endParaRPr lang="en-US" sz="980" dirty="0"/>
          </a:p>
        </p:txBody>
      </p:sp>
      <p:sp>
        <p:nvSpPr>
          <p:cNvPr id="45" name="Shape 42"/>
          <p:cNvSpPr/>
          <p:nvPr/>
        </p:nvSpPr>
        <p:spPr>
          <a:xfrm>
            <a:off x="685800" y="5440680"/>
            <a:ext cx="685800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85800" y="5559552"/>
            <a:ext cx="6858000" cy="621792"/>
          </a:xfrm>
          <a:prstGeom prst="roundRect">
            <a:avLst>
              <a:gd name="adj" fmla="val 14706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005840" y="555955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매장의 돈이 다른 곳으로 갈 경로가 시스템에 없습니다. </a:t>
            </a:r>
            <a:pPr algn="ctr"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"제가 통장을 못 건드립니다" 한 문장이 계약서 열 장보다 잘 통합니다.</a:t>
            </a:r>
            <a:endParaRPr lang="en-US" sz="1100" dirty="0"/>
          </a:p>
        </p:txBody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893" y="817733"/>
            <a:ext cx="2708039" cy="5176813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8823960" y="5907024"/>
            <a:ext cx="2971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관리 (예시 데이터)</a:t>
            </a:r>
            <a:endParaRPr lang="en-US" sz="1050" dirty="0"/>
          </a:p>
        </p:txBody>
      </p:sp>
      <p:sp>
        <p:nvSpPr>
          <p:cNvPr id="50" name="Text 46"/>
          <p:cNvSpPr txBox="1"/>
          <p:nvPr/>
        </p:nvSpPr>
        <p:spPr>
          <a:xfrm>
            <a:off x="7726680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핸들로 초대</a:t>
            </a:r>
            <a:endParaRPr lang="en-US" sz="1250" dirty="0"/>
          </a:p>
        </p:txBody>
      </p:sp>
      <p:sp>
        <p:nvSpPr>
          <p:cNvPr id="51" name="Text 47"/>
          <p:cNvSpPr txBox="1"/>
          <p:nvPr/>
        </p:nvSpPr>
        <p:spPr>
          <a:xfrm>
            <a:off x="7726680" y="22860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유어딜 핸들 하나면 됩니다</a:t>
            </a:r>
            <a:endParaRPr lang="en-US" sz="980" dirty="0"/>
          </a:p>
        </p:txBody>
      </p:sp>
      <p:sp>
        <p:nvSpPr>
          <p:cNvPr id="52" name="Shape 48"/>
          <p:cNvSpPr/>
          <p:nvPr/>
        </p:nvSpPr>
        <p:spPr>
          <a:xfrm>
            <a:off x="7616952" y="2157984"/>
            <a:ext cx="2692961" cy="353416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571232" y="211226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0227617" y="2429104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72668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목록</a:t>
            </a:r>
            <a:endParaRPr lang="en-US" sz="1250" dirty="0"/>
          </a:p>
        </p:txBody>
      </p:sp>
      <p:sp>
        <p:nvSpPr>
          <p:cNvPr id="56" name="Text 52"/>
          <p:cNvSpPr txBox="1"/>
          <p:nvPr/>
        </p:nvSpPr>
        <p:spPr>
          <a:xfrm>
            <a:off x="7726680" y="3246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언제부터인지 남습니다</a:t>
            </a:r>
            <a:endParaRPr lang="en-US" sz="980" dirty="0"/>
          </a:p>
        </p:txBody>
      </p:sp>
      <p:sp>
        <p:nvSpPr>
          <p:cNvPr id="57" name="Shape 53"/>
          <p:cNvSpPr/>
          <p:nvPr/>
        </p:nvSpPr>
        <p:spPr>
          <a:xfrm>
            <a:off x="7616952" y="3118104"/>
            <a:ext cx="2692961" cy="5486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7571232" y="307238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227617" y="3041294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7726680" y="3931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회수는 주인만</a:t>
            </a:r>
            <a:endParaRPr lang="en-US" sz="1250" dirty="0"/>
          </a:p>
        </p:txBody>
      </p:sp>
      <p:sp>
        <p:nvSpPr>
          <p:cNvPr id="61" name="Text 57"/>
          <p:cNvSpPr txBox="1"/>
          <p:nvPr/>
        </p:nvSpPr>
        <p:spPr>
          <a:xfrm>
            <a:off x="7726680" y="4206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언제든 누릅니다</a:t>
            </a:r>
            <a:endParaRPr lang="en-US" sz="980" dirty="0"/>
          </a:p>
        </p:txBody>
      </p:sp>
      <p:sp>
        <p:nvSpPr>
          <p:cNvPr id="62" name="Shape 58"/>
          <p:cNvSpPr/>
          <p:nvPr/>
        </p:nvSpPr>
        <p:spPr>
          <a:xfrm flipH="1">
            <a:off x="7616952" y="3264865"/>
            <a:ext cx="3521903" cy="813359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571232" y="403250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1056559" y="3182569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인플루언서와 운영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시작하실 때 유어딜이 곁에서 해 드리는 여섯 가지입니다.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205740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62" y="2166762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624328"/>
            <a:ext cx="336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매장 세 곳은 같이 갑니다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971800"/>
            <a:ext cx="327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등록 세 건은 유어딜 담당자가 현장이나 통화로 동행합니다. 한 번 같이 하면 그다음은 혼자 됩니다.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5800" y="3931920"/>
            <a:ext cx="327141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14418" y="205740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781" y="216676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14418" y="2624328"/>
            <a:ext cx="336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사장님용 소개서 (PDF 15장)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414418" y="2971800"/>
            <a:ext cx="327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수수료, 정산, QR 사용법, 목표별 이용권 설계, 자주 묻는 질문까지 담긴 사장님용 소개서를 드립니다. 대행사 이름을 넣어 드립니다.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414418" y="3931920"/>
            <a:ext cx="327141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43037" y="205740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399" y="2166762"/>
            <a:ext cx="201900" cy="201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143037" y="2624328"/>
            <a:ext cx="336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DB와 발송 대행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143037" y="2971800"/>
            <a:ext cx="327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20만 명 DB 탐색과 코드 링크 발송을 유어딜이 합니다. 연락처를 모으거나 DM을 돌릴 필요가 없습니다.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143037" y="3931920"/>
            <a:ext cx="327141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85800" y="411480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62" y="4224162"/>
            <a:ext cx="201900" cy="201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5800" y="4681728"/>
            <a:ext cx="336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결제, 정산, 환불, 세금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685800" y="5029200"/>
            <a:ext cx="327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토스 결제, 주간 정산, 미사용 환불, 원천징수를 유어딜이 처리합니다. 손님 CS도 유어딜로 옵니다.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414418" y="411480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3781" y="4224162"/>
            <a:ext cx="201900" cy="2019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414418" y="4681728"/>
            <a:ext cx="336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유입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4414418" y="5029200"/>
            <a:ext cx="327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지도에 동네 기준으로 노출되고, 매장 페이지는 카톡 미리보기 카드와 네이버, 구글 검색에 잡힙니다. 6개 언어를 지원합니다.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143037" y="411480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399" y="4224162"/>
            <a:ext cx="201900" cy="2019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143037" y="4681728"/>
            <a:ext cx="336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실적 공유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8143037" y="5029200"/>
            <a:ext cx="327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기간에는 매주 매장별 판매와 사용 숫자를 유어딜이 먼저 보내 드립니다. 매장 보고서에 그대로 쓰시면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인플루언서와 운영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가지는 미리 말씀드립니다.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대행을 맡기 전에 아셔야 하는 경계입니다. 감추지 않겠습니다.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377440"/>
            <a:ext cx="77724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2560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몫은 매장 매출 전체에 붙습니다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8803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몫 %는 매장 단위입니다. 운영자별로 누가 만든 매출인지 따로 가르지 않고, 확정된 주문의 총액에 등록 때 정한 %가 붙습니다. 화면도 매장 총액을 보여 주고 그 사실을 문장으로 밝힙니다. 두 대행사가 한 매장을 나눠 맡는 구조는 지원하지 않습니다.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4160520"/>
            <a:ext cx="7772400" cy="1325880"/>
          </a:xfrm>
          <a:prstGeom prst="roundRect">
            <a:avLst>
              <a:gd name="adj" fmla="val 9655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4315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5%의 경계, 권한, 코드, 귀사 몫 직접 송금까지 라이브입니다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6177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5%와 95%의 경계, 정산계좌 차단, 매장 코드와 협업 코드, 성과 화면이 지금 작동합니다. 귀사 몫을 유어딜이 직접 보내는 레일도 켜져 있고, 실제 주문에서 적립이 시작됐습니다. 다만 적립은 송금이 아닙니다 — 손님이 이용권을 실제로 쓴 것이 확인되면 익고, 쌓인 금액이 10만원 을 넘으면 매월 1일에 보냅니다. 아직 보낸 횟수가 많지 않다는 점은 그대로 말씀드립니다.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" y="5705856"/>
            <a:ext cx="0" cy="457200"/>
          </a:xfrm>
          <a:prstGeom prst="line">
            <a:avLst/>
          </a:prstGeom>
          <a:noFill/>
          <a:ln w="25400">
            <a:solidFill>
              <a:srgbClr val="1C69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566928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"매장 등록. 이때 매장 코드가 자동 생성되고, 중개사 몫 %와 인플루언서 커미션 %도 같이 정한다." "대행사 몫은 유어딜이 직접 송금."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989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대표, 2026년 9월 19일 확정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893" y="817733"/>
            <a:ext cx="2708039" cy="517681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823960" y="5907024"/>
            <a:ext cx="2971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매장 요약. 화면이 그 경계를 직접 말합니다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 파일럿 조건, 손님 경험 네 화면, 세 당사자의 절차, 남은 질문과 연락처.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 파일럿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손님은 화면 네 장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사장님·인플루언서·대행사 절차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51572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157216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FAQ와 시작하는 방법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시작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한두 곳만 해 보시죠. 8주에 열 곳이면 구조가 맞는지 판정이 납니다.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3657600" cy="4251960"/>
          </a:xfrm>
          <a:prstGeom prst="roundRect">
            <a:avLst>
              <a:gd name="adj" fmla="val 3500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 목표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10곳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228600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매장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3558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30개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중 이용권 (매장당 3개)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1970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20명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228600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링크로 매칭된 인플루언서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50383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5157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정산 (귀사 몫 입금)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5623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한두 곳으로 시작해 한 달 정산이 실제로 도는 것을 보신 뒤 규모를 정하시길 권합니다. 숫자는 제안이고, 담당자 한 명 주 2일 기준입니다.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2103120"/>
            <a:ext cx="3261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대행사가 준비할 것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251460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6344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120640" y="2496312"/>
            <a:ext cx="2758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1명과 카카오 계정 (셀러 계정은 사업자 인증으로 10분)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663440" y="341071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6344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120640" y="3392424"/>
            <a:ext cx="2758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매장 리스트 10~20곳 (7장 체크리스트 기준)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663440" y="4306824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63440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120640" y="4288536"/>
            <a:ext cx="2758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매장별 귀사 몫 %와 인플루언서 상한 % 초안 (등록할 때 입력합니다)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663440" y="520293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6344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120640" y="5184648"/>
            <a:ext cx="2758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방문 일정 2주치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8244688" y="2103120"/>
            <a:ext cx="3261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준비할 것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244688" y="2514600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44688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8701888" y="2496312"/>
            <a:ext cx="2758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3매장 등록 동행 (현장 또는 통화)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244688" y="3410712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44688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8701888" y="3392424"/>
            <a:ext cx="2758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 이름이 들어간 사장님용 안내 한 장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244688" y="4306824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44688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8701888" y="4288536"/>
            <a:ext cx="2758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링크 발송, 결제, 정산, 환불, CS 전부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244688" y="5202936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44688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8701888" y="5184648"/>
            <a:ext cx="2758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매장별 판매와 사용 숫자 공유. 8주 뒤 함께 판정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시작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손님은 화면 네 장이면 끝납니다. 그래서 매장이 올리면 팔립니다.</a:t>
            </a:r>
            <a:endParaRPr lang="en-US" sz="2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396" y="1811589"/>
            <a:ext cx="1787832" cy="34177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5212080"/>
            <a:ext cx="252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5504688"/>
            <a:ext cx="243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홈에서 내 동네 기준으로 이용권이 뜹니다. 카톡 카드와 네이버, 구글 검색에도 잡힙니다.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420" y="1811589"/>
            <a:ext cx="1787832" cy="34177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90824" y="5212080"/>
            <a:ext cx="252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3390824" y="5504688"/>
            <a:ext cx="243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정가와 할인가를 함께 보고 토스로 결제합니다. 앱 설치나 가입 강요 구간이 없습니다.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44" y="1811589"/>
            <a:ext cx="1787832" cy="34177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095848" y="5212080"/>
            <a:ext cx="252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6095848" y="5504688"/>
            <a:ext cx="243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매장에서 QR을 보여 주거나 매장 PIN을 입력합니다. 매장은 폰 한 대로 확인합니다.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9468" y="1811589"/>
            <a:ext cx="1787832" cy="34177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800871" y="5212080"/>
            <a:ext cx="252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찾기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8800871" y="5504688"/>
            <a:ext cx="243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페이지(유어샵)가 남습니다. 안 쓴 이용권은 100% 자동 환불이라 응대가 매장이나 대행사로 오지 않습니다.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시작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사장님, 인플루언서, 귀사가 각각 하는 일을 한 장에 놓았습니다.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열이 만나는 자리는 하나, 손님의 결제입니다. 돈을 걷거나 나누는 사람은 셋 중 아무도 없습니다.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926080"/>
            <a:ext cx="345429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귀사가 준 매장 코드로 가입 → 매장 주인 (등록증 확인)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914400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252728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계좌 등록 (본인만, 첫 정산 전까지)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914400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252728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할인율·수량·기간 승인 또는 위임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914400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252728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오면 QR 한 번 찍기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914400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252728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정산 확인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914400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252728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몫은 유어딜이 보냄 (옮길 돈 없음)</a:t>
            </a:r>
            <a:endParaRPr lang="en-US" sz="1030" dirty="0"/>
          </a:p>
        </p:txBody>
      </p:sp>
      <p:sp>
        <p:nvSpPr>
          <p:cNvPr id="29" name="Shape 26"/>
          <p:cNvSpPr/>
          <p:nvPr/>
        </p:nvSpPr>
        <p:spPr>
          <a:xfrm>
            <a:off x="914400" y="560527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669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일은 QR 하나. 나머지는 위임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368698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68698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368698" y="2926080"/>
            <a:ext cx="345429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597298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97298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4935626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귀사가 보낸 코드 링크를 탭 → 가입, 즉시 매칭</a:t>
            </a:r>
            <a:endParaRPr lang="en-US" sz="1030" dirty="0"/>
          </a:p>
        </p:txBody>
      </p:sp>
      <p:sp>
        <p:nvSpPr>
          <p:cNvPr id="37" name="Shape 34"/>
          <p:cNvSpPr/>
          <p:nvPr/>
        </p:nvSpPr>
        <p:spPr>
          <a:xfrm>
            <a:off x="4597298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597298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4935626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(직접 왔다면 마이페이지에서 코드 입력)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4597298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597298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4935626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마이페이지에 매장 단위 링크 (복사·카톡 공유)</a:t>
            </a:r>
            <a:endParaRPr lang="en-US" sz="1030" dirty="0"/>
          </a:p>
        </p:txBody>
      </p:sp>
      <p:sp>
        <p:nvSpPr>
          <p:cNvPr id="43" name="Shape 40"/>
          <p:cNvSpPr/>
          <p:nvPr/>
        </p:nvSpPr>
        <p:spPr>
          <a:xfrm>
            <a:off x="4597298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97298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4935626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콘텐츠와 유어샵에 링크</a:t>
            </a:r>
            <a:endParaRPr lang="en-US" sz="1030" dirty="0"/>
          </a:p>
        </p:txBody>
      </p:sp>
      <p:sp>
        <p:nvSpPr>
          <p:cNvPr id="46" name="Shape 43"/>
          <p:cNvSpPr/>
          <p:nvPr/>
        </p:nvSpPr>
        <p:spPr>
          <a:xfrm>
            <a:off x="4597298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597298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48" name="Text 45"/>
          <p:cNvSpPr txBox="1"/>
          <p:nvPr/>
        </p:nvSpPr>
        <p:spPr>
          <a:xfrm>
            <a:off x="4935626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사용 후 확정, 매월 1일 유어딜이 지급</a:t>
            </a:r>
            <a:endParaRPr lang="en-US" sz="1030" dirty="0"/>
          </a:p>
        </p:txBody>
      </p:sp>
      <p:sp>
        <p:nvSpPr>
          <p:cNvPr id="49" name="Shape 46"/>
          <p:cNvSpPr/>
          <p:nvPr/>
        </p:nvSpPr>
        <p:spPr>
          <a:xfrm>
            <a:off x="4597298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597298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4935626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원천징수는 유어딜이 계산</a:t>
            </a:r>
            <a:endParaRPr lang="en-US" sz="1030" dirty="0"/>
          </a:p>
        </p:txBody>
      </p:sp>
      <p:sp>
        <p:nvSpPr>
          <p:cNvPr id="52" name="Shape 49"/>
          <p:cNvSpPr/>
          <p:nvPr/>
        </p:nvSpPr>
        <p:spPr>
          <a:xfrm>
            <a:off x="4597298" y="560527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97298" y="5669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 %는 협업 코드의 값, 딜마다 조정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8051597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051597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(대행사)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8051597" y="2926080"/>
            <a:ext cx="345429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8280197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0197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59" name="Text 56"/>
          <p:cNvSpPr txBox="1"/>
          <p:nvPr/>
        </p:nvSpPr>
        <p:spPr>
          <a:xfrm>
            <a:off x="8618525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셀러 계정 (사업자 인증 10분)</a:t>
            </a:r>
            <a:endParaRPr lang="en-US" sz="1030" dirty="0"/>
          </a:p>
        </p:txBody>
      </p:sp>
      <p:sp>
        <p:nvSpPr>
          <p:cNvPr id="60" name="Shape 57"/>
          <p:cNvSpPr/>
          <p:nvPr/>
        </p:nvSpPr>
        <p:spPr>
          <a:xfrm>
            <a:off x="8280197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280197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8618525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매장을 "중개"로 등록 → 5%, 코드 자동 생성</a:t>
            </a:r>
            <a:endParaRPr lang="en-US" sz="1030" dirty="0"/>
          </a:p>
        </p:txBody>
      </p:sp>
      <p:sp>
        <p:nvSpPr>
          <p:cNvPr id="63" name="Shape 60"/>
          <p:cNvSpPr/>
          <p:nvPr/>
        </p:nvSpPr>
        <p:spPr>
          <a:xfrm>
            <a:off x="8280197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80197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65" name="Text 62"/>
          <p:cNvSpPr txBox="1"/>
          <p:nvPr/>
        </p:nvSpPr>
        <p:spPr>
          <a:xfrm>
            <a:off x="8618525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몫 %와 인플루언서 상한 % 입력, 사장님께 코드</a:t>
            </a:r>
            <a:endParaRPr lang="en-US" sz="1030" dirty="0"/>
          </a:p>
        </p:txBody>
      </p:sp>
      <p:sp>
        <p:nvSpPr>
          <p:cNvPr id="66" name="Shape 63"/>
          <p:cNvSpPr/>
          <p:nvPr/>
        </p:nvSpPr>
        <p:spPr>
          <a:xfrm>
            <a:off x="8280197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80197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68" name="Text 65"/>
          <p:cNvSpPr txBox="1"/>
          <p:nvPr/>
        </p:nvSpPr>
        <p:spPr>
          <a:xfrm>
            <a:off x="8618525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2~3개 열기 (사진·정가·판매가·기간)</a:t>
            </a:r>
            <a:endParaRPr lang="en-US" sz="1030" dirty="0"/>
          </a:p>
        </p:txBody>
      </p:sp>
      <p:sp>
        <p:nvSpPr>
          <p:cNvPr id="69" name="Shape 66"/>
          <p:cNvSpPr/>
          <p:nvPr/>
        </p:nvSpPr>
        <p:spPr>
          <a:xfrm>
            <a:off x="8280197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80197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71" name="Text 68"/>
          <p:cNvSpPr txBox="1"/>
          <p:nvPr/>
        </p:nvSpPr>
        <p:spPr>
          <a:xfrm>
            <a:off x="8618525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DB에서 인플루언서 골라 코드 링크 발송</a:t>
            </a:r>
            <a:endParaRPr lang="en-US" sz="1030" dirty="0"/>
          </a:p>
        </p:txBody>
      </p:sp>
      <p:sp>
        <p:nvSpPr>
          <p:cNvPr id="72" name="Shape 69"/>
          <p:cNvSpPr/>
          <p:nvPr/>
        </p:nvSpPr>
        <p:spPr>
          <a:xfrm>
            <a:off x="8280197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80197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74" name="Text 71"/>
          <p:cNvSpPr txBox="1"/>
          <p:nvPr/>
        </p:nvSpPr>
        <p:spPr>
          <a:xfrm>
            <a:off x="8618525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대시보드에서 매장별·인플루언서별 성과와 내 몫</a:t>
            </a:r>
            <a:endParaRPr lang="en-US" sz="1030" dirty="0"/>
          </a:p>
        </p:txBody>
      </p:sp>
      <p:sp>
        <p:nvSpPr>
          <p:cNvPr id="75" name="Shape 72"/>
          <p:cNvSpPr/>
          <p:nvPr/>
        </p:nvSpPr>
        <p:spPr>
          <a:xfrm>
            <a:off x="8280197" y="560527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80197" y="5669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유어딜에 내는 돈 0. 귀사 몫은 유어딜이 송금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시작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대행사 제휴 제안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질문에 답하고, 시작하는 방법을 남깁니다.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수수료가 두 번 나가나요?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6771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아닙니다. 유어딜이 떼는 것은 중개 매장 5% 하나뿐입니다. 귀사 몫은 매장 몫 95% 안에서 등록 때 정한 %이고, 유어딜이 원천징수를 계산해 귀사 계좌로 직접 보냅니다. 매장에 청구할 일이 없습니다.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17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직접 계정을 만들면 우리 관계는요?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31927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 양도가 아니라 권한 변경입니다. 상품, 주문, 리뷰, 정산 이력은 매장에 그대로 남고, 귀사는 운영자로 계속 일할 수 있습니다.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대행사가 유어딜에 내는 돈이 있나요?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3708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없습니다. 가입비, 월 이용료, 매장당 등록비 전부 없습니다. 매장에서 팔린 만큼만 유어딜 수수료가 나갑니다.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정산은 언제 되나요?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42239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매장에서 실제로 사용한 이용권만 주간 정산으로 매장 계좌에 들어옵니다. 안 쓴 이용권은 손님에게 자동 환불됩니다.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09360" y="1828800"/>
            <a:ext cx="5196535" cy="4160520"/>
          </a:xfrm>
          <a:prstGeom prst="roundRect">
            <a:avLst>
              <a:gd name="adj" fmla="val 307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9400" y="2029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시작하는 방법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29400" y="2377440"/>
            <a:ext cx="310896" cy="310896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086600" y="237744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셀러 계정을 만드십시오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2660904"/>
            <a:ext cx="4099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별도의 대행사 가입 절차가 없습니다. 귀사도 매장과 같은 셀러 대시보드를 씁니다.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6629400" y="3282696"/>
            <a:ext cx="310896" cy="310896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2940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3282696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매장을 중개로 등록하고, 두 %를 정하십시오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3566160"/>
            <a:ext cx="4099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"누가 운영하나요"에서 중개를 고르면 5%. 그 자리에서 사장님께 드릴 코드가 생기고, 귀사 몫 %와 인플루언서 상한 %를 정합니다. 개별 소개비는 협업 코드로.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6629400" y="4187952"/>
            <a:ext cx="310896" cy="310896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2940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7086600" y="4187952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사장님께 코드를 드리십시오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086600" y="4471416"/>
            <a:ext cx="4099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본인 카카오로 가입하며 그 코드를 넣으면 매장 주인이 됩니다. 등록증 확인은 그대로이고, 첫 정산 전까지만 하시면 됩니다. 그 전에도 이용권은 팔립니다.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6629400" y="5084064"/>
            <a:ext cx="4556455" cy="0"/>
          </a:xfrm>
          <a:prstGeom prst="line">
            <a:avLst/>
          </a:prstGeom>
          <a:noFill/>
          <a:ln w="9525">
            <a:solidFill>
              <a:srgbClr val="3A3D4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29400" y="5120640"/>
            <a:ext cx="4556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매장 몇 곳의 이름과 동네만 보내 주세요. 하루 안에 확인해 첫 방문 일정을 잡습니다.</a:t>
            </a:r>
            <a:endParaRPr lang="en-US" sz="95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5394960"/>
            <a:ext cx="137160" cy="13716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6876288" y="5340096"/>
            <a:ext cx="4282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pf.kakao.com/_AITdn  카카오톡 채널</a:t>
            </a:r>
            <a:endParaRPr lang="en-US" sz="105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559552"/>
            <a:ext cx="137160" cy="13716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876288" y="5504688"/>
            <a:ext cx="4282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jiwon@ur-team.com</a:t>
            </a:r>
            <a:endParaRPr lang="en-US" sz="10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5724144"/>
            <a:ext cx="137160" cy="13716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6876288" y="5669280"/>
            <a:ext cx="4282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</a:t>
            </a:r>
            <a:endParaRPr lang="en-US" sz="105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888736"/>
            <a:ext cx="137160" cy="13716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876288" y="5833872"/>
            <a:ext cx="4282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리스터코퍼레이션, 사업자등록번호 479-09-02930</a:t>
            </a:r>
            <a:endParaRPr lang="en-US" sz="850" dirty="0"/>
          </a:p>
        </p:txBody>
      </p:sp>
      <p:sp>
        <p:nvSpPr>
          <p:cNvPr id="39" name="Text 32"/>
          <p:cNvSpPr txBox="1"/>
          <p:nvPr/>
        </p:nvSpPr>
        <p:spPr>
          <a:xfrm>
            <a:off x="685800" y="6053328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문서의 요율(직접 10%, 중개 5%)과 권한 범위는 2026년 9월 13일 라이브 설정값입니다. 요율은 어드민 조정값이고, 평균가와 매장 수는 같은 날 실측입니다.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title(slide, text, { dark = false, y = 1.15, size = 27, w = W - 2 * M } = {}) {
    T(slide, text, { x: M, y, w, h: 0.9, fontSize: size, bold: true, color: dark ? C.darkText : C.ink, valign: 'top', lineSpacingMultiple: 1.15, charSpacing: -0.6 });
  }</dc:title>
  <dc:subject>PptxGenJS Presentation</dc:subject>
  <dc:creator>리스터코퍼레이션</dc:creator>
  <cp:lastModifiedBy>리스터코퍼레이션</cp:lastModifiedBy>
  <cp:revision>1</cp:revision>
  <dcterms:created xsi:type="dcterms:W3CDTF">2026-10-12T14:01:06Z</dcterms:created>
  <dcterms:modified xsi:type="dcterms:W3CDTF">2026-10-12T14:01:06Z</dcterms:modified>
</cp:coreProperties>
</file>