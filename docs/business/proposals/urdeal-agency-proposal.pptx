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6E6B68"/>
                </a:solidFill>
                <a:latin typeface="Malgun Gothic"/>
              </a:defRPr>
            </a:pPr>
            <a:r>
              <a:rPr sz="1100" b="0" i="0" u="none" strike="noStrike">
                <a:solidFill>
                  <a:srgbClr val="6E6B68"/>
                </a:solidFill>
                <a:latin typeface="Malgun Gothic"/>
              </a:rPr>
              <a:t>매장 수별 대행사 월 수입 (매장당 월 매출 120만원 가정)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보수 10%</c:v>
                </c:pt>
              </c:strCache>
            </c:strRef>
          </c:tx>
          <c:spPr>
            <a:solidFill>
              <a:srgbClr val="1C69EF"/>
            </a:solidFill>
            <a:effectLst/>
          </c:spPr>
          <c:invertIfNegative val="0"/>
          <c:dLbls>
            <c:numFmt formatCode="#,##0&quot;만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6181C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5곳</c:v>
                  </c:pt>
                  <c:pt idx="1">
                    <c:v>10곳</c:v>
                  </c:pt>
                  <c:pt idx="2">
                    <c:v>20곳</c:v>
                  </c:pt>
                  <c:pt idx="3">
                    <c:v>30곳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120</c:v>
                </c:pt>
                <c:pt idx="2">
                  <c:v>240</c:v>
                </c:pt>
                <c:pt idx="3">
                  <c:v>360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보수 15%</c:v>
                </c:pt>
              </c:strCache>
            </c:strRef>
          </c:tx>
          <c:spPr>
            <a:solidFill>
              <a:srgbClr val="8FB4F5"/>
            </a:solidFill>
            <a:effectLst/>
          </c:spPr>
          <c:invertIfNegative val="0"/>
          <c:dLbls>
            <c:numFmt formatCode="#,##0&quot;만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6181C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5곳</c:v>
                  </c:pt>
                  <c:pt idx="1">
                    <c:v>10곳</c:v>
                  </c:pt>
                  <c:pt idx="2">
                    <c:v>20곳</c:v>
                  </c:pt>
                  <c:pt idx="3">
                    <c:v>30곳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90</c:v>
                </c:pt>
                <c:pt idx="1">
                  <c:v>180</c:v>
                </c:pt>
                <c:pt idx="2">
                  <c:v>360</c:v>
                </c:pt>
                <c:pt idx="3">
                  <c:v>540</c:v>
                </c:pt>
              </c:numCache>
            </c:numRef>
          </c:val>
        </c:ser>
        <c:dLbls>
          <c:numFmt formatCode="#,##0&quot;만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6181C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181C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"/>
          <c:min val="0"/>
        </c:scaling>
        <c:delete val="0"/>
        <c:axPos val="l"/>
        <c:majorGridlines>
          <c:spPr>
            <a:ln w="6350" cap="flat">
              <a:solidFill>
                <a:srgbClr val="E6E2DE"/>
              </a:solidFill>
              <a:prstDash val="solid"/>
              <a:round/>
            </a:ln>
          </c:spPr>
        </c:majorGridlines>
        <c:numFmt formatCode="#,##0&quot;만원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5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50"/>
      </c:valAx>
      <c:spPr>
        <a:solidFill>
          <a:srgbClr val="F8F7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6E6B68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8F7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첫 문장에 숫자를 건다. 가정은 본문 5장에 그대로 공개한다.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요약. 사업계획서 C-2 + store-operator-model §7. "대행사가 유어딜에 내는 돈 0" 은 가입비·월정액·등록비 전부 없음(사실).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예시 상품 3개는 가정. 338 은 2026-09-07 공개 API 실측(활성 이용권).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2026-09-04 대표 확정. 정산은 used 상태 이용권만 주간(auto-settlement.ts). 중개사 지급은 유어딜 장부 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전부 가정. 판매가 2만·월 60건은 구조 설명용. 보수율은 매장과 대행사의 계약이며 유어딜이 정하지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재료비 35% 는 가정. 정산 규칙(used 만 주간)은 auto-settlement.ts. 사용 처리는 매장 계산대 QR 스캔 또는 확인 PIN(store_verify_pin).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등록 필수 필드는 seller-stores.routes.ts: business_number·representative·business_start_date(국세청) + kakao_place_id. 카카오맵 미등록 매장은 연결 불가.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시간은 현장 추정. 필드는 seller-stores.routes.ts 실재(kakao_place_id, business_number/representative/business_start_date, store_channel, verify_pin). 이용권 3분 등록은 /seller/products/quick.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대본의 모든 사실 주장은 앞 장들과 동일 출처. "권한 한 줄, 언제든 회수" 는 seller_operators 모델.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숫자는 /api/admin/ads/influencer-pool/stats 2026-09-07 실측.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라우트 6개는 2026-09-07 main 실재. 요일 배분은 권장 루틴.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store-operator-model.md §7.7. 실제 403 발생은 staging 확인 몫이라 "서버가 막는다"까지만.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동행·안내장·주간 실적 공유는 파일럿 제안의 유어딜 측 약속. 나머지 셋은 현행 기능.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파일럿 조건은 이 문서의 제안. 유어딜은 대행사 보수 조건에 관여하지 않는다(대표 확정).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소비자 경로: 홈 지도(/), 상세 토스 결제, /my-vouchers 지갑, 매장 QR/PIN 사용.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출처: 사업계획서 C-3, 셀러 가이드 "중개사 몫", auto-settlement.ts.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223760" y="0"/>
            <a:ext cx="4967935" cy="6858000"/>
          </a:xfrm>
          <a:prstGeom prst="rect">
            <a:avLst/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94360" y="15087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대행사 제휴 제안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594360" y="1874520"/>
            <a:ext cx="6309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6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동네 매장을 데려오세요.</a:t>
            </a:r>
            <a:endParaRPr lang="en-US" sz="36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6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한 곳당 월 12만원이</a:t>
            </a:r>
            <a:endParaRPr lang="en-US" sz="36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6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대행사에게 남는 구조입니다.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594360" y="4343400"/>
            <a:ext cx="6126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이용권 평균 2만원, 매장당 월 60건, 대행사 보수 매출의 10%를 가정한 값입니다. 유어딜은 매장에서 5%만 떼고, 대행사 보수는 매장 몫 95% 안에서 매장과 직접 정합니다. 이 문서는 그 매장을 어떻게 고르고, 10분 안에 어떻게 올리고, 사장님께 뭐라고 말하는지까지 적었습니다.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594360" y="5989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리스터코퍼레이션  |  2026년 9월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7863840" y="1783080"/>
            <a:ext cx="36576" cy="868680"/>
          </a:xfrm>
          <a:prstGeom prst="rect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92440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대행사가 하는 일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092440" y="2048256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매장을 찾아 올리고, 이용권을 운영한다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7863840" y="3017520"/>
            <a:ext cx="36576" cy="868680"/>
          </a:xfrm>
          <a:prstGeom prst="rect">
            <a:avLst/>
          </a:prstGeom>
          <a:solidFill>
            <a:srgbClr val="3A3D44"/>
          </a:solidFill>
          <a:ln w="12700">
            <a:solidFill>
              <a:srgbClr val="3A3D44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092440" y="2971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매장이 내는 것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8092440" y="3282696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팔린 금액의 5%(유어딜) + 대행사와 정한 보수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7863840" y="4251960"/>
            <a:ext cx="36576" cy="868680"/>
          </a:xfrm>
          <a:prstGeom prst="rect">
            <a:avLst/>
          </a:prstGeom>
          <a:solidFill>
            <a:srgbClr val="3A3D44"/>
          </a:solidFill>
          <a:ln w="12700">
            <a:solidFill>
              <a:srgbClr val="3A3D44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092440" y="42062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유어딜이 하는 일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8092440" y="4517136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결제, 발급, QR 확인, 정산, 세금, 손님 유입</a:t>
            </a:r>
            <a:endParaRPr lang="en-US" sz="1700" dirty="0"/>
          </a:p>
        </p:txBody>
      </p:sp>
      <p:sp>
        <p:nvSpPr>
          <p:cNvPr id="20" name="Text 16"/>
          <p:cNvSpPr txBox="1"/>
          <p:nvPr/>
        </p:nvSpPr>
        <p:spPr>
          <a:xfrm>
            <a:off x="8092440" y="54406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대행사가 유어딜에 내는 돈은 없습니다.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가입비도, 월 이용료도, 매장당 등록비도 없습니다.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96012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제안을 한 장으로 줄이면 이렇습니다.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94360" y="1828800"/>
            <a:ext cx="5364328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50392" y="21031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" y="22174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63040" y="2121408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파나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50392" y="2697480"/>
            <a:ext cx="48522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동네 식당, 카페, 미용, 숙박, 액티비티의 이용권. 손님이 온라인에서 할인가로 미리 사고 매장에 와서 QR로 씁니다. 배송도 재고도 없습니다.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6233008" y="1828800"/>
            <a:ext cx="5364328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489040" y="21031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340" y="22174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101688" y="2121408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대행사는 무엇을 하나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489040" y="2697480"/>
            <a:ext cx="48522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매장을 찾아 유어딜에 올리고(10분), 이용권을 만들고(3분), 인플루언서를 붙이고, 매장에 성과를 보고합니다. 돈을 걷거나 나누는 일은 없습니다.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94360" y="4023360"/>
            <a:ext cx="5364328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50392" y="429768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" y="441198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463040" y="4315968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얼마를 내나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850392" y="4892040"/>
            <a:ext cx="48522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매장이 팔린 금액의 5%를 유어딜에 냅니다(직접 입점은 10%). 대행사 보수는 매장 몫 95% 안에서 매장과 직접 정합니다. 대행사가 유어딜에 내는 돈은 0입니다.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6233008" y="4023360"/>
            <a:ext cx="5364328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489040" y="429768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3340" y="441198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101688" y="4315968"/>
            <a:ext cx="4267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유어딜은 무엇을 하나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6489040" y="4892040"/>
            <a:ext cx="48522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결제(토스), 이용권 발급, QR 확인 앱, 주간 정산, 원천징수, 환불 응대, 홈 지도 노출과 검색 유입. 인플루언서 DB와 제안 발송까지.</a:t>
            </a:r>
            <a:endParaRPr lang="en-US" sz="1150" dirty="0"/>
          </a:p>
        </p:txBody>
      </p:sp>
      <p:sp>
        <p:nvSpPr>
          <p:cNvPr id="26" name="Text 19"/>
          <p:cNvSpPr txBox="1"/>
          <p:nvPr/>
        </p:nvSpPr>
        <p:spPr>
          <a:xfrm>
            <a:off x="594360" y="603504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근거와 절차는 다음 장부터 순서대로 나옵니다. 마지막 장에 8주 파일럿 조건이 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96012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이용권은 이렇게 생겼습니다. 매장 메뉴 하나가 곧 상품입니다.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94360" y="1828800"/>
            <a:ext cx="3484778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94360" y="1828800"/>
            <a:ext cx="3484778" cy="822960"/>
          </a:xfrm>
          <a:prstGeom prst="rect">
            <a:avLst/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19385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식당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19456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파스타 2인 세트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346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22%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1920240" y="2926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trike="sngStrike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32,000원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33756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25,000원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886200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유효기간 60일, 미사용 시 100% 자동 환불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353458" y="1828800"/>
            <a:ext cx="3484778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353458" y="1828800"/>
            <a:ext cx="3484778" cy="822960"/>
          </a:xfrm>
          <a:prstGeom prst="rect">
            <a:avLst/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27778" y="19385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미용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627778" y="219456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젤 네일 기본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4627778" y="28346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22%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5679338" y="2926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trike="sngStrike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45,000원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627778" y="333756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35,000원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4627778" y="3886200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유효기간 90일, 미사용 시 100% 자동 환불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12557" y="1828800"/>
            <a:ext cx="3484778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112557" y="1828800"/>
            <a:ext cx="3484778" cy="822960"/>
          </a:xfrm>
          <a:prstGeom prst="rect">
            <a:avLst/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386877" y="19385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숙박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8386877" y="219456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평일 1박 (2인)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8386877" y="28346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26%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9438437" y="2926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trike="sngStrike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120,000원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8386877" y="3337560"/>
            <a:ext cx="2936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89,000원</a:t>
            </a:r>
            <a:endParaRPr lang="en-US" sz="2600" dirty="0"/>
          </a:p>
        </p:txBody>
      </p:sp>
      <p:sp>
        <p:nvSpPr>
          <p:cNvPr id="29" name="Text 26"/>
          <p:cNvSpPr txBox="1"/>
          <p:nvPr/>
        </p:nvSpPr>
        <p:spPr>
          <a:xfrm>
            <a:off x="8386877" y="3886200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지정, 미사용 시 100% 자동 환불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594360" y="45262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세 개는 구조를 보여드리기 위한 예시입니다. 할인율, 유효기간, 판매 수량 마감은 전부 매장이 정합니다.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94360" y="49377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338</a:t>
            </a:r>
            <a:endParaRPr lang="en-US" sz="3800" dirty="0"/>
          </a:p>
        </p:txBody>
      </p:sp>
      <p:sp>
        <p:nvSpPr>
          <p:cNvPr id="32" name="Text 29"/>
          <p:cNvSpPr txBox="1"/>
          <p:nvPr/>
        </p:nvSpPr>
        <p:spPr>
          <a:xfrm>
            <a:off x="2011680" y="51389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판매 중인 이용권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4297680" y="49377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3800" dirty="0"/>
          </a:p>
        </p:txBody>
      </p:sp>
      <p:sp>
        <p:nvSpPr>
          <p:cNvPr id="34" name="Text 31"/>
          <p:cNvSpPr txBox="1"/>
          <p:nvPr/>
        </p:nvSpPr>
        <p:spPr>
          <a:xfrm>
            <a:off x="5715000" y="51389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카테고리: 식사, 미용, 숙소, 액티비티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8001000" y="493776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3800" dirty="0"/>
          </a:p>
        </p:txBody>
      </p:sp>
      <p:sp>
        <p:nvSpPr>
          <p:cNvPr id="36" name="Text 33"/>
          <p:cNvSpPr txBox="1"/>
          <p:nvPr/>
        </p:nvSpPr>
        <p:spPr>
          <a:xfrm>
            <a:off x="9418320" y="51389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재고, 배송, 반품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94360" y="5897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urdeal.kr 2026년 9월 7일 기준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96012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낸 100원은 이렇게 갈립니다. 유어딜은 5에서 끝납니다.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94360" y="1874520"/>
            <a:ext cx="324612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68680" y="20116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결제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28600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100원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97180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토스로 할인가를 냅니다. 이용권이 즉시 발급됩니다.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25603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4389120" y="1874520"/>
            <a:ext cx="3246120" cy="1874520"/>
          </a:xfrm>
          <a:prstGeom prst="roundRect">
            <a:avLst>
              <a:gd name="adj" fmla="val 5854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63440" y="20116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663440" y="228600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5원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4663440" y="297180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결제, 발급, QR 확인, 정산, 세금, 손님 유입의 인프라 비용입니다.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7726680" y="25603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8183880" y="1874520"/>
            <a:ext cx="3246120" cy="1874520"/>
          </a:xfrm>
          <a:prstGeom prst="roundRect">
            <a:avLst>
              <a:gd name="adj" fmla="val 5854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8458200" y="201168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몫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458200" y="228600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95원</a:t>
            </a:r>
            <a:endParaRPr lang="en-US" sz="3400" dirty="0"/>
          </a:p>
        </p:txBody>
      </p:sp>
      <p:sp>
        <p:nvSpPr>
          <p:cNvPr id="19" name="Text 16"/>
          <p:cNvSpPr txBox="1"/>
          <p:nvPr/>
        </p:nvSpPr>
        <p:spPr>
          <a:xfrm>
            <a:off x="8458200" y="297180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매장에서 실제로 쓴 이용권만, 매주 매장 계좌로 정산됩니다.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4023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몫 95원 안에서 매장이 정하는 두 가지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94360" y="43891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4503420"/>
            <a:ext cx="228600" cy="2286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188720" y="44165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대행사 보수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594360" y="4937760"/>
            <a:ext cx="3246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매장과 대행사의 계약입니다. 매출의 몇 %든, 월 정액이든 두 분이 정합니다. 유어딜 장부 밖이라 유어딜 정산서에 한 줄도 나오지 않고, 유어딜이 중간에서 떼지도 않습니다.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4389120" y="43891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3420" y="4503420"/>
            <a:ext cx="228600" cy="22860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4983480" y="44165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인플루언서 소개비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4389120" y="4937760"/>
            <a:ext cx="3246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매장이 딜마다 제안하는 비율입니다. 매장 부담이고, 링크 귀속과 지급과 원천징수는 유어딜이 자동 처리합니다. 대행사가 걷거나 나눌 일이 없습니다.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8183880" y="43891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8180" y="4503420"/>
            <a:ext cx="228600" cy="2286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8778240" y="44165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순수취</a:t>
            </a:r>
            <a:endParaRPr lang="en-US" sz="1400" dirty="0"/>
          </a:p>
        </p:txBody>
      </p:sp>
      <p:sp>
        <p:nvSpPr>
          <p:cNvPr id="32" name="Text 26"/>
          <p:cNvSpPr txBox="1"/>
          <p:nvPr/>
        </p:nvSpPr>
        <p:spPr>
          <a:xfrm>
            <a:off x="8183880" y="4937760"/>
            <a:ext cx="3246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둘을 뺀 나머지. 다음 장에서 매장 한 곳 기준으로 실제 숫자를 놓습니다.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96012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한 곳이 대행사에게 얼마가 되는가. 가정은 전부 공개합니다.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94360" y="1874520"/>
            <a:ext cx="512064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6868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(바꿔서 다시 계산하셔도 됩니다)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39572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이용권 평균 판매가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2395728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1635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매장당 월 판매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383280" y="2816352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60건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23697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월 매출(GMV)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383280" y="3236976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1,200,000원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68680" y="3602736"/>
            <a:ext cx="4572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365760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383280" y="3657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60,000원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407822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몫 95%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383280" y="4078224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1,140,000원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68680" y="4443984"/>
            <a:ext cx="4572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8680" y="449884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대행사 보수 (매출 10% 계약 시)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383280" y="4498848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120,000원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502920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10곳이면 월 120만원, 30곳이면 월 360만원입니다. 매장 하나를 올리는 데 드는 시간은 방문 30분과 등록 10분입니다.</a:t>
            </a:r>
            <a:endParaRPr lang="en-US" sz="115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6035040" y="1874520"/>
          <a:ext cx="5562295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96012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사장님이 "네" 하는 이유도 숫자입니다. 광고비 선지출이 없습니다.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94360" y="187452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6868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이용권 한 장이 팔렸을 때 (파스타 2인 세트 예시)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395728"/>
            <a:ext cx="30047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534156" y="2395728"/>
            <a:ext cx="21808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16352"/>
            <a:ext cx="30047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이용권 판매가 (22% 할인)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534156" y="2816352"/>
            <a:ext cx="21808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68680" y="3182112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68680" y="3236976"/>
            <a:ext cx="30047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534156" y="3236976"/>
            <a:ext cx="21808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1,250원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657600"/>
            <a:ext cx="30047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대행사 보수 10% (계약 예시)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534156" y="3657600"/>
            <a:ext cx="21808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2,500원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68680" y="4023360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4078224"/>
            <a:ext cx="30047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매장에 들어오는 돈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534156" y="4078224"/>
            <a:ext cx="21808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21,250원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498848"/>
            <a:ext cx="30047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재료비 35% 가정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534156" y="4498848"/>
            <a:ext cx="21808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11,200원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68680" y="4864608"/>
            <a:ext cx="48463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68680" y="4919472"/>
            <a:ext cx="30047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이익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3534156" y="4919472"/>
            <a:ext cx="21808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10,050원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68680" y="54406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손님은 광고 없이 온 새 손님입니다. 안 팔리면 0원이고, 팔린 뒤에만 수수료가 나갑니다.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6355080" y="1892808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0236" y="1997964"/>
            <a:ext cx="210312" cy="210312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6949440" y="1874520"/>
            <a:ext cx="46478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선지출 광고비 0</a:t>
            </a:r>
            <a:endParaRPr lang="en-US" sz="1350" dirty="0"/>
          </a:p>
        </p:txBody>
      </p:sp>
      <p:sp>
        <p:nvSpPr>
          <p:cNvPr id="29" name="Text 25"/>
          <p:cNvSpPr txBox="1"/>
          <p:nvPr/>
        </p:nvSpPr>
        <p:spPr>
          <a:xfrm>
            <a:off x="6949440" y="2194560"/>
            <a:ext cx="4647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배너, 검색 광고, 체험단처럼 미리 내는 돈이 없습니다. 팔린 만큼만 나갑니다.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6355080" y="2990088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236" y="3095244"/>
            <a:ext cx="210312" cy="210312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6949440" y="2971800"/>
            <a:ext cx="46478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할인율과 유효기간은 사장님이</a:t>
            </a:r>
            <a:endParaRPr lang="en-US" sz="1350" dirty="0"/>
          </a:p>
        </p:txBody>
      </p:sp>
      <p:sp>
        <p:nvSpPr>
          <p:cNvPr id="33" name="Text 28"/>
          <p:cNvSpPr txBox="1"/>
          <p:nvPr/>
        </p:nvSpPr>
        <p:spPr>
          <a:xfrm>
            <a:off x="6949440" y="3291840"/>
            <a:ext cx="4647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메뉴만 올리고, 할인율도 마감 수량도 직접 정합니다. 손해 보는 구조를 만들 수 없습니다.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6355080" y="4087368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0236" y="4192524"/>
            <a:ext cx="210312" cy="210312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6949440" y="4069080"/>
            <a:ext cx="46478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정산은 손님이 쓴 뒤 매주</a:t>
            </a:r>
            <a:endParaRPr lang="en-US" sz="1350" dirty="0"/>
          </a:p>
        </p:txBody>
      </p:sp>
      <p:sp>
        <p:nvSpPr>
          <p:cNvPr id="37" name="Text 31"/>
          <p:cNvSpPr txBox="1"/>
          <p:nvPr/>
        </p:nvSpPr>
        <p:spPr>
          <a:xfrm>
            <a:off x="6949440" y="4389120"/>
            <a:ext cx="4647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매장에서 QR을 찍은 이용권만 주간 정산으로 매장 계좌에 들어옵니다. 안 쓴 이용권은 손님에게 자동 환불됩니다.</a:t>
            </a:r>
            <a:endParaRPr lang="en-US" sz="1100" dirty="0"/>
          </a:p>
        </p:txBody>
      </p:sp>
      <p:sp>
        <p:nvSpPr>
          <p:cNvPr id="38" name="Shape 32"/>
          <p:cNvSpPr/>
          <p:nvPr/>
        </p:nvSpPr>
        <p:spPr>
          <a:xfrm>
            <a:off x="6355080" y="5184648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0236" y="5289804"/>
            <a:ext cx="210312" cy="210312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6949440" y="5166360"/>
            <a:ext cx="46478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사장님이 하는 일은 하나</a:t>
            </a:r>
            <a:endParaRPr lang="en-US" sz="1350" dirty="0"/>
          </a:p>
        </p:txBody>
      </p:sp>
      <p:sp>
        <p:nvSpPr>
          <p:cNvPr id="41" name="Text 34"/>
          <p:cNvSpPr txBox="1"/>
          <p:nvPr/>
        </p:nvSpPr>
        <p:spPr>
          <a:xfrm>
            <a:off x="6949440" y="5486400"/>
            <a:ext cx="4647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QR을 폰으로 찍거나 확인 PIN을 눌러 주는 것. 등록과 운영은 대행사가 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96012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여섯 가지가 되면 데려오세요. 대부분 그 자리에서 진행됩니다.</a:t>
            </a:r>
            <a:endParaRPr lang="en-US" sz="25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856232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05840" y="1828800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사업자등록이 있다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1005840" y="2176272"/>
            <a:ext cx="4815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사업자번호, 대표자명, 개업일 세 가지로 국세청 진위확인을 합니다. 이게 없으면 올릴 수 없습니다.</a:t>
            </a:r>
            <a:endParaRPr lang="en-US" sz="11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8" y="1856232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644488" y="1828800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카카오맵에 매장이 있다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6644488" y="2176272"/>
            <a:ext cx="4815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등록할 때 카카오맵 장소를 연결합니다. 없으면 사장님이 카카오맵에 먼저 등록해야 합니다(무료, 하루 이틀).</a:t>
            </a:r>
            <a:endParaRPr lang="en-US" sz="11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182112"/>
            <a:ext cx="274320" cy="2743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05840" y="3154680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방문해서 쓰는 업종이다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1005840" y="3502152"/>
            <a:ext cx="4815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식당, 카페, 미용, 네일, 숙박, 키즈카페, 스튜디오, 클래스. 택배로 보내는 상품만 파는 곳은 대상이 아닙니다.</a:t>
            </a:r>
            <a:endParaRPr lang="en-US" sz="11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3008" y="3182112"/>
            <a:ext cx="274320" cy="27432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6644488" y="3154680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15~30% 할인해도 남는 대표 메뉴가 있다</a:t>
            </a:r>
            <a:endParaRPr lang="en-US" sz="1400" dirty="0"/>
          </a:p>
        </p:txBody>
      </p:sp>
      <p:sp>
        <p:nvSpPr>
          <p:cNvPr id="17" name="Text 10"/>
          <p:cNvSpPr txBox="1"/>
          <p:nvPr/>
        </p:nvSpPr>
        <p:spPr>
          <a:xfrm>
            <a:off x="6644488" y="3502152"/>
            <a:ext cx="4815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이용권은 할인가로 팝니다. 마진이 얇은 메뉴만 있는 곳은 사장님이 곧 후회합니다.</a:t>
            </a:r>
            <a:endParaRPr lang="en-US" sz="110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" y="4507992"/>
            <a:ext cx="274320" cy="2743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05840" y="4480560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사진이 3장 이상 있다</a:t>
            </a:r>
            <a:endParaRPr lang="en-US" sz="1400" dirty="0"/>
          </a:p>
        </p:txBody>
      </p:sp>
      <p:sp>
        <p:nvSpPr>
          <p:cNvPr id="20" name="Text 12"/>
          <p:cNvSpPr txBox="1"/>
          <p:nvPr/>
        </p:nvSpPr>
        <p:spPr>
          <a:xfrm>
            <a:off x="1005840" y="4828032"/>
            <a:ext cx="4815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이용권 카드의 절반은 사진입니다. 없으면 방문할 때 폰으로 찍어 오세요.</a:t>
            </a:r>
            <a:endParaRPr lang="en-US" sz="110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3008" y="4507992"/>
            <a:ext cx="274320" cy="27432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6644488" y="4480560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사장님이나 직원이 폰으로 QR을 찍을 수 있다</a:t>
            </a:r>
            <a:endParaRPr lang="en-US" sz="1400" dirty="0"/>
          </a:p>
        </p:txBody>
      </p:sp>
      <p:sp>
        <p:nvSpPr>
          <p:cNvPr id="23" name="Text 14"/>
          <p:cNvSpPr txBox="1"/>
          <p:nvPr/>
        </p:nvSpPr>
        <p:spPr>
          <a:xfrm>
            <a:off x="6644488" y="4828032"/>
            <a:ext cx="48156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처리는 매장 폰 한 대로 끝납니다. POS 연동이 필요 없습니다.</a:t>
            </a:r>
            <a:endParaRPr lang="en-US" sz="1100" dirty="0"/>
          </a:p>
        </p:txBody>
      </p:sp>
      <p:sp>
        <p:nvSpPr>
          <p:cNvPr id="24" name="Shape 15"/>
          <p:cNvSpPr/>
          <p:nvPr/>
        </p:nvSpPr>
        <p:spPr>
          <a:xfrm>
            <a:off x="594360" y="5806440"/>
            <a:ext cx="11002975" cy="502920"/>
          </a:xfrm>
          <a:prstGeom prst="roundRect">
            <a:avLst>
              <a:gd name="adj" fmla="val 21818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25" name="Text 16"/>
          <p:cNvSpPr txBox="1"/>
          <p:nvPr/>
        </p:nvSpPr>
        <p:spPr>
          <a:xfrm>
            <a:off x="868680" y="5806440"/>
            <a:ext cx="10454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갈 곳: 이미 배달앱이나 예약앱에 광고비를 쓰고 있는 매장. "그 돈을 팔린 뒤에만 내는 걸로 바꾸자"는 한 문장이 통합니다.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96012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사장님 앞에서 10분. 서명도 서류도 없이 대행사 폰으로 끝납니다.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94360" y="1828800"/>
            <a:ext cx="2039661" cy="3566160"/>
          </a:xfrm>
          <a:prstGeom prst="roundRect">
            <a:avLst>
              <a:gd name="adj" fmla="val 53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029968"/>
            <a:ext cx="384048" cy="384048"/>
          </a:xfrm>
          <a:prstGeom prst="ellipse">
            <a:avLst/>
          </a:prstGeom>
          <a:solidFill>
            <a:srgbClr val="1C69EF"/>
          </a:solidFill>
          <a:ln w="19050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628181" y="207568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22960" y="260604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" y="272034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22960" y="3200400"/>
            <a:ext cx="158246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카카오맵에서 매장 찾기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3840480"/>
            <a:ext cx="158246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/seller/stores 에서 매장 이름을 검색해 장소를 연결합니다. 주소와 좌표가 자동으로 들어옵니다.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2835189" y="1828800"/>
            <a:ext cx="2039661" cy="3566160"/>
          </a:xfrm>
          <a:prstGeom prst="roundRect">
            <a:avLst>
              <a:gd name="adj" fmla="val 53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063789" y="2029968"/>
            <a:ext cx="384048" cy="384048"/>
          </a:xfrm>
          <a:prstGeom prst="ellipse">
            <a:avLst/>
          </a:prstGeom>
          <a:solidFill>
            <a:srgbClr val="1C69EF"/>
          </a:solidFill>
          <a:ln w="19050">
            <a:solidFill>
              <a:srgbClr val="1C69E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063789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3869009" y="207568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2분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3063789" y="260604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8089" y="2720340"/>
            <a:ext cx="228600" cy="2286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063789" y="3200400"/>
            <a:ext cx="158246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국세청 진위확인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3063789" y="3840480"/>
            <a:ext cx="158246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사업자번호, 대표자명, 개업일을 넣으면 국세청 조회로 즉시 확인됩니다. 사장님이 사업자등록증 사진만 보여 주면 됩니다.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5076017" y="1828800"/>
            <a:ext cx="2039661" cy="3566160"/>
          </a:xfrm>
          <a:prstGeom prst="roundRect">
            <a:avLst>
              <a:gd name="adj" fmla="val 53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304617" y="2029968"/>
            <a:ext cx="384048" cy="384048"/>
          </a:xfrm>
          <a:prstGeom prst="ellipse">
            <a:avLst/>
          </a:prstGeom>
          <a:solidFill>
            <a:srgbClr val="1C69EF"/>
          </a:solidFill>
          <a:ln w="19050">
            <a:solidFill>
              <a:srgbClr val="1C69E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304617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109838" y="207568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5304617" y="260604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8917" y="2720340"/>
            <a:ext cx="228600" cy="22860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304617" y="3200400"/>
            <a:ext cx="158246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 "중개" 선택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304617" y="3840480"/>
            <a:ext cx="158246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시 채널을 중개로 고르면 유어딜 수수료가 5%로 잡힙니다. 매장 확인 PIN도 여기서 정합니다.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7316846" y="1828800"/>
            <a:ext cx="2039661" cy="3566160"/>
          </a:xfrm>
          <a:prstGeom prst="roundRect">
            <a:avLst>
              <a:gd name="adj" fmla="val 53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31" name="Shape 25"/>
          <p:cNvSpPr/>
          <p:nvPr/>
        </p:nvSpPr>
        <p:spPr>
          <a:xfrm>
            <a:off x="7545446" y="2029968"/>
            <a:ext cx="384048" cy="384048"/>
          </a:xfrm>
          <a:prstGeom prst="ellipse">
            <a:avLst/>
          </a:prstGeom>
          <a:solidFill>
            <a:srgbClr val="1C69EF"/>
          </a:solidFill>
          <a:ln w="19050">
            <a:solidFill>
              <a:srgbClr val="1C69EF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7545446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3" name="Text 27"/>
          <p:cNvSpPr txBox="1"/>
          <p:nvPr/>
        </p:nvSpPr>
        <p:spPr>
          <a:xfrm>
            <a:off x="8350667" y="207568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3분씩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7545446" y="260604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9746" y="2720340"/>
            <a:ext cx="228600" cy="228600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7545446" y="3200400"/>
            <a:ext cx="158246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이용권 만들기</a:t>
            </a:r>
            <a:endParaRPr lang="en-US" sz="1300" dirty="0"/>
          </a:p>
        </p:txBody>
      </p:sp>
      <p:sp>
        <p:nvSpPr>
          <p:cNvPr id="37" name="Text 30"/>
          <p:cNvSpPr txBox="1"/>
          <p:nvPr/>
        </p:nvSpPr>
        <p:spPr>
          <a:xfrm>
            <a:off x="7545446" y="3840480"/>
            <a:ext cx="158246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사진, 정가, 판매가, 유효기간, 마감 수량. 대표 메뉴 두세 개면 충분합니다. 사진은 그 자리에서 찍어도 됩니다.</a:t>
            </a:r>
            <a:endParaRPr lang="en-US" sz="1050" dirty="0"/>
          </a:p>
        </p:txBody>
      </p:sp>
      <p:sp>
        <p:nvSpPr>
          <p:cNvPr id="38" name="Shape 31"/>
          <p:cNvSpPr/>
          <p:nvPr/>
        </p:nvSpPr>
        <p:spPr>
          <a:xfrm>
            <a:off x="9557675" y="1828800"/>
            <a:ext cx="2039661" cy="3566160"/>
          </a:xfrm>
          <a:prstGeom prst="roundRect">
            <a:avLst>
              <a:gd name="adj" fmla="val 53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9786275" y="2029968"/>
            <a:ext cx="384048" cy="384048"/>
          </a:xfrm>
          <a:prstGeom prst="ellipse">
            <a:avLst/>
          </a:prstGeom>
          <a:solidFill>
            <a:srgbClr val="1C69EF"/>
          </a:solidFill>
          <a:ln w="19050">
            <a:solidFill>
              <a:srgbClr val="1C69E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9786275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10591495" y="207568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9786275" y="260604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0575" y="2720340"/>
            <a:ext cx="228600" cy="228600"/>
          </a:xfrm>
          <a:prstGeom prst="rect">
            <a:avLst/>
          </a:prstGeom>
        </p:spPr>
      </p:pic>
      <p:sp>
        <p:nvSpPr>
          <p:cNvPr id="44" name="Text 36"/>
          <p:cNvSpPr txBox="1"/>
          <p:nvPr/>
        </p:nvSpPr>
        <p:spPr>
          <a:xfrm>
            <a:off x="9786275" y="3200400"/>
            <a:ext cx="158246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사장님께 사용법 알려 드리기</a:t>
            </a:r>
            <a:endParaRPr lang="en-US" sz="1300" dirty="0"/>
          </a:p>
        </p:txBody>
      </p:sp>
      <p:sp>
        <p:nvSpPr>
          <p:cNvPr id="45" name="Text 37"/>
          <p:cNvSpPr txBox="1"/>
          <p:nvPr/>
        </p:nvSpPr>
        <p:spPr>
          <a:xfrm>
            <a:off x="9786275" y="3840480"/>
            <a:ext cx="158246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QR을 보여 주면 매장 폰으로 찍거나, 손님 화면에 매장 PIN을 눌러 주면 끝. 이 한 가지만 설명하면 됩니다.</a:t>
            </a:r>
            <a:endParaRPr lang="en-US" sz="1050" dirty="0"/>
          </a:p>
        </p:txBody>
      </p:sp>
      <p:sp>
        <p:nvSpPr>
          <p:cNvPr id="46" name="Text 38"/>
          <p:cNvSpPr txBox="1"/>
          <p:nvPr/>
        </p:nvSpPr>
        <p:spPr>
          <a:xfrm>
            <a:off x="594360" y="5623560"/>
            <a:ext cx="11002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등록은 대행사 셀러 계정으로 합니다. 사장님이 나중에 직접 계정을 만들어 이어받을 때는 계정 양도가 아니라 권한 변경이라, 올려 둔 이용권과 주문과 리뷰가 그대로 남습니다.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96012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사장님께 하는 말 네 마디와, 거절 다섯 가지의 답.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94360" y="1828800"/>
            <a:ext cx="4846320" cy="4343400"/>
          </a:xfrm>
          <a:prstGeom prst="roundRect">
            <a:avLst>
              <a:gd name="adj" fmla="val 2526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5분 대본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377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열기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691640" y="237744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"사장님, 배달앱 말고 손님이 가게에 직접 오게 하는 건데요. 미리 내는 돈은 없고 팔린 만큼만 5% 나갑니다."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291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보여주기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691640" y="329184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메뉴를 이용권으로 올리면 이렇게 보입니다." (홈 지도와 이용권 카드 화면을 폰으로 보여 준다)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206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정하기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420624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"어떤 메뉴를 몇 % 할인해서 올릴까요? 유효기간은요?" 사장님이 정하게 한다. 대행사가 대신 정하지 않는다.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120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끝내기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691640" y="512064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"사업자등록증만 보여 주시면 지금 10분 안에 올라갑니다. 손님 오면 QR만 찍어 주세요."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760720" y="1828800"/>
            <a:ext cx="5836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"할인하면 손해 아니에요?"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5760720" y="2121408"/>
            <a:ext cx="5836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메뉴만, 사장님이 정한 할인율로만 올립니다. 안 팔리면 0원이고, 팔리면 새 손님입니다.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5760720" y="2706624"/>
            <a:ext cx="5836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"배달앱이랑 뭐가 달라요?"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5760720" y="2999232"/>
            <a:ext cx="5836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배달이 없고 손님이 가게에 옵니다. 수수료는 5%이고, 가게 페이지가 사장님 것으로 남습니다. 병행해도 됩니다.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5760720" y="3584448"/>
            <a:ext cx="5836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"정산은 언제 들어와요?"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5760720" y="3877056"/>
            <a:ext cx="5836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매장에서 쓴 이용권만 매주 정산돼 매장 계좌로 들어옵니다. 안 쓴 건 손님에게 자동 환불이라 분쟁이 없습니다.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760720" y="4462272"/>
            <a:ext cx="5836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"귀찮은 일 있어요?"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5760720" y="4754880"/>
            <a:ext cx="5836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QR을 폰으로 찍는 것 하나입니다. 등록, 이용권 관리, 인플루언서 섭외는 제가 합니다.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760720" y="5340096"/>
            <a:ext cx="5836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"계약서 써야 해요?"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5760720" y="5632704"/>
            <a:ext cx="5836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유어딜과는 가입뿐입니다. 저와의 운영 위임은 권한 한 줄이고, 마음에 안 들면 오늘이라도 사장님이 빼시면 됩니다.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96012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인플루언서 섭외, 계약, 정산이 화면 안에서 끝납니다.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94360" y="1828800"/>
            <a:ext cx="2039661" cy="2606040"/>
          </a:xfrm>
          <a:prstGeom prst="roundRect">
            <a:avLst>
              <a:gd name="adj" fmla="val 53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029968"/>
            <a:ext cx="384048" cy="384048"/>
          </a:xfrm>
          <a:prstGeom prst="ellipse">
            <a:avLst/>
          </a:prstGeom>
          <a:solidFill>
            <a:srgbClr val="1C69EF"/>
          </a:solidFill>
          <a:ln w="19050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542032"/>
            <a:ext cx="15824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DB에서 고른다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889504"/>
            <a:ext cx="158246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/seller/influencers 에서 플랫폼과 팔로워 구간으로 거릅니다. 매장 동네에서 활동하는 채널을 우선합니다.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835189" y="1828800"/>
            <a:ext cx="2039661" cy="2606040"/>
          </a:xfrm>
          <a:prstGeom prst="roundRect">
            <a:avLst>
              <a:gd name="adj" fmla="val 53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063789" y="2029968"/>
            <a:ext cx="384048" cy="384048"/>
          </a:xfrm>
          <a:prstGeom prst="ellipse">
            <a:avLst/>
          </a:prstGeom>
          <a:solidFill>
            <a:srgbClr val="1C69EF"/>
          </a:solidFill>
          <a:ln w="19050">
            <a:solidFill>
              <a:srgbClr val="1C69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063789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063789" y="2542032"/>
            <a:ext cx="15824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제안을 접수한다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3063789" y="2889504"/>
            <a:ext cx="158246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소개와 조건을 적어 접수하면 유어딜이 발송합니다. 연락처는 대행사에게도 공개되지 않습니다.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076017" y="1828800"/>
            <a:ext cx="2039661" cy="2606040"/>
          </a:xfrm>
          <a:prstGeom prst="roundRect">
            <a:avLst>
              <a:gd name="adj" fmla="val 53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304617" y="2029968"/>
            <a:ext cx="384048" cy="384048"/>
          </a:xfrm>
          <a:prstGeom prst="ellipse">
            <a:avLst/>
          </a:prstGeom>
          <a:solidFill>
            <a:srgbClr val="1C69EF"/>
          </a:solidFill>
          <a:ln w="19050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304617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304617" y="2542032"/>
            <a:ext cx="15824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딜을 맺는다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5304617" y="2889504"/>
            <a:ext cx="158246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/seller/influencer-deals 에서 커미션 %를 제안합니다. 매장이 정한 값이고 매장 부담입니다. 콘텐츠 게시를 확인한 뒤 발효되는 조건부도 됩니다.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7316846" y="1828800"/>
            <a:ext cx="2039661" cy="2606040"/>
          </a:xfrm>
          <a:prstGeom prst="roundRect">
            <a:avLst>
              <a:gd name="adj" fmla="val 53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545446" y="2029968"/>
            <a:ext cx="384048" cy="384048"/>
          </a:xfrm>
          <a:prstGeom prst="ellipse">
            <a:avLst/>
          </a:prstGeom>
          <a:solidFill>
            <a:srgbClr val="1C69EF"/>
          </a:solidFill>
          <a:ln w="19050">
            <a:solidFill>
              <a:srgbClr val="1C69E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545446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545446" y="2542032"/>
            <a:ext cx="15824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귀속은 자동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7545446" y="2889504"/>
            <a:ext cx="158246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수락 즉시 전용 링크가 나오고 그 링크로 들어온 주문이 자동 연결됩니다. 쿠폰 코드를 확인할 일이 없습니다.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9557675" y="1828800"/>
            <a:ext cx="2039661" cy="2606040"/>
          </a:xfrm>
          <a:prstGeom prst="roundRect">
            <a:avLst>
              <a:gd name="adj" fmla="val 53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9786275" y="2029968"/>
            <a:ext cx="384048" cy="384048"/>
          </a:xfrm>
          <a:prstGeom prst="ellipse">
            <a:avLst/>
          </a:prstGeom>
          <a:solidFill>
            <a:srgbClr val="1C69EF"/>
          </a:solidFill>
          <a:ln w="19050">
            <a:solidFill>
              <a:srgbClr val="1C69E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786275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9786275" y="2542032"/>
            <a:ext cx="15824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지급도 자동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9786275" y="2889504"/>
            <a:ext cx="158246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가능 기간 7일이 지나면 확정되고, 원천징수를 계산해 유어딜이 지급합니다. 대행사가 돈을 옮기지 않습니다.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594360" y="4663440"/>
            <a:ext cx="11002975" cy="1508760"/>
          </a:xfrm>
          <a:prstGeom prst="roundRect">
            <a:avLst>
              <a:gd name="adj" fmla="val 7273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68680" y="4818888"/>
            <a:ext cx="209086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198,704</a:t>
            </a:r>
            <a:endParaRPr lang="en-US" sz="2600" dirty="0"/>
          </a:p>
        </p:txBody>
      </p:sp>
      <p:sp>
        <p:nvSpPr>
          <p:cNvPr id="33" name="Text 30"/>
          <p:cNvSpPr txBox="1"/>
          <p:nvPr/>
        </p:nvSpPr>
        <p:spPr>
          <a:xfrm>
            <a:off x="868680" y="5394960"/>
            <a:ext cx="20908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인플루언서 DB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959547" y="4818888"/>
            <a:ext cx="209086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45,725</a:t>
            </a:r>
            <a:endParaRPr lang="en-US" sz="2600" dirty="0"/>
          </a:p>
        </p:txBody>
      </p:sp>
      <p:sp>
        <p:nvSpPr>
          <p:cNvPr id="35" name="Text 32"/>
          <p:cNvSpPr txBox="1"/>
          <p:nvPr/>
        </p:nvSpPr>
        <p:spPr>
          <a:xfrm>
            <a:off x="2959547" y="5394960"/>
            <a:ext cx="20908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연락 가능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050414" y="4818888"/>
            <a:ext cx="209086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170,307</a:t>
            </a:r>
            <a:endParaRPr lang="en-US" sz="2600" dirty="0"/>
          </a:p>
        </p:txBody>
      </p:sp>
      <p:sp>
        <p:nvSpPr>
          <p:cNvPr id="37" name="Text 34"/>
          <p:cNvSpPr txBox="1"/>
          <p:nvPr/>
        </p:nvSpPr>
        <p:spPr>
          <a:xfrm>
            <a:off x="5050414" y="5394960"/>
            <a:ext cx="20908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블로그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7141281" y="4818888"/>
            <a:ext cx="209086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17,986</a:t>
            </a:r>
            <a:endParaRPr lang="en-US" sz="2600" dirty="0"/>
          </a:p>
        </p:txBody>
      </p:sp>
      <p:sp>
        <p:nvSpPr>
          <p:cNvPr id="39" name="Text 36"/>
          <p:cNvSpPr txBox="1"/>
          <p:nvPr/>
        </p:nvSpPr>
        <p:spPr>
          <a:xfrm>
            <a:off x="7141281" y="5394960"/>
            <a:ext cx="20908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유튜브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9232148" y="4818888"/>
            <a:ext cx="209086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9,803</a:t>
            </a:r>
            <a:endParaRPr lang="en-US" sz="2600" dirty="0"/>
          </a:p>
        </p:txBody>
      </p:sp>
      <p:sp>
        <p:nvSpPr>
          <p:cNvPr id="41" name="Text 38"/>
          <p:cNvSpPr txBox="1"/>
          <p:nvPr/>
        </p:nvSpPr>
        <p:spPr>
          <a:xfrm>
            <a:off x="9232148" y="5394960"/>
            <a:ext cx="20908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카페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868680" y="5788152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9월 7일 유어딜 운영 콘솔 실측. 인스타그램과 틱톡은 탐색 필터에 있으나 DB의 대부분은 네이버 블로그와 유튜브입니다.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96012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한 명의 일주일. 쓰는 화면은 여섯 장뿐입니다.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94360" y="1828800"/>
            <a:ext cx="2545004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1993392"/>
            <a:ext cx="2087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월·화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0878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방문 4곳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697480"/>
            <a:ext cx="20878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7장 체크리스트로 고른 매장을 방문해 등록합니다. 하루 2곳이면 충분합니다.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794760"/>
            <a:ext cx="208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/seller/stores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413684" y="1828800"/>
            <a:ext cx="2545004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642284" y="1993392"/>
            <a:ext cx="2087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642284" y="2286000"/>
            <a:ext cx="20878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이용권 손보기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642284" y="2697480"/>
            <a:ext cx="20878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교체, 마감 수량, 할인율 조정. 잘 팔리는 메뉴는 수량을 늘립니다.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3642284" y="3794760"/>
            <a:ext cx="208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/seller/products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233008" y="1828800"/>
            <a:ext cx="2545004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461608" y="1993392"/>
            <a:ext cx="2087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461608" y="2286000"/>
            <a:ext cx="20878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인플루언서 제안 5건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461608" y="2697480"/>
            <a:ext cx="20878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DB에서 매장 동네 채널을 골라 제안을 접수하고, 들어온 신청에 답합니다.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461608" y="3794760"/>
            <a:ext cx="208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9052331" y="1828800"/>
            <a:ext cx="2545004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9280931" y="1993392"/>
            <a:ext cx="20878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280931" y="2286000"/>
            <a:ext cx="20878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매장에 보고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9280931" y="2697480"/>
            <a:ext cx="20878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매장 요약에서 매장별 매출과 주문을 뽑아 사장님께 보내고, 계약대로 청구합니다.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9280931" y="3794760"/>
            <a:ext cx="208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/seller/operating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94360" y="443484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화면 여섯 장 (전부 셀러 대시보드. 대행사 전용 계정이나 별도 프로그램이 없습니다)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48006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관리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2011680" y="48188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/seller/stores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594360" y="5074920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등록, 국세청 확인, 채널, 매장 전환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4322978" y="48006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권한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5740298" y="48188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/seller/operators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4322978" y="5074920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사장님이 대행사 핸들을 추가하거나 회수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051597" y="48006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인플루언서 탐색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9468917" y="48188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/seller/influencers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8051597" y="5074920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필터, 제안 접수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594360" y="5486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 협업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2011680" y="55046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/seller/influencer-deals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594360" y="5760720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커미션 % 제안, 조건부 발효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22978" y="5486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소개비 내역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5740298" y="55046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/seller/promo-spend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4322978" y="5760720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수령인별·딜별. 사장님도 항상 열람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8051597" y="5486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매장 요약</a:t>
            </a:r>
            <a:endParaRPr lang="en-US" sz="1150" dirty="0"/>
          </a:p>
        </p:txBody>
      </p:sp>
      <p:sp>
        <p:nvSpPr>
          <p:cNvPr id="43" name="Text 40"/>
          <p:cNvSpPr txBox="1"/>
          <p:nvPr/>
        </p:nvSpPr>
        <p:spPr>
          <a:xfrm>
            <a:off x="9468917" y="55046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/seller/operating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8051597" y="5760720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매장별 매출·주문, 운영 시작 이후 구간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96012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사장님이 맡겨도 잃을 게 없어서, 두 번째 방문이 쉬워집니다.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94360" y="1874520"/>
            <a:ext cx="536432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21408"/>
            <a:ext cx="438912" cy="43891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231136"/>
            <a:ext cx="219456" cy="2194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2093976"/>
            <a:ext cx="4404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회수는 언제든, 조건 없이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71600" y="2423160"/>
            <a:ext cx="4358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사장님이 권한을 빼도 대행사가 올려 둔 이용권, 주문, 리뷰는 매장에 남습니다. 붙이는 것도 떼는 것도 권한 한 줄입니다.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233008" y="1874520"/>
            <a:ext cx="536432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461608" y="2121408"/>
            <a:ext cx="438912" cy="43891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1336" y="2231136"/>
            <a:ext cx="219456" cy="2194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010248" y="2093976"/>
            <a:ext cx="4404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정산계좌와 사업자정보는 주인만</a:t>
            </a:r>
            <a:endParaRPr lang="en-US" sz="1350" dirty="0"/>
          </a:p>
        </p:txBody>
      </p:sp>
      <p:sp>
        <p:nvSpPr>
          <p:cNvPr id="15" name="Text 10"/>
          <p:cNvSpPr txBox="1"/>
          <p:nvPr/>
        </p:nvSpPr>
        <p:spPr>
          <a:xfrm>
            <a:off x="7010248" y="2423160"/>
            <a:ext cx="4358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운영자에게는 사업자번호와 대표자명이 가려 보이고, 계좌 변경과 사업자정보 수정과 탈퇴는 서버가 막습니다. 매장 돈이 딴 데로 갈 길이 없습니다.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94360" y="3429000"/>
            <a:ext cx="536432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2960" y="3675888"/>
            <a:ext cx="438912" cy="43891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3785616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371600" y="3648456"/>
            <a:ext cx="4404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소개비 지출은 항상 사장님이 봅니다</a:t>
            </a:r>
            <a:endParaRPr lang="en-US" sz="1350" dirty="0"/>
          </a:p>
        </p:txBody>
      </p:sp>
      <p:sp>
        <p:nvSpPr>
          <p:cNvPr id="20" name="Text 14"/>
          <p:cNvSpPr txBox="1"/>
          <p:nvPr/>
        </p:nvSpPr>
        <p:spPr>
          <a:xfrm>
            <a:off x="1371600" y="3977640"/>
            <a:ext cx="4358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운영을 맡겨도 소개비가 누구에게 얼마 나갔는지 사장님이 직접 봅니다. 투명성은 위임 여부와 무관합니다.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6233008" y="3429000"/>
            <a:ext cx="536432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461608" y="3675888"/>
            <a:ext cx="438912" cy="43891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3785616"/>
            <a:ext cx="219456" cy="219456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010248" y="3648456"/>
            <a:ext cx="44042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성과는 부풀리지 않습니다</a:t>
            </a:r>
            <a:endParaRPr lang="en-US" sz="1350" dirty="0"/>
          </a:p>
        </p:txBody>
      </p:sp>
      <p:sp>
        <p:nvSpPr>
          <p:cNvPr id="25" name="Text 18"/>
          <p:cNvSpPr txBox="1"/>
          <p:nvPr/>
        </p:nvSpPr>
        <p:spPr>
          <a:xfrm>
            <a:off x="7010248" y="3977640"/>
            <a:ext cx="4358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매장 요약은 매장 총액과 "운영 시작 이후" 구간을 나눠 보여 줍니다. 그래서 그 숫자를 청구 근거로 쓸 수 있습니다.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594360" y="5166360"/>
            <a:ext cx="11002975" cy="960120"/>
          </a:xfrm>
          <a:prstGeom prst="roundRect">
            <a:avLst>
              <a:gd name="adj" fmla="val 1142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27" name="Text 20"/>
          <p:cNvSpPr txBox="1"/>
          <p:nvPr/>
        </p:nvSpPr>
        <p:spPr>
          <a:xfrm>
            <a:off x="868680" y="5257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사장님께 이렇게 말할 수 있습니다.</a:t>
            </a:r>
            <a:endParaRPr lang="en-US" sz="1050" dirty="0"/>
          </a:p>
        </p:txBody>
      </p:sp>
      <p:sp>
        <p:nvSpPr>
          <p:cNvPr id="28" name="Text 21"/>
          <p:cNvSpPr txBox="1"/>
          <p:nvPr/>
        </p:nvSpPr>
        <p:spPr>
          <a:xfrm>
            <a:off x="868680" y="5532120"/>
            <a:ext cx="10454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i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"계좌랑 사업자 정보는 사장님만 만질 수 있고 저는 못 봅니다. 마음에 안 들면 오늘이라도 권한만 빼시면 되고, 올려 둔 건 다 사장님 것으로 남습니다."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96012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유어딜이 대행사에게 붙여 드리는 것 여섯 가지.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94360" y="182880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057400"/>
            <a:ext cx="438912" cy="43891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167128"/>
            <a:ext cx="219456" cy="2194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2103120"/>
            <a:ext cx="2524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매장 세 곳은 같이 갑니다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606040"/>
            <a:ext cx="30275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등록 세 건은 유어딜 담당자가 현장이나 통화로 동행합니다. 국세청 확인, 카카오맵 연결, 이용권 등록을 한 번 같이 하면 그다음은 혼자 됩니다.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353458" y="182880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2058" y="2057400"/>
            <a:ext cx="438912" cy="43891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1786" y="2167128"/>
            <a:ext cx="219456" cy="2194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130698" y="2103120"/>
            <a:ext cx="2524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사장님용 한 장 안내</a:t>
            </a:r>
            <a:endParaRPr lang="en-US" sz="1350" dirty="0"/>
          </a:p>
        </p:txBody>
      </p:sp>
      <p:sp>
        <p:nvSpPr>
          <p:cNvPr id="15" name="Text 10"/>
          <p:cNvSpPr txBox="1"/>
          <p:nvPr/>
        </p:nvSpPr>
        <p:spPr>
          <a:xfrm>
            <a:off x="4582058" y="2606040"/>
            <a:ext cx="30275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수수료, 정산, QR 사용법이 적힌 매장용 안내 한 장을 드립니다. 대행사 이름을 넣어 드립니다.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8112557" y="182880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41157" y="2057400"/>
            <a:ext cx="438912" cy="43891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0885" y="2167128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889797" y="2103120"/>
            <a:ext cx="2524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인플루언서 DB와 발송 대행</a:t>
            </a:r>
            <a:endParaRPr lang="en-US" sz="1350" dirty="0"/>
          </a:p>
        </p:txBody>
      </p:sp>
      <p:sp>
        <p:nvSpPr>
          <p:cNvPr id="20" name="Text 14"/>
          <p:cNvSpPr txBox="1"/>
          <p:nvPr/>
        </p:nvSpPr>
        <p:spPr>
          <a:xfrm>
            <a:off x="8341157" y="2606040"/>
            <a:ext cx="30275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19만 명 DB 탐색과 제안 발송을 유어딜이 합니다. 연락처를 모으거나 DM을 돌릴 필요가 없습니다.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594360" y="406908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4407408"/>
            <a:ext cx="219456" cy="219456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371600" y="4343400"/>
            <a:ext cx="2524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결제, 정산, 환불, 세금</a:t>
            </a:r>
            <a:endParaRPr lang="en-US" sz="1350" dirty="0"/>
          </a:p>
        </p:txBody>
      </p:sp>
      <p:sp>
        <p:nvSpPr>
          <p:cNvPr id="25" name="Text 18"/>
          <p:cNvSpPr txBox="1"/>
          <p:nvPr/>
        </p:nvSpPr>
        <p:spPr>
          <a:xfrm>
            <a:off x="822960" y="4846320"/>
            <a:ext cx="30275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 결제, 주간 정산, 미사용 환불, 원천징수를 유어딜이 처리합니다. 손님 CS도 유어딜로 옵니다.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4353458" y="406908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2058" y="4297680"/>
            <a:ext cx="438912" cy="43891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1786" y="4407408"/>
            <a:ext cx="219456" cy="219456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5130698" y="4343400"/>
            <a:ext cx="2524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유입</a:t>
            </a:r>
            <a:endParaRPr lang="en-US" sz="1350" dirty="0"/>
          </a:p>
        </p:txBody>
      </p:sp>
      <p:sp>
        <p:nvSpPr>
          <p:cNvPr id="30" name="Text 22"/>
          <p:cNvSpPr txBox="1"/>
          <p:nvPr/>
        </p:nvSpPr>
        <p:spPr>
          <a:xfrm>
            <a:off x="4582058" y="4846320"/>
            <a:ext cx="30275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지도에 동네 기준으로 노출되고, 매장 페이지는 카톡 미리보기 카드와 네이버·구글 검색에 잡힙니다. 6개 언어를 지원합니다.</a:t>
            </a:r>
            <a:endParaRPr lang="en-US" sz="1050" dirty="0"/>
          </a:p>
        </p:txBody>
      </p:sp>
      <p:sp>
        <p:nvSpPr>
          <p:cNvPr id="31" name="Shape 23"/>
          <p:cNvSpPr/>
          <p:nvPr/>
        </p:nvSpPr>
        <p:spPr>
          <a:xfrm>
            <a:off x="8112557" y="406908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41157" y="4297680"/>
            <a:ext cx="438912" cy="43891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0885" y="4407408"/>
            <a:ext cx="219456" cy="219456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8889797" y="4343400"/>
            <a:ext cx="2524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실적 공유</a:t>
            </a:r>
            <a:endParaRPr lang="en-US" sz="1350" dirty="0"/>
          </a:p>
        </p:txBody>
      </p:sp>
      <p:sp>
        <p:nvSpPr>
          <p:cNvPr id="35" name="Text 26"/>
          <p:cNvSpPr txBox="1"/>
          <p:nvPr/>
        </p:nvSpPr>
        <p:spPr>
          <a:xfrm>
            <a:off x="8341157" y="4846320"/>
            <a:ext cx="30275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파일럿 기간에는 매주 매장별 판매와 사용 숫자를 유어딜이 먼저 보내 드립니다. 매장 보고서에 그대로 쓰시면 됩니다.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96012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8주 파일럿 제안. 매장 10곳이면 구조가 맞는지 판정이 납니다.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94360" y="1828800"/>
            <a:ext cx="3749040" cy="4343400"/>
          </a:xfrm>
          <a:prstGeom prst="roundRect">
            <a:avLst>
              <a:gd name="adj" fmla="val 2927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8주 목표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3774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10곳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2194560" y="2514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매장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2461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30개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2194560" y="3383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중 이용권 (매장당 3개)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1148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2194560" y="4251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인플루언서 제안 접수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49834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2194560" y="51206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매장별 실적 보고와 청구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5806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제안입니다. 담당자 한 명, 주 2일 방문 기준으로 잡았습니다.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617720" y="1828800"/>
            <a:ext cx="3352648" cy="434340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4892040" y="2011680"/>
            <a:ext cx="2804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대행사가 준비할 것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892040" y="237744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69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92040" y="2377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349240" y="2359152"/>
            <a:ext cx="2346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1명과 카카오 계정 (셀러 계정은 사업자 인증으로 10분)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892040" y="324612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69E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92040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349240" y="3227832"/>
            <a:ext cx="2346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매장 리스트 10~20곳 (7장 체크리스트 기준)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892040" y="41148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69E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892040" y="4114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349240" y="4096512"/>
            <a:ext cx="2346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매장과 맺을 보수 조건 초안 (매출 % 또는 월 정액. 유어딜은 관여하지 않습니다)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4892040" y="498348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C69E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892040" y="4983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5349240" y="4965192"/>
            <a:ext cx="2346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방문 일정 2주치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8244688" y="1828800"/>
            <a:ext cx="3352648" cy="434340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8519008" y="2011680"/>
            <a:ext cx="2804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유어딜이 준비할 것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519008" y="2377440"/>
            <a:ext cx="329184" cy="329184"/>
          </a:xfrm>
          <a:prstGeom prst="ellipse">
            <a:avLst/>
          </a:prstGeom>
          <a:solidFill>
            <a:srgbClr val="1C69EF"/>
          </a:solidFill>
          <a:ln w="19050">
            <a:solidFill>
              <a:srgbClr val="1C69E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519008" y="2377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8976208" y="2359152"/>
            <a:ext cx="2346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3매장 등록 동행 (현장 또는 통화)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8519008" y="3246120"/>
            <a:ext cx="329184" cy="329184"/>
          </a:xfrm>
          <a:prstGeom prst="ellipse">
            <a:avLst/>
          </a:prstGeom>
          <a:solidFill>
            <a:srgbClr val="1C69EF"/>
          </a:solidFill>
          <a:ln w="19050">
            <a:solidFill>
              <a:srgbClr val="1C69E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519008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8976208" y="3227832"/>
            <a:ext cx="2346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대행사 이름이 들어간 사장님용 안내 한 장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8519008" y="4114800"/>
            <a:ext cx="329184" cy="329184"/>
          </a:xfrm>
          <a:prstGeom prst="ellipse">
            <a:avLst/>
          </a:prstGeom>
          <a:solidFill>
            <a:srgbClr val="1C69EF"/>
          </a:solidFill>
          <a:ln w="19050">
            <a:solidFill>
              <a:srgbClr val="1C69E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519008" y="4114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976208" y="4096512"/>
            <a:ext cx="2346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인플루언서 제안 발송, 결제·정산·환불·CS 전부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8519008" y="4983480"/>
            <a:ext cx="329184" cy="329184"/>
          </a:xfrm>
          <a:prstGeom prst="ellipse">
            <a:avLst/>
          </a:prstGeom>
          <a:solidFill>
            <a:srgbClr val="1C69EF"/>
          </a:solidFill>
          <a:ln w="19050">
            <a:solidFill>
              <a:srgbClr val="1C69E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519008" y="4983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8976208" y="4965192"/>
            <a:ext cx="2346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매장별 판매·사용 숫자 공유. 8주 뒤 함께 판정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96012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쪽은 화면 네 장이면 끝납니다. 그래서 매장이 올리면 팔립니다.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94360" y="1874520"/>
            <a:ext cx="2545004" cy="3291840"/>
          </a:xfrm>
          <a:prstGeom prst="roundRect">
            <a:avLst>
              <a:gd name="adj" fmla="val 43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148840"/>
            <a:ext cx="548640" cy="54864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2860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68680" y="2880360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발견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868680" y="3291840"/>
            <a:ext cx="19963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지도에서 내 동네 기준으로 이용권이 뜹니다. 매장 링크를 카톡에 붙이면 미리보기 카드가 뜨고, 네이버와 구글 검색에도 잡힙니다.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3093644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3413684" y="1874520"/>
            <a:ext cx="2545004" cy="3291840"/>
          </a:xfrm>
          <a:prstGeom prst="roundRect">
            <a:avLst>
              <a:gd name="adj" fmla="val 43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688004" y="2148840"/>
            <a:ext cx="548640" cy="54864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164" y="228600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688004" y="2880360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688004" y="3291840"/>
            <a:ext cx="19963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정가와 할인가를 함께 보고 토스로 결제합니다. 앱 설치나 가입 강요 구간이 없습니다.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5912968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3"/>
          <p:cNvSpPr/>
          <p:nvPr/>
        </p:nvSpPr>
        <p:spPr>
          <a:xfrm>
            <a:off x="6233008" y="1874520"/>
            <a:ext cx="2545004" cy="3291840"/>
          </a:xfrm>
          <a:prstGeom prst="roundRect">
            <a:avLst>
              <a:gd name="adj" fmla="val 43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507328" y="2148840"/>
            <a:ext cx="548640" cy="54864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488" y="228600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507328" y="2880360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507328" y="3291840"/>
            <a:ext cx="19963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매장에서 QR을 보여 주거나 매장 PIN을 입력합니다. 매장은 폰 한 대로 확인합니다.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8732291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A85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9052331" y="1874520"/>
            <a:ext cx="2545004" cy="3291840"/>
          </a:xfrm>
          <a:prstGeom prst="roundRect">
            <a:avLst>
              <a:gd name="adj" fmla="val 43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1A2C42">
                <a:alpha val="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9326651" y="2148840"/>
            <a:ext cx="548640" cy="54864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3811" y="2286000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326651" y="2880360"/>
            <a:ext cx="19963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8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환불과 응대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9326651" y="3291840"/>
            <a:ext cx="19963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쓴 이용권은 100% 자동 환불됩니다. 재고, 배송, 반품이 없어 고객 응대가 매장이나 대행사로 흘러오지 않습니다.</a:t>
            </a:r>
            <a:endParaRPr lang="en-US" sz="1100" dirty="0"/>
          </a:p>
        </p:txBody>
      </p:sp>
      <p:sp>
        <p:nvSpPr>
          <p:cNvPr id="29" name="Text 22"/>
          <p:cNvSpPr txBox="1"/>
          <p:nvPr/>
        </p:nvSpPr>
        <p:spPr>
          <a:xfrm>
            <a:off x="594360" y="5440680"/>
            <a:ext cx="11002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유어딜은 초기 서비스입니다. 트래픽을 약속하는 대신 요율과 정산 방식을 숫자로 먼저 공개합니다. 비어 있는 동네와 업종은 먼저 들어온 대행사의 매장이 가져갑니다.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84048"/>
            <a:ext cx="941832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94360" y="6355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유어딜 대행사 제휴 제안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10865815" y="6355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94360" y="960120"/>
            <a:ext cx="11002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질문과, 지금 하실 일.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828800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수수료가 두 번 나가나요?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148840"/>
            <a:ext cx="5364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아닙니다. 유어딜이 떼는 것은 중개 매장 5% 하나뿐입니다. 대행사 보수는 매장과 대행사의 계약이고 유어딜 정산서에 나오지 않습니다.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6233008" y="1828800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사장님이 직접 계정을 만들면 우리 관계는요?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233008" y="2148840"/>
            <a:ext cx="5364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양도가 아니라 권한 변경입니다. 상품, 주문, 리뷰, 정산 이력은 매장에 그대로 남고, 대행사는 운영자로 계속 일할 수 있습니다.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063240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대행사가 유어딜에 내는 돈이 있나요?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383280"/>
            <a:ext cx="5364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없습니다. 가입비, 월 이용료, 매장당 등록비 전부 없습니다. 매장에서 팔린 만큼만 유어딜 수수료가 나갑니다.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233008" y="3063240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정산은 언제 되나요?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233008" y="3383280"/>
            <a:ext cx="5364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매장에서 실제로 사용한 이용권만 주간 정산으로 매장 계좌에 들어옵니다. 안 쓴 이용권은 손님에게 자동 환불됩니다.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4297680"/>
            <a:ext cx="5364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쇼핑 공구 벤더인데 바로 할 수 있나요?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4617720"/>
            <a:ext cx="5364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B4B0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구조가 같습니다. 브랜드 대신 매장, 상품 대신 이용권, 택배 대신 QR입니다. 재고와 반품이 빠지고 정산이 자동으로 바뀝니다.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233008" y="4160520"/>
            <a:ext cx="5364328" cy="2103120"/>
          </a:xfrm>
          <a:prstGeom prst="roundRect">
            <a:avLst>
              <a:gd name="adj" fmla="val 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07328" y="4343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C69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하실 일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4617720"/>
            <a:ext cx="4815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매장 5곳의 이름과 동네만 보내 주세요. 하루 안에 채널과 요율을 확인해 드리고, 첫 방문 일정을 잡습니다.</a:t>
            </a:r>
            <a:endParaRPr lang="en-US" sz="115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7328" y="5349240"/>
            <a:ext cx="182880" cy="18288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6827368" y="5303520"/>
            <a:ext cx="4541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jiwon@ur-team.com</a:t>
            </a:r>
            <a:endParaRPr lang="en-US" sz="125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328" y="5641848"/>
            <a:ext cx="182880" cy="1828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827368" y="5596128"/>
            <a:ext cx="4541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urdeal.kr</a:t>
            </a:r>
            <a:endParaRPr lang="en-US" sz="12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8" y="5934456"/>
            <a:ext cx="182880" cy="18288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827368" y="5888736"/>
            <a:ext cx="4541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리스터코퍼레이션, 사업자등록번호 479-09-02930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유어딜 대행사 제휴 제안서</dc:title>
  <dc:subject>PptxGenJS Presentation</dc:subject>
  <dc:creator>리스터코퍼레이션</dc:creator>
  <cp:lastModifiedBy>리스터코퍼레이션</cp:lastModifiedBy>
  <cp:revision>1</cp:revision>
  <dcterms:created xsi:type="dcterms:W3CDTF">2026-09-07T07:02:03Z</dcterms:created>
  <dcterms:modified xsi:type="dcterms:W3CDTF">2026-09-07T07:02:03Z</dcterms:modified>
</cp:coreProperties>
</file>