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대표 지시(09-14): "팔린 만큼만 냅니다"가 아니라 "우리동네 이용권, 유어딜". 오른쪽은 urdeal.kr 홈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10%: 직접 등록 기준(fee-resolver.ts, 09-07 대표 확정. 대행사 경유는 5% — 사장님 덱에서는 10% 하나로). 0원: 가입비·월비·광고비 없음.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문서의 심장. 체험단·광고를 깎아내리지 않고 "돈이 나가는 시점"과 "측정 가능성"만 비교한다. 성과 수치는 실측 전이라 전부 배제.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상품 2888(홍대돈까스, 라이브 유일의 실제 매장 이용권) 09-13 실측: 정가 25,000 / 판매가 16,500. 카드 수수료(현재 약 2.75%, 변동 가능)는 유어딜 부담.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계산 SSOT는 이 파일 CALC. 장당: 16,500 − 1,650 = 14,850 입금, 재료비 8,750(정가 25,000×35% 가정) → 6,100. 월 30/90/150장 = 183,000 / 549,000 / 915,000원. 업종 평균가는 09-13 공개 API 실측(활성 이용권 카탈로그 평균, 실거래 평균 아님). 할인분은 정직하게 "덜 받는 값"으로 적었다.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노출 4곳: 홈 섹션/지도(/map)/검색·카톡 OG/유어쇼츠(/videos). 소개비: 매장 제안 %, 매장 부담 — %·풀 규모 숫자는 넣지 않는다(대표). 리뷰 보너스 1,000딜 유어딜 부담 — "포인트"로만.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만료 자동 환불: auto-settlement.ts handleExpiredVoucherRefunds (100%). QR CAS: group-buy-voucher.routes.ts. 독점·계약기간 없음(코드 제약 0). 수량 상한은 상품 필드.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이용 안내 목차. 시간은 현장 추정. 다음 장부터 각 단계를 화면과 함께.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StoreRegisterModal.tsx 4단계. 승인은 사람(seller-stores.routes.ts 자동 승인 없음). 채널 선택이 수수료(직접 10% / 중개 5%)를 정함. 대리 등록 매장의 사장님 입구는 /store/find.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필드: products(name, price, group_buy 판매가, stock/quantity, expires). 유효기간 미설정=무기한(actor-benefit-map). 요령은 판매 원칙이지 성과 약속이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사용 처리: group-buy-voucher.routes.ts /:code/use-by-seller(직원 QR, CAS) · /:code/use(확인코드). 사용 조건: redemption-settings(usage_conditions). 확인코드 재발급 가능.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payouts-generate.ts: 매주 월요일 cron, 최소 10,000원(이월), 승인·송금은 사람. 계좌 변경 owner 전용 + PIN(seller-profile.routes.ts).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딜 소개비: 매장 제안 %·매장 부담·상한 없음(Q2-1). DB 규모 숫자는 대표 지시로 넣지 않는다. 리뷰 보너스 1,000딜 유어딜 부담 — "포인트"로만.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seller-operators.ts · store-operator-model.md §7.7: 계좌 변경·사업자정보·탈퇴·운영자 관리 403, 마스킹, 정산 내역은 합류 이후분만. 중개 경유 5%.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할인율 하한 없음. 과세 유형은 등록 조건 아님. 세금계산서: tax-invoice-gateway.ts 역발행 초안(연동 활성 여부 운영 확인). 승인은 사람. 추가 주문 수수료 0(이용권 금액만 정산). 계약기간·위약금 없음(코드 제약 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정직 고지(수치 없이): 09-13 실측 활성 337 중 실제 매장 1. 연락처는 대표 지정값. 상인회장용 발췌: 1·2·3·4·5·7·16장.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5544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spc="-1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우리동네 이용권,</a:t>
            </a:r>
            <a:endParaRPr lang="en-US" sz="44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60320"/>
            <a:ext cx="4502075" cy="12344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85800" y="43434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식당, 카페, 뷰티, 숙박의 이용권을 손님이 온라인에서 미리 사고, 가게에 와서 QR 로 씁니다. 사장님은 팔린 만큼만 수수료를 냅니다.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5349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</a:t>
            </a:r>
            <a:endParaRPr lang="en-US" sz="14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5122" y="747042"/>
            <a:ext cx="2997247" cy="572967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만큼만 냅니다.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가게 이용권을 온라인에서 미리 파는 곳입니다. "한우 런치 2인", "커트+클리닉". 사장님이 정한 메뉴를 사장님이 정한 할인가로 올리면, 손님이 먼저 결제하고 이용권을 들고 가게로 옵니다.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97180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광고를 파는 게 아니라 사장님의 상품을 팝니다. 그래서 미리 내는 돈이 없고, 팔린 이용권에만 수수료를 냅니다.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85800" y="3794760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40690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1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10%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48463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 전부.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팔리면 0원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3017520" y="40690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1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3017520" y="48463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가입비, 월비,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선불 광고비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349240" y="40690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14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90%</a:t>
            </a:r>
            <a:endParaRPr lang="en-US" sz="4000" dirty="0"/>
          </a:p>
        </p:txBody>
      </p:sp>
      <p:sp>
        <p:nvSpPr>
          <p:cNvPr id="14" name="Text 11"/>
          <p:cNvSpPr txBox="1"/>
          <p:nvPr/>
        </p:nvSpPr>
        <p:spPr>
          <a:xfrm>
            <a:off x="5349240" y="48463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금액 중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566928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배달도 배송도 없습니다. 손님은 가게에 직접 옵니다.</a:t>
            </a:r>
            <a:endParaRPr lang="en-US" sz="11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2453" y="717213"/>
            <a:ext cx="2813205" cy="537785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822960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상세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지금까지 가게 홍보는 순서가 거꾸로였습니다.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돈이 먼저 나가고, 손님은 나중에 옵니다. 온다는 보장도 없이.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9572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3017520" y="23957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돈이 나가는 시점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943600" y="2395728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오는 사람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2395728"/>
            <a:ext cx="27733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 확인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85800" y="2688336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761488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체험단·블로그 마케팅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3017520" y="2761488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대행비 선지불 + 무료 식사 제공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0" y="2761488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공짜로 먹으러 온 체험단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549640" y="2761488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 몇 개. 손님이 됐는지는 모름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85800" y="3328416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364992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배달앱·검색 광고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3017520" y="3364992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매달 광고비 선지불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0" y="3364992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클릭한 사람 (방문 보장 없음)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549640" y="3364992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 수. 매출 연결은 모름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85800" y="3931920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396849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전단·현수막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3017520" y="3968496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제작비 선지불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943600" y="3968496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 수 없음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8549640" y="3968496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 수 없음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85800" y="4535424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48640" y="4535424"/>
            <a:ext cx="11094415" cy="603504"/>
          </a:xfrm>
          <a:prstGeom prst="roundRect">
            <a:avLst>
              <a:gd name="adj" fmla="val 15152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85800" y="4572000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3017520" y="457200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뒤에만 수수료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5943600" y="4572000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결제까지 마친 손님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8549640" y="4572000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몇 장 팔리고 몇 명 왔는지 전부 숫자로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85800" y="5495544"/>
            <a:ext cx="10820095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1005840" y="5495544"/>
            <a:ext cx="101800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체험단은 밥을 공짜로 드리고 후기를 받습니다. </a:t>
            </a:r>
            <a:pPr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손님이 돈을 내고 옵니다. 후기는 그 다음에 따라옵니다.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홍보비가 아니라 매출입니다.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39496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유어딜에서 팔리고 있는 실제 상품 (치즈돈가스 2인 세트)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468880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621024" y="2468880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25,000원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889504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판매가 (할인율은 사장님이 정함)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621024" y="2889504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16,500원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05840" y="328269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05840" y="3310128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수수료 10%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3621024" y="3310128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−1,650원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3730752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수수료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621024" y="3730752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 (유어딜 부담)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1005840" y="4123944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05840" y="4151376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계좌에 들어오는 돈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3621024" y="4151376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14,850원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005840" y="475488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 한 팀에 나가는 무료 식사값이면, 유어딜에선 돈 내는 손님이 옵니다. 그 손님이 몇 명인지, 언제 왔는지, 얼마를 썼는지가 매장 관리 화면에 그대로 남습니다. "효과가 있었나?"를 감으로 판단할 필요가 없습니다.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46520" y="21031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2" y="2221992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7086600" y="2103120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결제가 먼저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7086600" y="2487168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후기 약속이 아니라 매출입니다. 손님이 결제를 마친 뒤에 가게에 옵니다.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6446520" y="34747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5392" y="3593592"/>
            <a:ext cx="219456" cy="219456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7086600" y="3474720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노쇼 손실 0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7086600" y="3858768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실제로 쓴 것만 정산 대상입니다. 예약이 아니라서 재료를 미리 준비할 일도 없습니다.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6446520" y="48463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4965192"/>
            <a:ext cx="219456" cy="219456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7086600" y="4846320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손해 보는 구조를 만들 수 없음</a:t>
            </a:r>
            <a:endParaRPr lang="en-US" sz="1500" dirty="0"/>
          </a:p>
        </p:txBody>
      </p:sp>
      <p:sp>
        <p:nvSpPr>
          <p:cNvPr id="32" name="Text 26"/>
          <p:cNvSpPr txBox="1"/>
          <p:nvPr/>
        </p:nvSpPr>
        <p:spPr>
          <a:xfrm>
            <a:off x="7086600" y="5230368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할인율, 수량, 유효기간 전부 사장님이 정합니다. 남는 메뉴만, 남는 만큼만 올리면 됩니다.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기대 매출과 순수익. 가정은 전부 적어 두었으니 사장님 숫자로 바꿔 보세요.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685800" y="1920240"/>
            <a:ext cx="4160520" cy="42976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60120" y="208483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한 장 (실제 상품 기준)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377440"/>
            <a:ext cx="231160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2946654" y="2377440"/>
            <a:ext cx="162534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25,000원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2752344"/>
            <a:ext cx="231160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판매가 (34% 할인)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2946654" y="2752344"/>
            <a:ext cx="162534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16,500원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960120" y="3099816"/>
            <a:ext cx="3611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60120" y="3127248"/>
            <a:ext cx="231160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10%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2946654" y="3127248"/>
            <a:ext cx="162534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−1,650원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3502152"/>
            <a:ext cx="231160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계좌 입금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2946654" y="3502152"/>
            <a:ext cx="162534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14,850원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60120" y="3849624"/>
            <a:ext cx="3611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60120" y="3877056"/>
            <a:ext cx="231160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재료비 (정가의 35% 가정)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2946654" y="3877056"/>
            <a:ext cx="162534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−8,750원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960120" y="4251960"/>
            <a:ext cx="231160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장에 남는 돈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2946654" y="4251960"/>
            <a:ext cx="162534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6,100원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960120" y="4764024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할인분 8,500원은 손님을 오게 하는 값입니다. 정가에 오던 손님이 이용권으로 갈아타면 그만큼 덜 받으니, 한가한 시간대와 남는 메뉴에 거는 것이 답입니다.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5166360" y="1920240"/>
            <a:ext cx="6339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달에 몇 장 팔리느냐에 따라 (같은 이용권)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5166360" y="2194560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하루 판매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6309360" y="219456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매출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7406640" y="219456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10%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8366760" y="2194560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계좌 입금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9509760" y="219456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재료비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10515600" y="2194560"/>
            <a:ext cx="9902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순수익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166360" y="2468880"/>
            <a:ext cx="63395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166360" y="2523744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1장 (월 30장)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6309360" y="2523744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495,000원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7406640" y="252374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49,500원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8366760" y="2523744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445,500원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9509760" y="252374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262,500원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10515600" y="2523744"/>
            <a:ext cx="990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183,000원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5166360" y="2871216"/>
            <a:ext cx="63395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074920" y="2871216"/>
            <a:ext cx="6522415" cy="384048"/>
          </a:xfrm>
          <a:prstGeom prst="rect">
            <a:avLst/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166360" y="290779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3장 (월 90장)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6309360" y="290779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1,485,000원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7406640" y="290779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148,500원</a:t>
            </a:r>
            <a:endParaRPr lang="en-US" sz="1050" dirty="0"/>
          </a:p>
        </p:txBody>
      </p:sp>
      <p:sp>
        <p:nvSpPr>
          <p:cNvPr id="42" name="Text 39"/>
          <p:cNvSpPr txBox="1"/>
          <p:nvPr/>
        </p:nvSpPr>
        <p:spPr>
          <a:xfrm>
            <a:off x="8366760" y="290779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1,336,500원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9509760" y="29077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787,500원</a:t>
            </a:r>
            <a:endParaRPr lang="en-US" sz="105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0" y="2907792"/>
            <a:ext cx="990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549,000원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5166360" y="3255264"/>
            <a:ext cx="63395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166360" y="3291840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5장 (월 150장)</a:t>
            </a:r>
            <a:endParaRPr lang="en-US" sz="1050" dirty="0"/>
          </a:p>
        </p:txBody>
      </p:sp>
      <p:sp>
        <p:nvSpPr>
          <p:cNvPr id="47" name="Text 44"/>
          <p:cNvSpPr txBox="1"/>
          <p:nvPr/>
        </p:nvSpPr>
        <p:spPr>
          <a:xfrm>
            <a:off x="6309360" y="329184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2,475,000원</a:t>
            </a:r>
            <a:endParaRPr 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7406640" y="329184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247,500원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8366760" y="3291840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2,227,500원</a:t>
            </a:r>
            <a:endParaRPr lang="en-US" sz="1050" dirty="0"/>
          </a:p>
        </p:txBody>
      </p:sp>
      <p:sp>
        <p:nvSpPr>
          <p:cNvPr id="50" name="Text 47"/>
          <p:cNvSpPr txBox="1"/>
          <p:nvPr/>
        </p:nvSpPr>
        <p:spPr>
          <a:xfrm>
            <a:off x="9509760" y="32918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1,312,500원</a:t>
            </a:r>
            <a:endParaRPr lang="en-US" sz="105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0" y="3291840"/>
            <a:ext cx="990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915,000원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5166360" y="3639312"/>
            <a:ext cx="63395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166360" y="3931920"/>
            <a:ext cx="6339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업종별 평균 판매가로 보면 (2026-09-13 판매 중인 이용권 평균, 월 30장 가정)</a:t>
            </a:r>
            <a:endParaRPr lang="en-US" sz="1000" dirty="0"/>
          </a:p>
        </p:txBody>
      </p:sp>
      <p:sp>
        <p:nvSpPr>
          <p:cNvPr id="54" name="Text 51"/>
          <p:cNvSpPr txBox="1"/>
          <p:nvPr/>
        </p:nvSpPr>
        <p:spPr>
          <a:xfrm>
            <a:off x="5166360" y="4187952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</a:t>
            </a:r>
            <a:endParaRPr lang="en-US" sz="950" dirty="0"/>
          </a:p>
        </p:txBody>
      </p:sp>
      <p:sp>
        <p:nvSpPr>
          <p:cNvPr id="55" name="Text 52"/>
          <p:cNvSpPr txBox="1"/>
          <p:nvPr/>
        </p:nvSpPr>
        <p:spPr>
          <a:xfrm>
            <a:off x="6309360" y="418795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평균 판매가</a:t>
            </a:r>
            <a:endParaRPr lang="en-US" sz="950" dirty="0"/>
          </a:p>
        </p:txBody>
      </p:sp>
      <p:sp>
        <p:nvSpPr>
          <p:cNvPr id="56" name="Text 53"/>
          <p:cNvSpPr txBox="1"/>
          <p:nvPr/>
        </p:nvSpPr>
        <p:spPr>
          <a:xfrm>
            <a:off x="7955280" y="418795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매출 (30장)</a:t>
            </a:r>
            <a:endParaRPr lang="en-US" sz="950" dirty="0"/>
          </a:p>
        </p:txBody>
      </p:sp>
      <p:sp>
        <p:nvSpPr>
          <p:cNvPr id="57" name="Text 54"/>
          <p:cNvSpPr txBox="1"/>
          <p:nvPr/>
        </p:nvSpPr>
        <p:spPr>
          <a:xfrm>
            <a:off x="9692640" y="4187952"/>
            <a:ext cx="18132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계좌 입금 (90%)</a:t>
            </a:r>
            <a:endParaRPr lang="en-US" sz="950" dirty="0"/>
          </a:p>
        </p:txBody>
      </p:sp>
      <p:sp>
        <p:nvSpPr>
          <p:cNvPr id="58" name="Shape 55"/>
          <p:cNvSpPr/>
          <p:nvPr/>
        </p:nvSpPr>
        <p:spPr>
          <a:xfrm>
            <a:off x="5166360" y="4462272"/>
            <a:ext cx="63395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5166360" y="451713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</a:t>
            </a:r>
            <a:endParaRPr lang="en-US" sz="1050" dirty="0"/>
          </a:p>
        </p:txBody>
      </p:sp>
      <p:sp>
        <p:nvSpPr>
          <p:cNvPr id="60" name="Text 57"/>
          <p:cNvSpPr txBox="1"/>
          <p:nvPr/>
        </p:nvSpPr>
        <p:spPr>
          <a:xfrm>
            <a:off x="6309360" y="451713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32,411원</a:t>
            </a:r>
            <a:endParaRPr lang="en-US" sz="1050" dirty="0"/>
          </a:p>
        </p:txBody>
      </p:sp>
      <p:sp>
        <p:nvSpPr>
          <p:cNvPr id="61" name="Text 58"/>
          <p:cNvSpPr txBox="1"/>
          <p:nvPr/>
        </p:nvSpPr>
        <p:spPr>
          <a:xfrm>
            <a:off x="7955280" y="451713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972,330원</a:t>
            </a:r>
            <a:endParaRPr lang="en-US" sz="1050" dirty="0"/>
          </a:p>
        </p:txBody>
      </p:sp>
      <p:sp>
        <p:nvSpPr>
          <p:cNvPr id="62" name="Text 59"/>
          <p:cNvSpPr txBox="1"/>
          <p:nvPr/>
        </p:nvSpPr>
        <p:spPr>
          <a:xfrm>
            <a:off x="9692640" y="4517136"/>
            <a:ext cx="1813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875,097원</a:t>
            </a:r>
            <a:endParaRPr lang="en-US" sz="1050" dirty="0"/>
          </a:p>
        </p:txBody>
      </p:sp>
      <p:sp>
        <p:nvSpPr>
          <p:cNvPr id="63" name="Shape 60"/>
          <p:cNvSpPr/>
          <p:nvPr/>
        </p:nvSpPr>
        <p:spPr>
          <a:xfrm>
            <a:off x="5166360" y="4846320"/>
            <a:ext cx="63395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166360" y="488289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뷰티</a:t>
            </a:r>
            <a:endParaRPr lang="en-US" sz="1050" dirty="0"/>
          </a:p>
        </p:txBody>
      </p:sp>
      <p:sp>
        <p:nvSpPr>
          <p:cNvPr id="65" name="Text 62"/>
          <p:cNvSpPr txBox="1"/>
          <p:nvPr/>
        </p:nvSpPr>
        <p:spPr>
          <a:xfrm>
            <a:off x="6309360" y="488289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45,253원</a:t>
            </a:r>
            <a:endParaRPr lang="en-US" sz="1050" dirty="0"/>
          </a:p>
        </p:txBody>
      </p:sp>
      <p:sp>
        <p:nvSpPr>
          <p:cNvPr id="66" name="Text 63"/>
          <p:cNvSpPr txBox="1"/>
          <p:nvPr/>
        </p:nvSpPr>
        <p:spPr>
          <a:xfrm>
            <a:off x="7955280" y="488289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1,357,590원</a:t>
            </a:r>
            <a:endParaRPr lang="en-US" sz="1050" dirty="0"/>
          </a:p>
        </p:txBody>
      </p:sp>
      <p:sp>
        <p:nvSpPr>
          <p:cNvPr id="67" name="Text 64"/>
          <p:cNvSpPr txBox="1"/>
          <p:nvPr/>
        </p:nvSpPr>
        <p:spPr>
          <a:xfrm>
            <a:off x="9692640" y="4882896"/>
            <a:ext cx="1813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1,221,831원</a:t>
            </a:r>
            <a:endParaRPr lang="en-US" sz="1050" dirty="0"/>
          </a:p>
        </p:txBody>
      </p:sp>
      <p:sp>
        <p:nvSpPr>
          <p:cNvPr id="68" name="Shape 65"/>
          <p:cNvSpPr/>
          <p:nvPr/>
        </p:nvSpPr>
        <p:spPr>
          <a:xfrm>
            <a:off x="5166360" y="5212080"/>
            <a:ext cx="63395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5166360" y="524865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숙박</a:t>
            </a:r>
            <a:endParaRPr lang="en-US" sz="1050" dirty="0"/>
          </a:p>
        </p:txBody>
      </p:sp>
      <p:sp>
        <p:nvSpPr>
          <p:cNvPr id="70" name="Text 67"/>
          <p:cNvSpPr txBox="1"/>
          <p:nvPr/>
        </p:nvSpPr>
        <p:spPr>
          <a:xfrm>
            <a:off x="6309360" y="524865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155,824원</a:t>
            </a:r>
            <a:endParaRPr lang="en-US" sz="1050" dirty="0"/>
          </a:p>
        </p:txBody>
      </p:sp>
      <p:sp>
        <p:nvSpPr>
          <p:cNvPr id="71" name="Text 68"/>
          <p:cNvSpPr txBox="1"/>
          <p:nvPr/>
        </p:nvSpPr>
        <p:spPr>
          <a:xfrm>
            <a:off x="7955280" y="524865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4,674,720원</a:t>
            </a:r>
            <a:endParaRPr lang="en-US" sz="1050" dirty="0"/>
          </a:p>
        </p:txBody>
      </p:sp>
      <p:sp>
        <p:nvSpPr>
          <p:cNvPr id="72" name="Text 69"/>
          <p:cNvSpPr txBox="1"/>
          <p:nvPr/>
        </p:nvSpPr>
        <p:spPr>
          <a:xfrm>
            <a:off x="9692640" y="5248656"/>
            <a:ext cx="1813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4,207,248원</a:t>
            </a:r>
            <a:endParaRPr lang="en-US" sz="1050" dirty="0"/>
          </a:p>
        </p:txBody>
      </p:sp>
      <p:sp>
        <p:nvSpPr>
          <p:cNvPr id="73" name="Shape 70"/>
          <p:cNvSpPr/>
          <p:nvPr/>
        </p:nvSpPr>
        <p:spPr>
          <a:xfrm>
            <a:off x="5166360" y="5577840"/>
            <a:ext cx="63395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5166360" y="5897880"/>
            <a:ext cx="6339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재료비율과 판매 장수는 가정입니다. 이용권 손님이 추가로 주문하는 음료나 사이드는 계산에 넣지 않았습니다.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올려두면 네 곳에 뜹니다. 알리는 건 저희 일입니다.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074920" cy="420624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60120" y="21488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노출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960120" y="25603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2679192"/>
            <a:ext cx="219456" cy="2194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00200" y="2578608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홈 인기 이용권과 카테고리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960120" y="3273552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" y="3392424"/>
            <a:ext cx="219456" cy="21945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00200" y="3291840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지도에서 "내 주변 이용권"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960120" y="3986784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8992" y="4105656"/>
            <a:ext cx="219456" cy="219456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00200" y="4005072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검색과 카카오톡 공유 카드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960120" y="4700016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992" y="4818888"/>
            <a:ext cx="219456" cy="21945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00200" y="4718304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콘텐츠 아래 구매 버튼</a:t>
            </a:r>
            <a:endParaRPr lang="en-US" sz="1300" dirty="0"/>
          </a:p>
        </p:txBody>
      </p:sp>
      <p:sp>
        <p:nvSpPr>
          <p:cNvPr id="20" name="Shape 13"/>
          <p:cNvSpPr/>
          <p:nvPr/>
        </p:nvSpPr>
        <p:spPr>
          <a:xfrm>
            <a:off x="960120" y="5440680"/>
            <a:ext cx="4526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960120" y="5532120"/>
            <a:ext cx="4526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콘텐츠를 만들 필요가 없습니다. 등록만 하면 노출은 유어딜이 맡습니다.</a:t>
            </a:r>
            <a:endParaRPr lang="en-US" sz="1100" dirty="0"/>
          </a:p>
        </p:txBody>
      </p:sp>
      <p:sp>
        <p:nvSpPr>
          <p:cNvPr id="22" name="Shape 15"/>
          <p:cNvSpPr/>
          <p:nvPr/>
        </p:nvSpPr>
        <p:spPr>
          <a:xfrm>
            <a:off x="6080760" y="1965960"/>
            <a:ext cx="315468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6355080" y="21945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4442" y="2303922"/>
            <a:ext cx="201900" cy="2019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6903720" y="224028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소개해 주는 사람들</a:t>
            </a:r>
            <a:endParaRPr lang="en-US" sz="1350" dirty="0"/>
          </a:p>
        </p:txBody>
      </p:sp>
      <p:sp>
        <p:nvSpPr>
          <p:cNvPr id="26" name="Text 18"/>
          <p:cNvSpPr txBox="1"/>
          <p:nvPr/>
        </p:nvSpPr>
        <p:spPr>
          <a:xfrm>
            <a:off x="6355080" y="2697480"/>
            <a:ext cx="2606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맛집, 뷰티 콘텐츠를 만드는 사람들이 이용권을 소개하면, 그 링크로 팔린 것에만 소개비가 나가는 구조도 있습니다. 이것도 팔린 뒤에만입니다.</a:t>
            </a:r>
            <a:endParaRPr lang="en-US" sz="1050" dirty="0"/>
          </a:p>
        </p:txBody>
      </p:sp>
      <p:sp>
        <p:nvSpPr>
          <p:cNvPr id="27" name="Shape 19"/>
          <p:cNvSpPr/>
          <p:nvPr/>
        </p:nvSpPr>
        <p:spPr>
          <a:xfrm>
            <a:off x="6080760" y="4160520"/>
            <a:ext cx="3154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8" name="Shape 20"/>
          <p:cNvSpPr/>
          <p:nvPr/>
        </p:nvSpPr>
        <p:spPr>
          <a:xfrm>
            <a:off x="6355080" y="438912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4442" y="4498482"/>
            <a:ext cx="201900" cy="20190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903720" y="443484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후기는 유어딜이 모읍니다</a:t>
            </a:r>
            <a:endParaRPr lang="en-US" sz="1350" dirty="0"/>
          </a:p>
        </p:txBody>
      </p:sp>
      <p:sp>
        <p:nvSpPr>
          <p:cNvPr id="31" name="Text 22"/>
          <p:cNvSpPr txBox="1"/>
          <p:nvPr/>
        </p:nvSpPr>
        <p:spPr>
          <a:xfrm>
            <a:off x="6355080" y="4892040"/>
            <a:ext cx="2606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후기를 남긴 손님에게는 유어딜이 포인트를 드립니다. 사장님 부담 없이 후기가 쌓이고, 다음 손님이 그 후기를 봅니다.</a:t>
            </a:r>
            <a:endParaRPr lang="en-US" sz="105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66853" y="717213"/>
            <a:ext cx="2813205" cy="5377855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914400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홈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사장님들이 꼭 물어보시는 것.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41832" y="21214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안 오면요? (노쇼)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41832" y="24231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쓴 이용권만 정산하니까 손실이 없습니다. 예약이 아니라서 재료를 미리 준비할 필요도 없습니다.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0" y="19659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828032" y="21214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환불해 달라고 하면요?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28032" y="24231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환불은 유어딜과 토스가 처리합니다. 사장님은 그 사이에 서지 않습니다. 이미 쓴 이용권은 환불되지 않습니다.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3375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941832" y="34930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유효기간 지난 건요?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41832" y="37947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쓴 이용권은 유어딜이 손님에게 100% 환불합니다. 사장님 계좌는 건드리지 않습니다.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72000" y="33375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828032" y="34930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장으로 두 번 쓰려고 하면요?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828032" y="37947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 은 한 번 찍히면 끝입니다. 같은 코드가 두 번 통과하지 않습니다. 확인코드는 매장에서만 알려 줍니다.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85800" y="47091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941832" y="48646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배달앱, 네이버예약이랑 같이 써도 되나요?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941832" y="51663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됩니다. 독점 요구 없고 계약 기간도 없습니다. 이용권 손님은 가게에 직접 오므로 배달 주문과 겹치지 않습니다.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0" y="47091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828032" y="48646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너무 많이 팔리면요?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828032" y="51663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수량에 상한을 두면 그만큼만 팔립니다. 손님이 오는 날 쓰는 것이라 한 날에 몰리지도 않습니다.</a:t>
            </a:r>
            <a:endParaRPr lang="en-US" sz="10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6773" y="717213"/>
            <a:ext cx="2813205" cy="5377855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850392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보는 사용 안내와 환불 조건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91440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여기서부터 이용 안내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18872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하는 일은 이게 전부입니다. 한 장에 모았습니다.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116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처음 한 번 하는 일 둘, 매일 하는 일 하나, 매주 확인하는 일 하나. 나머지는 선택입니다.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697480"/>
            <a:ext cx="1691640" cy="32918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86968" y="289864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86968" y="2898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1307592" y="2916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처음 한 번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886968" y="3355848"/>
            <a:ext cx="1289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86968" y="3941064"/>
            <a:ext cx="12893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 로그인 뒤 질문 네 개. 사업자등록증 사진 한 장. 승인은 사람이 확인합니다.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886968" y="5303520"/>
            <a:ext cx="1289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10분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86968" y="5623560"/>
            <a:ext cx="1289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9장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2523744" y="2697480"/>
            <a:ext cx="1691640" cy="32918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2724912" y="289864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24912" y="2898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3145536" y="2916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처음 한 번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2724912" y="3355848"/>
            <a:ext cx="1289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이용권 만들기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2724912" y="3941064"/>
            <a:ext cx="12893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이름, 정가, 판매가, 수량, 유효기간. 사진은 폰으로 그 자리에서.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2724912" y="5303520"/>
            <a:ext cx="1289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2724912" y="5623560"/>
            <a:ext cx="1289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10장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4361688" y="2697480"/>
            <a:ext cx="1691640" cy="3291840"/>
          </a:xfrm>
          <a:prstGeom prst="roundRect">
            <a:avLst>
              <a:gd name="adj" fmla="val 7568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562856" y="289864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562856" y="2898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4983480" y="2916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4562856" y="3355848"/>
            <a:ext cx="1289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노출과 결제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4562856" y="3941064"/>
            <a:ext cx="12893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홈, 지도, 검색, 카톡 카드에 뜨고 손님이 토스로 결제합니다. 사장님이 할 일 없음.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4562856" y="5303520"/>
            <a:ext cx="1289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0분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4562856" y="5623560"/>
            <a:ext cx="1289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6장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6199632" y="2697480"/>
            <a:ext cx="1691640" cy="32918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6400800" y="289864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400800" y="2898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6821424" y="2916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400800" y="3355848"/>
            <a:ext cx="1289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사용 처리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6400800" y="3941064"/>
            <a:ext cx="12893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오면 매장 폰으로 QR 한 번. 어려우면 확인코드 6자리.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6400800" y="5303520"/>
            <a:ext cx="1289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10초</a:t>
            </a:r>
            <a:endParaRPr lang="en-US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6400800" y="5623560"/>
            <a:ext cx="1289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11장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8037576" y="2697480"/>
            <a:ext cx="1691640" cy="32918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8238744" y="289864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38744" y="2898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43" name="Text 40"/>
          <p:cNvSpPr txBox="1"/>
          <p:nvPr/>
        </p:nvSpPr>
        <p:spPr>
          <a:xfrm>
            <a:off x="8659368" y="2916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8238744" y="3355848"/>
            <a:ext cx="1289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확인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8238744" y="3941064"/>
            <a:ext cx="12893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쓴 이용권만 매주 모아 등록 계좌로. 관리 화면에서 확인만.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8238744" y="5303520"/>
            <a:ext cx="1289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</a:t>
            </a:r>
            <a:endParaRPr lang="en-US" sz="1500" dirty="0"/>
          </a:p>
        </p:txBody>
      </p:sp>
      <p:sp>
        <p:nvSpPr>
          <p:cNvPr id="47" name="Text 44"/>
          <p:cNvSpPr txBox="1"/>
          <p:nvPr/>
        </p:nvSpPr>
        <p:spPr>
          <a:xfrm>
            <a:off x="8238744" y="5623560"/>
            <a:ext cx="1289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12장</a:t>
            </a:r>
            <a:endParaRPr lang="en-US" sz="900" dirty="0"/>
          </a:p>
        </p:txBody>
      </p:sp>
      <p:sp>
        <p:nvSpPr>
          <p:cNvPr id="48" name="Shape 45"/>
          <p:cNvSpPr/>
          <p:nvPr/>
        </p:nvSpPr>
        <p:spPr>
          <a:xfrm>
            <a:off x="9875520" y="2697480"/>
            <a:ext cx="1691640" cy="32918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10076688" y="289864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10076688" y="2898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50" dirty="0"/>
          </a:p>
        </p:txBody>
      </p:sp>
      <p:sp>
        <p:nvSpPr>
          <p:cNvPr id="51" name="Text 48"/>
          <p:cNvSpPr txBox="1"/>
          <p:nvPr/>
        </p:nvSpPr>
        <p:spPr>
          <a:xfrm>
            <a:off x="10497312" y="2916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선택</a:t>
            </a:r>
            <a:endParaRPr lang="en-US" sz="950" dirty="0"/>
          </a:p>
        </p:txBody>
      </p:sp>
      <p:sp>
        <p:nvSpPr>
          <p:cNvPr id="52" name="Text 49"/>
          <p:cNvSpPr txBox="1"/>
          <p:nvPr/>
        </p:nvSpPr>
        <p:spPr>
          <a:xfrm>
            <a:off x="10076688" y="3355848"/>
            <a:ext cx="1289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더 부르기와 위임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10076688" y="3941064"/>
            <a:ext cx="12893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파트너에게 제안, 후기 답글, 바쁘면 운영 위임.</a:t>
            </a:r>
            <a:endParaRPr lang="en-US" sz="950" dirty="0"/>
          </a:p>
        </p:txBody>
      </p:sp>
      <p:sp>
        <p:nvSpPr>
          <p:cNvPr id="54" name="Text 51"/>
          <p:cNvSpPr txBox="1"/>
          <p:nvPr/>
        </p:nvSpPr>
        <p:spPr>
          <a:xfrm>
            <a:off x="10076688" y="5623560"/>
            <a:ext cx="1289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13·14장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등록. 시작할 때 여쭤보는 건 네 가지뿐입니다.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10분이면 끝납니다. 포스 연동도, 단말기도, 직원 교육도 필요 없습니다.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53288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532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51460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 에서 카카오 로그인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282549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 가입이 없습니다.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5800" y="326440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32644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324612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카카오맵에서 내 가게 찾기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55701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검색하면 주소와 전화번호가 자동으로 채워집니다.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85800" y="399592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39959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1188720" y="39776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전화번호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428853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 안내, 사용 문의, 정산 확인 때 연락드릴 번호입니다.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85800" y="472744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4727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1188720" y="47091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사업자등록증 사진 한 장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1188720" y="502005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직접 확인하고 승인 문자를 드립니다. 사업자번호는 나중에 넣어도 됩니다.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85800" y="5486400"/>
            <a:ext cx="5440680" cy="822960"/>
          </a:xfrm>
          <a:prstGeom prst="roundRect">
            <a:avLst>
              <a:gd name="adj" fmla="val 15556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60120" y="548640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매장, 누가 운영하나요?" 에서 "내 가게에요" 를 고르면 수수료 10% 입니다. 누가 먼저 내 매장을 올려 뒀다면 urdeal.kr/store/find 에서 내 가게를 찾아 소유자 신청을 하면 됩니다.</a:t>
            </a:r>
            <a:endParaRPr lang="en-US" sz="1050" dirty="0"/>
          </a:p>
        </p:txBody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1375" y="1576495"/>
            <a:ext cx="2392539" cy="4573689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6172200" y="6089904"/>
            <a:ext cx="2710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2단계: 카카오맵에서 내 가게 찾기</a:t>
            </a:r>
            <a:endParaRPr lang="en-US" sz="1050" dirty="0"/>
          </a:p>
        </p:txBody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3665" y="1576495"/>
            <a:ext cx="2392539" cy="4573689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654490" y="6089904"/>
            <a:ext cx="2710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"누가 운영하나요" 화면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이용권. 다섯 칸만 채우면 그날부터 팔립니다.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4206240" cy="420624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60120" y="213055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채우는 것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960120" y="2468880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60120" y="2468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371600" y="24414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이름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371600" y="27432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"치즈돈가스 2인 세트" 처럼 손님이 아는 이름 그대로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960120" y="3182112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60120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371600" y="31546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371600" y="345643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평소 받는 값. 손님에게 취소선으로 함께 보입니다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60120" y="3895344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60120" y="38953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371600" y="38679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판매가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371600" y="416966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정한 할인가. 이 값의 10%가 수수료입니다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960120" y="4608576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6012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371600" y="458114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수량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371600" y="488289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하루에 받을 수 있는 만큼. 다 팔리면 자동으로 닫힙니다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960120" y="5321808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60120" y="5321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1371600" y="529437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유효기간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371600" y="559612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정하면 무기한. 지나면 안 쓴 것은 유어딜이 환불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5212080" y="1965960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 팔리는 이용권을 만드는 요령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212080" y="2286000"/>
            <a:ext cx="384048" cy="384048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1932" y="2385852"/>
            <a:ext cx="184343" cy="184343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5760720" y="22677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한가한 시간대, 남는 메뉴부터</a:t>
            </a:r>
            <a:endParaRPr lang="en-US" sz="1150" dirty="0"/>
          </a:p>
        </p:txBody>
      </p:sp>
      <p:sp>
        <p:nvSpPr>
          <p:cNvPr id="32" name="Text 28"/>
          <p:cNvSpPr txBox="1"/>
          <p:nvPr/>
        </p:nvSpPr>
        <p:spPr>
          <a:xfrm>
            <a:off x="5760720" y="256032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점심 피크에 이미 꽉 차는 메뉴보다, 비는 시간과 여유 있는 메뉴에 거는 것이 남습니다.</a:t>
            </a:r>
            <a:endParaRPr lang="en-US" sz="950" dirty="0"/>
          </a:p>
        </p:txBody>
      </p:sp>
      <p:sp>
        <p:nvSpPr>
          <p:cNvPr id="33" name="Shape 29"/>
          <p:cNvSpPr/>
          <p:nvPr/>
        </p:nvSpPr>
        <p:spPr>
          <a:xfrm>
            <a:off x="5212080" y="3246120"/>
            <a:ext cx="384048" cy="384048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1932" y="3345972"/>
            <a:ext cx="184343" cy="184343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5760720" y="32278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세트로 묶으면 한 장의 값이 커집니다</a:t>
            </a:r>
            <a:endParaRPr lang="en-US" sz="1150" dirty="0"/>
          </a:p>
        </p:txBody>
      </p:sp>
      <p:sp>
        <p:nvSpPr>
          <p:cNvPr id="36" name="Text 31"/>
          <p:cNvSpPr txBox="1"/>
          <p:nvPr/>
        </p:nvSpPr>
        <p:spPr>
          <a:xfrm>
            <a:off x="5760720" y="352044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"2인 세트", "커트+클리닉" 처럼 묶으면 손님도 고르기 쉽고 한 장당 입금도 커집니다.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5212080" y="4206240"/>
            <a:ext cx="384048" cy="384048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1932" y="4306092"/>
            <a:ext cx="184343" cy="184343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5760720" y="418795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할인은 손님이 정가와 비교해 바로 느끼는 만큼</a:t>
            </a:r>
            <a:endParaRPr lang="en-US" sz="1150" dirty="0"/>
          </a:p>
        </p:txBody>
      </p:sp>
      <p:sp>
        <p:nvSpPr>
          <p:cNvPr id="40" name="Text 34"/>
          <p:cNvSpPr txBox="1"/>
          <p:nvPr/>
        </p:nvSpPr>
        <p:spPr>
          <a:xfrm>
            <a:off x="5760720" y="448056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정가가 함께 보이므로 할인이 없으면 잘 팔리지 않습니다. 얼마로 할지는 사장님 숫자로 정하세요.</a:t>
            </a:r>
            <a:endParaRPr lang="en-US" sz="950" dirty="0"/>
          </a:p>
        </p:txBody>
      </p:sp>
      <p:sp>
        <p:nvSpPr>
          <p:cNvPr id="41" name="Shape 35"/>
          <p:cNvSpPr/>
          <p:nvPr/>
        </p:nvSpPr>
        <p:spPr>
          <a:xfrm>
            <a:off x="5212080" y="5166360"/>
            <a:ext cx="384048" cy="384048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1932" y="5266212"/>
            <a:ext cx="184343" cy="184343"/>
          </a:xfrm>
          <a:prstGeom prst="rect">
            <a:avLst/>
          </a:prstGeom>
        </p:spPr>
      </p:pic>
      <p:sp>
        <p:nvSpPr>
          <p:cNvPr id="43" name="Text 36"/>
          <p:cNvSpPr txBox="1"/>
          <p:nvPr/>
        </p:nvSpPr>
        <p:spPr>
          <a:xfrm>
            <a:off x="5760720" y="51480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사진은 폰으로 그 자리에서</a:t>
            </a:r>
            <a:endParaRPr lang="en-US" sz="1150" dirty="0"/>
          </a:p>
        </p:txBody>
      </p:sp>
      <p:sp>
        <p:nvSpPr>
          <p:cNvPr id="44" name="Text 37"/>
          <p:cNvSpPr txBox="1"/>
          <p:nvPr/>
        </p:nvSpPr>
        <p:spPr>
          <a:xfrm>
            <a:off x="5760720" y="544068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음식이든 시술 결과든 실제 사진이 스톡 사진보다 잘 팔립니다. 밝은 곳에서 한 장이면 됩니다.</a:t>
            </a:r>
            <a:endParaRPr lang="en-US" sz="950" dirty="0"/>
          </a:p>
        </p:txBody>
      </p:sp>
      <p:pic>
        <p:nvPicPr>
          <p:cNvPr id="4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66853" y="717213"/>
            <a:ext cx="2813205" cy="5377855"/>
          </a:xfrm>
          <a:prstGeom prst="rect">
            <a:avLst/>
          </a:prstGeom>
        </p:spPr>
      </p:pic>
      <p:sp>
        <p:nvSpPr>
          <p:cNvPr id="46" name="Text 38"/>
          <p:cNvSpPr txBox="1"/>
          <p:nvPr/>
        </p:nvSpPr>
        <p:spPr>
          <a:xfrm>
            <a:off x="914400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보는 결과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오면 QR 한 번. 매일 하는 일은 이것뿐입니다.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3794760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60120" y="22402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482" y="2349642"/>
            <a:ext cx="201900" cy="201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60120" y="2788920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 1. 매장 폰으로 손님 QR 찍기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960120" y="3136392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이용권 화면을 내밀면 매장 폰의 스캔 화면으로 찍습니다. 찍히는 순간 사용 완료가 되고, 같은 QR 은 다시 통과하지 않습니다. 직원 누구나 할 수 있습니다.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754880" y="1965960"/>
            <a:ext cx="3794760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029200" y="22402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8562" y="2349642"/>
            <a:ext cx="201900" cy="2019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029200" y="2788920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 2. 손님이 매장 확인코드 입력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029200" y="3136392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스캔이 어려우면 손님 폰의 이용권 화면에 매장 확인코드 6자리를 눌러 줍니다. 코드는 매장에서만 알려 주므로 집에서 미리 쓸 수 없습니다. 코드는 관리 화면에서 언제든 재발급됩니다.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685800" y="4434840"/>
            <a:ext cx="7863840" cy="1737360"/>
          </a:xfrm>
          <a:prstGeom prst="roundRect">
            <a:avLst>
              <a:gd name="adj" fmla="val 7368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960120" y="45720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조건도 사장님이 정합니다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960120" y="489204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"평일만", "점심시간 제외", "1인 1매", "방문 전 예약 필수" 처럼 매장 사정에 맞는 조건을 체크하면 손님의 이용권 화면에 그대로 표시됩니다. 조건에 안 맞게 온 손님은 사용 처리를 안 하면 됩니다. 이용권은 그대로 살아 있습니다.</a:t>
            </a:r>
            <a:endParaRPr lang="en-US" sz="105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6773" y="717213"/>
            <a:ext cx="2813205" cy="5377855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50392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QR 사용 처리 화면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정산. 손님이 쓴 뒤 매주 들어옵니다.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결제됐다고 바로가 아니라, 손님이 가게에서 실제로 쓴 이용권만 정산 대상이 됩니다. 그래서 노쇼가 손실이 되지 않습니다.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74320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2461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사용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79476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 스캔 또는 확인코드 입력. 이 순간 정산 대상이 됩니다.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168" y="2816352"/>
            <a:ext cx="219456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724912" y="274320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724912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2724912" y="32461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월요일 집계</a:t>
            </a:r>
            <a:endParaRPr lang="en-US" sz="1250" dirty="0"/>
          </a:p>
        </p:txBody>
      </p:sp>
      <p:sp>
        <p:nvSpPr>
          <p:cNvPr id="15" name="Text 11"/>
          <p:cNvSpPr txBox="1"/>
          <p:nvPr/>
        </p:nvSpPr>
        <p:spPr>
          <a:xfrm>
            <a:off x="2724912" y="379476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지난주 사용분을 모아 정산 내역을 만듭니다. 관리 화면에 바로 보입니다.</a:t>
            </a:r>
            <a:endParaRPr lang="en-US" sz="10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2816352"/>
            <a:ext cx="219456" cy="219456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764024" y="274320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4764024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4764024" y="32461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확인</a:t>
            </a:r>
            <a:endParaRPr lang="en-US" sz="1250" dirty="0"/>
          </a:p>
        </p:txBody>
      </p:sp>
      <p:sp>
        <p:nvSpPr>
          <p:cNvPr id="20" name="Text 15"/>
          <p:cNvSpPr txBox="1"/>
          <p:nvPr/>
        </p:nvSpPr>
        <p:spPr>
          <a:xfrm>
            <a:off x="4764024" y="379476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금액이 맞는지 사람이 확인합니다. 최소 정산 금액은 1만원이고, 못 미치면 다음 주로 이월됩니다.</a:t>
            </a:r>
            <a:endParaRPr lang="en-US" sz="10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2816352"/>
            <a:ext cx="219456" cy="219456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803136" y="274320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803136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6803136" y="32461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등록한 계좌로 입금</a:t>
            </a:r>
            <a:endParaRPr lang="en-US" sz="1250" dirty="0"/>
          </a:p>
        </p:txBody>
      </p:sp>
      <p:sp>
        <p:nvSpPr>
          <p:cNvPr id="25" name="Text 19"/>
          <p:cNvSpPr txBox="1"/>
          <p:nvPr/>
        </p:nvSpPr>
        <p:spPr>
          <a:xfrm>
            <a:off x="6803136" y="379476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수수료를 뺀 금액이 그대로 들어옵니다. 별도 정산 수수료는 없습니다.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685800" y="5074920"/>
            <a:ext cx="7863840" cy="1097280"/>
          </a:xfrm>
          <a:prstGeom prst="roundRect">
            <a:avLst>
              <a:gd name="adj" fmla="val 11667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960120" y="51937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화면에서 늘 보이는 것</a:t>
            </a:r>
            <a:endParaRPr lang="en-US" sz="1200" dirty="0"/>
          </a:p>
        </p:txBody>
      </p:sp>
      <p:sp>
        <p:nvSpPr>
          <p:cNvPr id="28" name="Text 22"/>
          <p:cNvSpPr txBox="1"/>
          <p:nvPr/>
        </p:nvSpPr>
        <p:spPr>
          <a:xfrm>
            <a:off x="960120" y="5486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팔린 것, 사용된 것, 입금 예정 금액, 입금된 내역. 그리고 정산 계좌는 사장님 본인만 바꿀 수 있습니다. 운영을 누구에게 맡겨도.</a:t>
            </a:r>
            <a:endParaRPr lang="en-US" sz="1050" dirty="0"/>
          </a:p>
        </p:txBody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1093" y="717213"/>
            <a:ext cx="2813205" cy="537785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877824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화면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손님을 더 부르는 두 가지. 하나는 사장님이 고르고, 하나는 자동입니다.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2011680"/>
            <a:ext cx="5120640" cy="41605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60120" y="21945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고르는 것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4688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spc="-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소개해 줄 사람에게 소개비 %를 정해 제안합니다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3063240"/>
            <a:ext cx="4572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맛집, 뷰티, 여행 콘텐츠를 만드는 사람들을 관리 화면에서 찾아 "이 이용권 팔아 주면 몇 %" 를 적어 제안합니다. 그 사람이 수락하면 전용 링크가 생기고, 그 링크로 팔린 건에만 소개비가 나갑니다.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457200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%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45720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정함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960120" y="49560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재원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3474720" y="4956048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 90% 안에서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534009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팔리면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3474720" y="5340096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5760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제안하지 않으면 아무것도 나가지 않습니다.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126480" y="2011680"/>
            <a:ext cx="2971800" cy="4160520"/>
          </a:xfrm>
          <a:prstGeom prst="roundRect">
            <a:avLst>
              <a:gd name="adj" fmla="val 430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400800" y="2194560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자동으로 되는 것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246888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spc="-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후기가 쌓이고, 답글은 사장님이</a:t>
            </a:r>
            <a:endParaRPr lang="en-US" sz="14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0" y="3063240"/>
            <a:ext cx="2423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후기를 남긴 손님에게 유어딜이 포인트를 드립니다. 사장님 부담 없이 후기가 쌓이고, 답글을 달면 다음 손님이 그 대화를 봅니다.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400800" y="4480560"/>
            <a:ext cx="24231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00800" y="4617720"/>
            <a:ext cx="2423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이용권을 바꾸고 싶으면 가격, 수량, 유효기간을 언제든 고칩니다. 잠시 쉬고 싶으면 판매를 멈추면 됩니다. 계약 기간이 없습니다.</a:t>
            </a:r>
            <a:endParaRPr lang="en-US" sz="105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1093" y="717213"/>
            <a:ext cx="2813205" cy="5377855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77824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파트너 찾기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바쁘면 맡기셔도 됩니다. 단, 통장은 아무도 못 건드립니다.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대행사나 직원에게 운영을 맡길 수 있습니다. 매장 관리 화면에서 그 사람의 유어딜 계정을 추가하면 끝이고, 언제든 회수할 수 있습니다.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56032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맡긴 사람이 할 수 있는 일 / 없는 일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85800" y="2834640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889504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등록과 가격, 수량 변경</a:t>
            </a:r>
            <a:endParaRPr lang="en-US" sz="11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953512"/>
            <a:ext cx="182880" cy="1828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858000" y="2889504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85800" y="3200400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322783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 확인과 손님 QR 사용 처리</a:t>
            </a:r>
            <a:endParaRPr lang="en-US" sz="11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3291840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58000" y="3227832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85800" y="3538728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85800" y="3566160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파트너에게 제안</a:t>
            </a:r>
            <a:endParaRPr lang="en-US" sz="11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3630168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58000" y="356616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85800" y="3877056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" y="3904488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시작 이후 매출 보기</a:t>
            </a:r>
            <a:endParaRPr lang="en-US" sz="1100" dirty="0"/>
          </a:p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3968496"/>
            <a:ext cx="182880" cy="18288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58000" y="390448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685800" y="4215384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85800" y="4242816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계좌 변경</a:t>
            </a:r>
            <a:endParaRPr lang="en-US" sz="11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4306824"/>
            <a:ext cx="182880" cy="1828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58000" y="4242816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685800" y="4553712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9" name="Text 21"/>
          <p:cNvSpPr txBox="1"/>
          <p:nvPr/>
        </p:nvSpPr>
        <p:spPr>
          <a:xfrm>
            <a:off x="685800" y="4581144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 정보 수정</a:t>
            </a:r>
            <a:endParaRPr lang="en-US" sz="1100" dirty="0"/>
          </a:p>
        </p:txBody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9400" y="4645152"/>
            <a:ext cx="182880" cy="18288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58000" y="4581144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1100" dirty="0"/>
          </a:p>
        </p:txBody>
      </p:sp>
      <p:sp>
        <p:nvSpPr>
          <p:cNvPr id="32" name="Shape 23"/>
          <p:cNvSpPr/>
          <p:nvPr/>
        </p:nvSpPr>
        <p:spPr>
          <a:xfrm>
            <a:off x="685800" y="4892040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685800" y="491947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운영자 추가와 회수</a:t>
            </a:r>
            <a:endParaRPr lang="en-US" sz="1100" dirty="0"/>
          </a:p>
        </p:txBody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9400" y="4983480"/>
            <a:ext cx="182880" cy="182880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58000" y="4919472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1100" dirty="0"/>
          </a:p>
        </p:txBody>
      </p:sp>
      <p:sp>
        <p:nvSpPr>
          <p:cNvPr id="36" name="Shape 26"/>
          <p:cNvSpPr/>
          <p:nvPr/>
        </p:nvSpPr>
        <p:spPr>
          <a:xfrm>
            <a:off x="685800" y="5230368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685800" y="5257800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탈퇴</a:t>
            </a:r>
            <a:endParaRPr lang="en-US" sz="1100" dirty="0"/>
          </a:p>
        </p:txBody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29400" y="5321808"/>
            <a:ext cx="182880" cy="182880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58000" y="525780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1100" dirty="0"/>
          </a:p>
        </p:txBody>
      </p:sp>
      <p:sp>
        <p:nvSpPr>
          <p:cNvPr id="40" name="Shape 29"/>
          <p:cNvSpPr/>
          <p:nvPr/>
        </p:nvSpPr>
        <p:spPr>
          <a:xfrm>
            <a:off x="685800" y="5568696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1" name="Text 30"/>
          <p:cNvSpPr txBox="1"/>
          <p:nvPr/>
        </p:nvSpPr>
        <p:spPr>
          <a:xfrm>
            <a:off x="685800" y="56692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맡긴 사람에게는 계좌 끝 4자리와 등록번호 끝 4자리, 대표자명 첫 글자만 보입니다. 회수하면 그 사람이 등록한 이용권과 주문 기록은 매장에 그대로 남습니다. 대행사를 통해 등록한 매장의 수수료는 5%입니다.</a:t>
            </a:r>
            <a:endParaRPr lang="en-US" sz="1000" dirty="0"/>
          </a:p>
        </p:txBody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26773" y="717213"/>
            <a:ext cx="2813205" cy="5377855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850392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 관리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질문들.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41832" y="21214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할인율에 최소가 있나요?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41832" y="24231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없습니다. 할인율, 수량, 유효기간 전부 사장님이 정합니다. 다만 손님이 정가와 나란히 보므로 할인이 없으면 잘 팔리지 않습니다.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0" y="19659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828032" y="21214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간이과세자도 되나요?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28032" y="24231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사업자등록증이 있으면 됩니다. 과세 유형은 등록 조건이 아닙니다. 사업자번호는 나중에 넣어도 됩니다.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3375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941832" y="34930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세금계산서는요?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41832" y="37947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수수료에 대한 세금계산서는 유어딜이 초안을 만들어 보내고 사장님은 확인만 하는 방식을 준비하고 있습니다. 시행 전까지는 담당자가 안내합니다.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72000" y="33375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828032" y="34930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승인은 얼마나 걸리나요?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828032" y="37947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 등록증을 직접 확인하므로 즉시는 아닙니다. 확인이 끝나면 등록한 담당자 번호로 알려 드리고, 확인이 더 필요하면 전화드립니다.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85800" y="47091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941832" y="48646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손님이 다른 것도 시키면요?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941832" y="51663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그건 평소처럼 매장에서 결제받으면 됩니다. 유어딜은 이용권에 적힌 것만 정산하고, 추가 주문에는 수수료가 없습니다.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0" y="47091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828032" y="48646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그만두고 싶으면요?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828032" y="51663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판매를 멈추면 끝입니다. 계약 기간도 위약금도 없습니다. 이미 팔린 이용권은 유효기간까지 받아 주시면 됩니다.</a:t>
            </a:r>
            <a:endParaRPr lang="en-US" sz="10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6773" y="717213"/>
            <a:ext cx="2813205" cy="5377855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850392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 화면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일단 메뉴 하나만 올려보세요.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6949440" cy="1554480"/>
          </a:xfrm>
          <a:prstGeom prst="roundRect">
            <a:avLst>
              <a:gd name="adj" fmla="val 8235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196596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가입비도 없고, 계약 기간도 없고, 안 팔리면 나가는 돈도 없습니다. 제일 자신 있는 메뉴 하나로 시작해서, 맞는다 싶으면 늘리고 아니면 내리면 됩니다. 시작이 어려우시면 카카오톡으로 "등록 도와주세요" 한 마디만 남겨 주세요. 사람이 답합니다.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84048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시작하는 방법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85800" y="416052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4160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41422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 로그인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3520440" y="41422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 에서 카카오로 로그인합니다. 별도 가입이 없습니다.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85800" y="4782312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4782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47640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 (10분)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47640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urdeal.kr/store/new 에서 질문 네 개에 답합니다.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85800" y="5404104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5404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538581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이용권 올리기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3520440" y="538581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 문자를 받으면 메뉴 하나를 올립니다. 그날부터 팔립니다.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229600" y="1965960"/>
            <a:ext cx="3276295" cy="4023360"/>
          </a:xfrm>
          <a:prstGeom prst="roundRect">
            <a:avLst>
              <a:gd name="adj" fmla="val 3907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49640" y="224028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문의</a:t>
            </a:r>
            <a:endParaRPr lang="en-US" sz="110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2734056"/>
            <a:ext cx="237744" cy="23774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915400" y="269748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urdeal.kr/store/new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8915400" y="300837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</a:t>
            </a:r>
            <a:endParaRPr lang="en-US" sz="95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3511296"/>
            <a:ext cx="237744" cy="237744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915400" y="347472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pf.kakao.com/_AITdn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8915400" y="378561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카카오톡 채널 상담</a:t>
            </a:r>
            <a:endParaRPr lang="en-US" sz="95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4288536"/>
            <a:ext cx="237744" cy="237744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915400" y="425196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jiwon@ur-team.com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8915400" y="456285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en-US" sz="950" dirty="0"/>
          </a:p>
        </p:txBody>
      </p:sp>
      <p:sp>
        <p:nvSpPr>
          <p:cNvPr id="32" name="Text 26"/>
          <p:cNvSpPr txBox="1"/>
          <p:nvPr/>
        </p:nvSpPr>
        <p:spPr>
          <a:xfrm>
            <a:off x="8549640" y="54864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 · 사업자등록번호 479-09-02930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 title(slide, text, { dark = false, y = 1.15, size = 27, w = W - 2 * M } = {}) {
    T(slide, text, { x: M, y, w, h: 0.9, fontSize: size, bold: true, color: dark ? C.darkText : C.ink, valign: 'top', lineSpacingMultiple: 1.15, charSpacing: -0.6 });
  }</dc:title>
  <dc:subject>PptxGenJS Presentation</dc:subject>
  <dc:creator>리스터코퍼레이션</dc:creator>
  <cp:lastModifiedBy>리스터코퍼레이션</cp:lastModifiedBy>
  <cp:revision>1</cp:revision>
  <dcterms:created xsi:type="dcterms:W3CDTF">2026-09-14T07:33:11Z</dcterms:created>
  <dcterms:modified xsi:type="dcterms:W3CDTF">2026-09-14T07:33:11Z</dcterms:modified>
</cp:coreProperties>
</file>