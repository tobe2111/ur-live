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딜 소개비: 매장 제안 %, 상한 없음, 매장 부담(actor-benefit-map Q2-1). 유어딜 5%: 중개(brokered) 채널 fee-resolver.ts. 영입 2% 는 2026-09-19 대표 지시로 폐지 — 덱에서 제거. 화면: 유어쇼츠 /videos?v=jHPacJoCEt8 (라이브, 이용권 붙은 영상 · 재생 자리는 이 환경에서 유튜브가 막혀 어둡게 대체).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유어샵 자동 생성: KakaoAuthService.upsertUser (가입 시 handle 발급). 만료 환불: auto-settlement.ts handleExpiredVoucherRefunds. 귀속: affiliate 링크 추적.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 4장: home / detail (라이브) · voucher-wallet / voucher-qr (/my-vouchers, 예시 데이터로 렌더한 실제 화면). 2026-09-19: 4번째가 유어샵이던 것을 실제 QR 사용 화면으로 교체(대표 지적).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09-15 참고 덱 "이런 브랜드에게 추천합니다" 장치. 사실: 결제 기준 커미션(order-commissions.ts) · 팔로워 하한 없음 · 중개 채널 5%(fee-resolver.ts store_channel=brokered). 영입 2% 문구 제거(09-19).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10% / 중개 5%: fee-resolver.ts. 카드 수수료(약 2.75%)는 이 덱에서 말하지 않는다(09-19 대표). 소개비 %: 협업 코드 기본값(store-codes.ts) + 딜별 조정(collab-codes.ts PATCH), 상한 = influencer_pct_cap — PR #1499. 영입 2% 제거(09-19).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09-19 확정 플로우 — PR #1499 구현: 협업 코드(기본 % · 승인 옵션) → /i/join/:code 또는 마이페이지 입력 → seller_influencer_deals 활성 · 매장 링크 /s/{id}?ref= · 두 요율(broker_share_pct · influencer_pct_cap)은 매장 등록 때 · 중개사 몫 적립 broker-share.ts 는 게이트 broker_share_enabled OFF(S-BROKER 뒤 대표가 켠다). 영입 2% 열은 09-19 폐지.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셈법은 라이브 식사 이용권 **평균 판매가**(FACTS.avgNums.meal = 32,521원, 2026-10-12 D1 실측 — 활성 voucher 4종의 판매가 평균)에 걸었다. 42건·12% 는 대표 승인본 그대로이고 금액은 코드가 계산한다(42×32,521=1,365,882 · ×12%=163,906). 🩸 종전엔 상품 2888(치즈돈가스 16,500원) 시나리오였는데 그 상품이 is_active=0 이 되어 **없는 상품으로 돈을 세고 있었다** — 시나리오가 묻는 것은 건수이지 상품이 아니므로 평균으로 옮겼다(평균은 내려가지 않는다). 원천징수(tax-withholding.ts 3.3/8.8)는 "차감 별도" 한 줄만(09-19 대표). ✅ 오른쪽 네 번째 점의 "이용권을 사용한 뒤 정산" 은 2026-10-12 실측에서 **코드와 일치한다** — payout_requires_voucher_use=true 가 라이브이고 cron/influencer-payout.ts 의 성숙 게이트가 그것이다(종전 노트의 "코드와 문구가 다르므로 대표 확인 필요" 는 해소됐다. 무기한 이용권은 천장 payout_unused_max_wait_days 기본 180일로 풀린다).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09-15 참고 덱 "콘텐츠 기반 바이럴 루프" 장치. 각 노드는 현행 기능: 링크 귀속(affiliate) · QR 사용(group-buy-voucher) · 만료 환불(auto-settlement) · 지급(influencer-payout) · 소개자 프로필 공개(/influencer/settlement). "돌수록 커진다"는 구조 설명이지 성과 약속이 아니다. 영입 2% 문구 제거(09-19).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09-19 대표 확정 플로우 7·8·9 단계 — PR #1499 구현: /i/join/:code(미리보기 → 카카오 로그인 → 자동 입력) · /influencer/settlement 코드 입력(DealsAndCodesSection) · 매장 링크 /s/{id}?ref=(7일 귀속) + 복사·공유. 이 장은 아직 카드 — 배포 후 /i/join 과 마이페이지를 캡처해 교체할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09-19 대표 확정 플로우 2·4·5 단계 — PR #1499 구현: StoreRegisterModal 두 요율(중개사 몫 0~50 · 인플루언서 상한 0~50 · 합 ≤ 90) + owner_claim 코드 자동 발급 · /store/find?code= 로 사장님이 찾아 신청(등록증·어드민 승인 그대로) · 대행사 =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유어샵: CuratorPage /u/:handle (핀). 유어쇼츠: /videos?v=jHPacJoCEt8 (urshorts.routes — 이용권 붙은 라이브 영상 · 크리에이터 몫 0). 인출선 좌표는 ushop.jpg(프로필 9% · 첫 카드 48% · 아래 카드 80%) · shorts.jpg(구매 바 93%) 실측. 09-19: 두 화면 나란히 + 주소 문자열(urdeal.kr/u/…) 제거(대표).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로고: react-icons/si (SiNaver 03C75A · SiYoutube FF0000 · SiInstagram E4405F) — 각 브랜드 고유색. 유어쇼츠는 서비스 아이콘. 전용 링크: influencer-deals 수락 시 발급. 채널별 안내는 사용법이지 성과 약속이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influencer-payout.ts: 매월 1일 18시 KST 집계, 현금 최소 influencer_payout_min(기본 100,000), 딜 수령은 하한 없음, 실제 지급은 어드민 /admin/influencer-payouts (사람). ⚠️ 확정 시점: 코드는 결제+7일(available_at) — 대표 지시(09-19)로 "이용권 사용 후" 라고 적었다. 원천징수 문단은 뺐다(대표).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09-14: 정직 고지 블록 제거(대표). FAQ 6 개를 크게. 09-19: 제목·"영입비" 문구 교체.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09-15 참고 덱 "광고 집행 절차" 장치. 09-19 v4: 두 경로를 대표 확정 플로우(코드 링크 · 매장 코드 · 두 요율)로 — PR #1499 구현. 사실: influencer-payout.ts(매월 1일 · 10만원 · 딜 하한 없음 · 이월).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09-19: creators/apply 문자열과 신청 폼 캡처 제거(대표 — "링크 이상한 형태로 남기지 마"). 연락처는 https:// 전체 주소 + hyperlink. 가입 화면 캡처는 자격 선택 UI 가 생긴 뒤에 다시 찍는다(현재 /seller/register/supplier 는 사업자 정보 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urdeal.kr" TargetMode="External"/><Relationship Id="rId5" Type="http://schemas.openxmlformats.org/officeDocument/2006/relationships/hyperlink" Target="https://pf.kakao.com/_AITdn" TargetMode="External"/><Relationship Id="rId7" Type="http://schemas.openxmlformats.org/officeDocument/2006/relationships/hyperlink" Target="mailto:jiwon@ur-team.com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4" Type="http://schemas.openxmlformats.org/officeDocument/2006/relationships/image" Target="../media/image-20-3.png"/><Relationship Id="rId6" Type="http://schemas.openxmlformats.org/officeDocument/2006/relationships/image" Target="../media/image-20-4.png"/><Relationship Id="rId8" Type="http://schemas.openxmlformats.org/officeDocument/2006/relationships/image" Target="../media/image-20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673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우리동네 이용권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240280"/>
            <a:ext cx="5120640" cy="12865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9383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제휴 소개서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4869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체험단의 시대는 끝. 제품 공동구매처럼, 맛집, 숙소권, 네일샵 이용권을 공동구매하는 시대입니다.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800" y="5989320"/>
            <a:ext cx="10820095" cy="0"/>
          </a:xfrm>
          <a:prstGeom prst="line">
            <a:avLst/>
          </a:prstGeom>
          <a:noFill/>
          <a:ln w="9525">
            <a:solidFill>
              <a:srgbClr val="3A3D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6108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리스터코퍼레이션 · 사업자등록번호 479-09-02930 · urdeal.kr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6108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9월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3276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문서의 내용을 무단으로 복제·전재·재배포할 수 없습니다.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234440"/>
            <a:ext cx="6766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spc="-15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팔로워들에게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spc="-15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할인된 이용권을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spc="-15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제공하세요.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840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동네에서 진짜 쓰는 이용권을 팔로워에게 건넵니다. 매장이 정한 소개비 %가 내 링크로 팔린 건마다 쌓입니다. 재고도 배송도 응대도 내 몫이 아닙니다.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709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12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매장이 정한 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3035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판매 소개비.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판매가 기준, 협업 코드에 실린 값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4709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2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53035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수수료.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중개사 계정으로 등록한 매장 기준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166360" y="4709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2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53035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가입비, 이용료,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내는 비용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122" y="747042"/>
            <a:ext cx="2997247" cy="572967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01000" y="5019142"/>
            <a:ext cx="3242691" cy="274320"/>
          </a:xfrm>
          <a:prstGeom prst="roundRect">
            <a:avLst>
              <a:gd name="adj" fmla="val 50000"/>
            </a:avLst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  <a:effectLst>
            <a:outerShdw sx="100000" sy="100000" kx="0" ky="0" algn="bl" rotWithShape="0" blurRad="76200" dist="25400" dir="5400000">
              <a:srgbClr val="16181C">
                <a:alpha val="2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001000" y="5019142"/>
            <a:ext cx="32426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아래에서 바로 결제, 매칭된 매장이면 소개비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6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유어딜로 수익 창출 방법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공동구매만? 이젠 맛집, 숙박권, 네일샵 이용권 공동구매. 이용권 판매 당 나도 수익을 얻으세요.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114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11480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이용권, 유어샵, 내 링크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462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46227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팔로워가 이용권을 구매하기까지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8097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4809744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채널에 맞습니다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유어딜로 수익 창출 방법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공동구매만? 이젠 맛집, 숙박권, 네일샵 이용권 공동구매!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유어딜은 식당, 카페, 뷰티, 숙박 이용권을 온라인 할인가로 파는 로컬 커머스입니다.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손님은 미리 사고, 가게에 가서 QR 로 씁니다. 택배가 오가지 않으니 품절도 오배송도 반품도 없습니다.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78892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62" y="2898282"/>
            <a:ext cx="201900" cy="201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788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식사, 뷰티, 숙박, 액티비티. 할인가와 유효기간은 매장이 정합니다. 유효기간이 지나도 안 쓴 이용권은 유어딜이 손님에게 100% 환불합니다.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85800" y="3685032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62" y="3794394"/>
            <a:ext cx="201900" cy="201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6850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가입하면 누구나 유어샵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400507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수익이 될 이용권들 모음집 링크, 즉 나의 이용권 쇼핑몰 링크가 생깁니다. 프로필 링크에 해당 링크만 걸고 유입시키세요.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5800" y="4581144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62" y="4690506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5811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하는 일은 링크 하나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490118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스토리, 릴스, 카톡, 더보기, 블로그 어디든 됩니다. 귀속은 링크로 자동 추적되니 쿠폰 코드를 불러 줄 일이 없습니다.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85800" y="5477256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162" y="5586618"/>
            <a:ext cx="201900" cy="2019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547725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결제, 발급, 정산, 세금은 유어딜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280160" y="579729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토스 결제, 이용권 발급, 매장 QR 확인, 원천징수까지 유어딜이 합니다. 매장에 돈을 달라고 할 일이 없습니다.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5642" y="847562"/>
            <a:ext cx="2892080" cy="552863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229600" y="6272784"/>
            <a:ext cx="3124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상세 (라이브 화면)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유어딜로 수익 창출 방법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팔로워가 이용권을 구매하기까지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결제 후 사용까지에 대한 프로세스입니다.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177211" y="226771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77211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50" y="2693890"/>
            <a:ext cx="1630082" cy="31161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0040" y="5815584"/>
            <a:ext cx="2080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찾기: 홈에서 동네 이용권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34382" y="226771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334382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221" y="2693890"/>
            <a:ext cx="1630082" cy="31161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77211" y="5815584"/>
            <a:ext cx="2080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결제: 정가와 할인가를 함께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491553" y="226771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491553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392" y="2693890"/>
            <a:ext cx="1630082" cy="31161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34382" y="5815584"/>
            <a:ext cx="2080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발급: 결제 즉시 내 이용권 지갑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10648724" y="226771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0648724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6564" y="2693890"/>
            <a:ext cx="1630082" cy="31161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791554" y="5815584"/>
            <a:ext cx="2080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사용: 매장에서 QR 제시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유어딜로 수익 창출 방법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채널에 맞습니다. 팔로워 수보다 동네와 주제가 먼저입니다.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조회수와 좋아요는 세지 않고 결제만 셉니다. 그래서 큰 채널보다 지역과 카테고리가 뚜렷한 채널이 잘 맞습니다.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377440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2569464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68833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3774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 맛집 블로거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3566160" y="2523744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rot="16200000">
            <a:off x="3438144" y="2706624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767328" y="25237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"음식, 이용권 체험만 하고 수익 창출을 하기 어려워요."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578608"/>
            <a:ext cx="155448" cy="1554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33488" y="2523744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 안 링크로 팔린 건마다 소개비. 글은 유효기간 내내 팝니다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852928"/>
            <a:ext cx="155448" cy="1554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33488" y="2798064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팔로워 하한 없음. 지역과 메뉴가 뚜렷할수록 맞습니다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85800" y="3346704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60120" y="3538728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3657600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54480" y="334670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유튜버 · 쇼츠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3566160" y="3493008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 rot="16200000">
            <a:off x="3438144" y="3675888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3767328" y="3493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"우리 팔로워들에게 혜택을 많이 주고 싶어요."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547872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33488" y="3493008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설명란 링크 하나로 할인 이용권 여러 개를 함께 건넵니다</a:t>
            </a:r>
            <a:endParaRPr lang="en-US" sz="10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3822192"/>
            <a:ext cx="155448" cy="15544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333488" y="3767328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영상이 내려가도 유어샵에서는 계속 팔립니다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85800" y="4315968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960120" y="4507992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2" y="4626864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554480" y="431596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팔로워가 적은 인스타</a:t>
            </a:r>
            <a:endParaRPr lang="en-US" sz="1350" dirty="0"/>
          </a:p>
        </p:txBody>
      </p:sp>
      <p:sp>
        <p:nvSpPr>
          <p:cNvPr id="34" name="Shape 24"/>
          <p:cNvSpPr/>
          <p:nvPr/>
        </p:nvSpPr>
        <p:spPr>
          <a:xfrm>
            <a:off x="3566160" y="4462272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 rot="16200000">
            <a:off x="3438144" y="4645152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3767328" y="4462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"천 명도 안 되는데 될까요?"</a:t>
            </a:r>
            <a:endParaRPr lang="en-US" sz="11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4517136"/>
            <a:ext cx="155448" cy="15544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333488" y="4462272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됩니다. 동네 손님 열 명이 결제하면 그게 소개비입니다</a:t>
            </a:r>
            <a:endParaRPr lang="en-US" sz="105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4791456"/>
            <a:ext cx="155448" cy="15544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333488" y="4736592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 링크는 유어샵 하나면 됩니다</a:t>
            </a:r>
            <a:endParaRPr lang="en-US" sz="1050" dirty="0"/>
          </a:p>
        </p:txBody>
      </p:sp>
      <p:sp>
        <p:nvSpPr>
          <p:cNvPr id="41" name="Shape 29"/>
          <p:cNvSpPr/>
          <p:nvPr/>
        </p:nvSpPr>
        <p:spPr>
          <a:xfrm>
            <a:off x="685800" y="5285232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960120" y="5477256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8992" y="5596128"/>
            <a:ext cx="219456" cy="219456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554480" y="528523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아는 사장님이 있는 사람</a:t>
            </a:r>
            <a:endParaRPr lang="en-US" sz="1350" dirty="0"/>
          </a:p>
        </p:txBody>
      </p:sp>
      <p:sp>
        <p:nvSpPr>
          <p:cNvPr id="45" name="Shape 32"/>
          <p:cNvSpPr/>
          <p:nvPr/>
        </p:nvSpPr>
        <p:spPr>
          <a:xfrm>
            <a:off x="3566160" y="5431536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 rot="16200000">
            <a:off x="3438144" y="5614416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34"/>
          <p:cNvSpPr txBox="1"/>
          <p:nvPr/>
        </p:nvSpPr>
        <p:spPr>
          <a:xfrm>
            <a:off x="3767328" y="54315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"단골 가게 사장님을 소개해 드릴 수 있어요."</a:t>
            </a:r>
            <a:endParaRPr lang="en-US" sz="110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600" y="5486400"/>
            <a:ext cx="155448" cy="155448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333488" y="5431536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중개사 계정으로 매장을 등록하면 유어딜 수수료는 5% 입니다</a:t>
            </a:r>
            <a:endParaRPr lang="en-US" sz="105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6600" y="5760720"/>
            <a:ext cx="155448" cy="155448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7333488" y="5705856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중개사 몫 %와 인플루언서 상한 %는 등록 때 정하고, 사장님은 매장 코드로 가입해 주인이 됩니다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6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정산 프로세스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낸 돈이 갈리는 그림, 내 몫이 붙는 자리, 실제 이용권으로 넣은 계산, 그리고 왜 쌓이는지.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114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11480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돈의 흐름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462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46227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두 갈래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8097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4809744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계산해 보면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51572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5157216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쌓이는 플라이휠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유어딜 정산 프로세스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낸 돈은 이렇게 갈립니다. 내 몫은 사장님 몫 안에서 나옵니다.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사장님과 대행사에게 보여드리는 그림과 같은 그림입니다. 숫자를 숨기지 않습니다.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37744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580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결제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624328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54680" y="237744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15468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15468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2624328"/>
            <a:ext cx="219456" cy="21945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23560" y="237744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62356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-3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62356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95%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2624328"/>
            <a:ext cx="219456" cy="21945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092440" y="237744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809244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09244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판매가 × 소개비 %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160520" y="3090672"/>
            <a:ext cx="0" cy="292608"/>
          </a:xfrm>
          <a:prstGeom prst="line">
            <a:avLst/>
          </a:prstGeom>
          <a:noFill/>
          <a:ln w="9525">
            <a:solidFill>
              <a:srgbClr val="8A8580"/>
            </a:solidFill>
            <a:prstDash val="solid"/>
            <a:tailEnd type="triangle"/>
          </a:ln>
        </p:spPr>
      </p:sp>
      <p:sp>
        <p:nvSpPr>
          <p:cNvPr id="24" name="Text 18"/>
          <p:cNvSpPr txBox="1"/>
          <p:nvPr/>
        </p:nvSpPr>
        <p:spPr>
          <a:xfrm>
            <a:off x="3154680" y="3474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5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3063240" y="3803904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중개사 계정으로 등록한 매장.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직접 등록한 매장은 10%.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팔린 만큼만, 가입비와 월 이용료 없음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629400" y="3090672"/>
            <a:ext cx="0" cy="292608"/>
          </a:xfrm>
          <a:prstGeom prst="line">
            <a:avLst/>
          </a:prstGeom>
          <a:noFill/>
          <a:ln w="9525">
            <a:solidFill>
              <a:srgbClr val="8A8580"/>
            </a:solidFill>
            <a:prstDash val="solid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5623560" y="3474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5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95%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532120" y="3803904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몫.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소개비는 이 안에서 냅니다.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나가는 광고비가 없습니다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9098280" y="3090672"/>
            <a:ext cx="0" cy="292608"/>
          </a:xfrm>
          <a:prstGeom prst="line">
            <a:avLst/>
          </a:prstGeom>
          <a:noFill/>
          <a:ln w="9525">
            <a:solidFill>
              <a:srgbClr val="8A8580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7982712" y="3401568"/>
            <a:ext cx="2231136" cy="1389888"/>
          </a:xfrm>
          <a:prstGeom prst="roundRect">
            <a:avLst>
              <a:gd name="adj" fmla="val 9211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092440" y="3474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5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소개비 %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8001000" y="3803904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코드에 실린 비율.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매장 링크로 팔린 건마다,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대신 정산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85800" y="4892040"/>
            <a:ext cx="527288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914400" y="5020056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소개비는 매장이 냅니다</a:t>
            </a:r>
            <a:endParaRPr lang="en-US" sz="1150" dirty="0"/>
          </a:p>
        </p:txBody>
      </p:sp>
      <p:sp>
        <p:nvSpPr>
          <p:cNvPr id="35" name="Text 29"/>
          <p:cNvSpPr txBox="1"/>
          <p:nvPr/>
        </p:nvSpPr>
        <p:spPr>
          <a:xfrm>
            <a:off x="914400" y="5294376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플랫폼이 정한 고정 요율이 아닙니다. 협업 코드에 실린 비율이 그대로 적립되고, 매장과 조정하면 이후 판매분부터 바뀝니다. 유어딜이 중간에서 깎지 않습니다.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6233008" y="4892040"/>
            <a:ext cx="527288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37" name="Text 31"/>
          <p:cNvSpPr txBox="1"/>
          <p:nvPr/>
        </p:nvSpPr>
        <p:spPr>
          <a:xfrm>
            <a:off x="6461608" y="5020056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정산은 유어딜이 합니다</a:t>
            </a:r>
            <a:endParaRPr lang="en-US" sz="1150" dirty="0"/>
          </a:p>
        </p:txBody>
      </p:sp>
      <p:sp>
        <p:nvSpPr>
          <p:cNvPr id="38" name="Text 32"/>
          <p:cNvSpPr txBox="1"/>
          <p:nvPr/>
        </p:nvSpPr>
        <p:spPr>
          <a:xfrm>
            <a:off x="6461608" y="5294376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매장에 돈을 달라고 할 일이 없습니다. 팔로워가 이용권을 쓰면 내 정산 화면에 확정 금액이 쌓이고, 유어딜이 등록 계좌로 보냅니다.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유어딜 정산 프로세스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수익은 두 갈래입니다. 둘 다 내 링크로 팔린 뒤에만 붙습니다.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5250028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24028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82" y="2349642"/>
            <a:ext cx="201900" cy="201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240280"/>
            <a:ext cx="4152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4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매칭된 매장의 이용권 소개비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2514600"/>
            <a:ext cx="4152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금액 × 협업 코드의 %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2898648"/>
            <a:ext cx="47013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대행사(중개사)가 보낸 링크를 탭하면 가입과 동시에 매장과 매칭됩니다. 마이페이지에 생기는 매장 링크로 팔린 건마다 코드에 실린 소개비 %가 쌓입니다. %는 매장과 조정할 수 있고, 유어딜이 떼지 않습니다. 이용권이 바뀌어도 링크는 그대로입니다.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960120" y="3749040"/>
            <a:ext cx="300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재원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3545883" y="3749040"/>
            <a:ext cx="2115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몫 안에서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4059936"/>
            <a:ext cx="300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3545883" y="4059936"/>
            <a:ext cx="2115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기본 %, 딜마다 조정 가능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4370832"/>
            <a:ext cx="300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매칭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3545883" y="4370832"/>
            <a:ext cx="2115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한 탭, 또는 코드 입력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55868" y="1965960"/>
            <a:ext cx="5250028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30188" y="224028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550" y="2349642"/>
            <a:ext cx="201900" cy="201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24548" y="2240280"/>
            <a:ext cx="4152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4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섭외한 매장의 이용권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7124548" y="2514600"/>
            <a:ext cx="4152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매장 판매가 × 등록 때 정한 중개사 몫 %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530188" y="2898648"/>
            <a:ext cx="47013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중개사 계정으로 아는 가게를 등록하면 매장 코드가 생기고, 그때 중개사 몫 %와 인플루언서 상한 %를 정합니다. 사장님은 그 코드로 가입해 주인이 되고 나는 운영자로 남습니다. 팔린 건마다 중개사 몫이 쌓여 유어딜이 직접 보냅니다.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6530188" y="3749040"/>
            <a:ext cx="300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수수료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9115951" y="3749040"/>
            <a:ext cx="2115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 (직접 등록은 10%)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530188" y="4059936"/>
            <a:ext cx="300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중개사 몫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9115951" y="4059936"/>
            <a:ext cx="2115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때 정한 %, 유어딜이 송금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530188" y="4370832"/>
            <a:ext cx="300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9115951" y="4370832"/>
            <a:ext cx="2115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셀러 대시보드 중개사 계정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85800" y="4983480"/>
            <a:ext cx="10820095" cy="1051560"/>
          </a:xfrm>
          <a:prstGeom prst="roundRect">
            <a:avLst>
              <a:gd name="adj" fmla="val 12174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60120" y="512064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매장과 매출을 함께 높여갑니다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960120" y="5413248"/>
            <a:ext cx="10271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팔로워들이 매장 사장님들에게 수익을 가져다줄 수 있도록 힘써주세요. 팔린 만큼 사장님도 나도 버는 구조라, 실적이 보이는 사람에게 대행사는 다음 매장의 링크를 먼저 보냅니다.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유어딜 정산 프로세스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인플루언서가 영향력으로 유어딜에서 수익을 얻을 때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539496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005840" y="21488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가정: 식사 이용권을 한 달에 42건 팔았다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468880"/>
            <a:ext cx="304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판매가 (라이브 식사 이용권 평균)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621024" y="24688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32,521원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862072"/>
            <a:ext cx="304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42건 판매 금액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621024" y="286207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1,365,882원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05840" y="3227832"/>
            <a:ext cx="4754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3255264"/>
            <a:ext cx="304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코드의 소개비 12%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621024" y="3255264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 12%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05840" y="3621024"/>
            <a:ext cx="4754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3648456"/>
            <a:ext cx="304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수익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3621024" y="3648456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163,906원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05840" y="4224528"/>
            <a:ext cx="4754880" cy="1051560"/>
          </a:xfrm>
          <a:prstGeom prst="roundRect">
            <a:avLst>
              <a:gd name="adj" fmla="val 12174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80160" y="43342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163,906원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48097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달 내 소개비. 내가 낸 돈은 0원이고, 재고와 배송과 응대도 없습니다.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58978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원천징수 차감 별도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46520" y="2011680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127" y="2116287"/>
            <a:ext cx="193121" cy="193121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040880" y="2011680"/>
            <a:ext cx="4465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내는 돈이 없다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7040880" y="2340864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가입비도 이용료도 없습니다. 소개비는 매장이 내고 유어딜이 대신 정산합니다. 내 지출이 생기는 지점이 없습니다.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446520" y="3090672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127" y="3195279"/>
            <a:ext cx="193121" cy="193121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040880" y="3090672"/>
            <a:ext cx="4465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재고, 배송, 반품 응대가 없다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7040880" y="3419856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이용권은 매장에서 쓰는 권리라 택배가 오가지 않습니다. 공동구매를 열었다가 품절 문의를 혼자 받는 일이 생기지 않습니다.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446520" y="4169664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127" y="4274271"/>
            <a:ext cx="193121" cy="193121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040880" y="4169664"/>
            <a:ext cx="4465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마감기한 없이 매장 이용권 판매하기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7040880" y="4498848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이용권 쇼핑몰 링크인 유어샵을 통해 끊임없이 수익을 창출하세요. 캠페인이 끝나도 담아 둔 이용권은 그대로 팔립니다.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446520" y="5248656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127" y="5353263"/>
            <a:ext cx="193121" cy="193121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040880" y="5248656"/>
            <a:ext cx="4465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환불 걱정 0%</a:t>
            </a:r>
            <a:endParaRPr lang="en-US" sz="1350" dirty="0"/>
          </a:p>
        </p:txBody>
      </p:sp>
      <p:sp>
        <p:nvSpPr>
          <p:cNvPr id="38" name="Text 31"/>
          <p:cNvSpPr txBox="1"/>
          <p:nvPr/>
        </p:nvSpPr>
        <p:spPr>
          <a:xfrm>
            <a:off x="7040880" y="5577840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환불이나 취소된 주문의 소개비는 자동으로 정리됩니다. 그래서 팔로워가 이용권을 사용한 뒤 정산됩니다.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유어딜 정산 프로세스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영향력과 수익을 끊임없이 키워가는 구조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바퀴가 돌 때마다 내 유어샵에 이용권과 실적이 남고, 다음 매장의 링크가 더 쉽게 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496312" y="2679192"/>
            <a:ext cx="2962656" cy="2962656"/>
          </a:xfrm>
          <a:prstGeom prst="ellipse">
            <a:avLst/>
          </a:prstGeom>
          <a:ln w="31750">
            <a:solidFill>
              <a:srgbClr val="1C69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7560000">
            <a:off x="4729471" y="2843228"/>
            <a:ext cx="237744" cy="237744"/>
          </a:xfrm>
          <a:prstGeom prst="triangl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40380" y="2340864"/>
            <a:ext cx="187452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040380" y="24140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이용권을 소개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131820" y="26883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유어샵·콘텐츠에 링크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 rot="11880000">
            <a:off x="5267595" y="4499404"/>
            <a:ext cx="237744" cy="237744"/>
          </a:xfrm>
          <a:prstGeom prst="triangl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49207" y="3364436"/>
            <a:ext cx="187452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449207" y="34375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결제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40647" y="37119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링크로 자동 귀속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 rot="16200000">
            <a:off x="3858768" y="5522976"/>
            <a:ext cx="237744" cy="237744"/>
          </a:xfrm>
          <a:prstGeom prst="triangl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11083" y="5020612"/>
            <a:ext cx="187452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911083" y="50937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매장에서 사용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002523" y="53680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한 번, 노쇼는 환불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 rot="20520000">
            <a:off x="2449941" y="4499404"/>
            <a:ext cx="237744" cy="237744"/>
          </a:xfrm>
          <a:prstGeom prst="triangl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69677" y="5020612"/>
            <a:ext cx="187452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2169677" y="50937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소개비 확정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2261117" y="53680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뒤, 유어딜이 지급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 rot="3240000">
            <a:off x="2988065" y="2843228"/>
            <a:ext cx="237744" cy="237744"/>
          </a:xfrm>
          <a:prstGeom prst="triangl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31553" y="3364436"/>
            <a:ext cx="187452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1631553" y="34375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매장 링크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1722993" y="37119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실적이 보이는 사람에게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3251789" y="3434669"/>
            <a:ext cx="1451701" cy="1451701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251789" y="3754044"/>
            <a:ext cx="1451701" cy="50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쌓이는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플라이휠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388949" y="4247622"/>
            <a:ext cx="1177381" cy="43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유어샵에 남는다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635240" y="2514600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847" y="2619207"/>
            <a:ext cx="193121" cy="193121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202168" y="2514600"/>
            <a:ext cx="33037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유어샵이 남습니다</a:t>
            </a:r>
            <a:endParaRPr lang="en-US" sz="1350" dirty="0"/>
          </a:p>
        </p:txBody>
      </p:sp>
      <p:sp>
        <p:nvSpPr>
          <p:cNvPr id="35" name="Text 31"/>
          <p:cNvSpPr txBox="1"/>
          <p:nvPr/>
        </p:nvSpPr>
        <p:spPr>
          <a:xfrm>
            <a:off x="8202168" y="2834640"/>
            <a:ext cx="33037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캠페인이 끝나도 담아 둔 이용권과 링크는 그대로입니다. 매번 새로 시작하지 않습니다.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7635240" y="3721608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847" y="3826215"/>
            <a:ext cx="193121" cy="193121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202168" y="3721608"/>
            <a:ext cx="33037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실적이 보입니다</a:t>
            </a:r>
            <a:endParaRPr lang="en-US" sz="1350" dirty="0"/>
          </a:p>
        </p:txBody>
      </p:sp>
      <p:sp>
        <p:nvSpPr>
          <p:cNvPr id="39" name="Text 34"/>
          <p:cNvSpPr txBox="1"/>
          <p:nvPr/>
        </p:nvSpPr>
        <p:spPr>
          <a:xfrm>
            <a:off x="8202168" y="4041648"/>
            <a:ext cx="33037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마이페이지에 매장별 주문과 확정 금액이 쌓입니다. 실적이 보이는 사람에게 대행사는 다음 매장의 링크를 먼저 보냅니다.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7635240" y="4928616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847" y="5033223"/>
            <a:ext cx="193121" cy="193121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8202168" y="4928616"/>
            <a:ext cx="33037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매장이 늘수록 커집니다</a:t>
            </a:r>
            <a:endParaRPr lang="en-US" sz="1350" dirty="0"/>
          </a:p>
        </p:txBody>
      </p:sp>
      <p:sp>
        <p:nvSpPr>
          <p:cNvPr id="43" name="Text 37"/>
          <p:cNvSpPr txBox="1"/>
          <p:nvPr/>
        </p:nvSpPr>
        <p:spPr>
          <a:xfrm>
            <a:off x="8202168" y="5248656"/>
            <a:ext cx="33037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링크로 매칭된 매장과 내가 섭외한 매장이 늘수록 이용권이 늘고, 유어샵 진열대가 넓어집니다. 매장 하나가 바퀴 하나를 더 만듭니다.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6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정산 프로세스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링크로 시작하는 길과 매장을 섭외하는 길, 링크를 두는 자리, 정산 시점, 자주 묻는 질문.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114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11480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A · 링크로 시작한다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462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46227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B · 매장을 섭외한다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8097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4809744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유어샵과 유어쇼츠, SNS 별 홍보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51572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5157216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55046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5504688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시작하기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유어딜 정산 프로세스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A. 링크 한 번이면 시작됩니다.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대행사나 중개사가 매장 코드가 담긴 링크를 보냅니다. 탭하면 가입이 되고, 가입과 동시에 그 매장과 매칭됩니다. 따로 신청하거나 코드를 옮겨 적을 일이 없습니다.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715768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6974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링크를 탭한다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300837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대행사(중개사)가 보낸 링크 하나입니다. 카카오 로그인으로 가입이 끝나고, 그 순간 그 매장과 매칭됩니다. 직접 찾아온 사람은 마이페이지에서 매장 코드를 입력하면 같은 자리로 들어옵니다.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" y="3502152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48386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단위 링크가 생긴다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7947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마이페이지에 그 매장의 고유 링크가 생깁니다. 복사 버튼과 카톡 공유 버튼이 붙어 있고, 매장이 이용권을 바꿔도 링크는 그대로입니다.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" y="4288536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42702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콘텐츠에 링크를 건다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458114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스토리, 릴스, 카톡, 유튜브 더보기, 블로그 어디든 됩니다. 유어샵에 담아 두면 콘텐츠가 내려가도 판매는 이어집니다.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85800" y="5074920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5074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505663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적립을 확인한다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536752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마이페이지에서 매장별 주문과 대기, 확정 금액을 봅니다. 소개비 %는 코드에 실려 있고, 매장과 조정하면 이후 판매분부터 바뀝니다.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85800" y="5861304"/>
            <a:ext cx="7498080" cy="457200"/>
          </a:xfrm>
          <a:prstGeom prst="roundRect">
            <a:avLst>
              <a:gd name="adj" fmla="val 2000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5840" y="586130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하지 않아도 되는 일: </a:t>
            </a:r>
            <a:pPr algn="ctr"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협상, 재고, 배송, 결제, 환불 응대, 세금계산서, 쿠폰 코드 확인.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32520" y="1828800"/>
            <a:ext cx="2773375" cy="4343400"/>
          </a:xfrm>
          <a:prstGeom prst="roundRect">
            <a:avLst>
              <a:gd name="adj" fmla="val 4616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006840" y="2029968"/>
            <a:ext cx="2224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탭 한 번에 되는 세 가지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006840" y="2395728"/>
            <a:ext cx="310896" cy="310896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0684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9418320" y="2395728"/>
            <a:ext cx="1858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9418320" y="2670048"/>
            <a:ext cx="1858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로그인 한 번. 셀러 대시보드 계정이 따로 필요 없습니다.</a:t>
            </a:r>
            <a:endParaRPr lang="en-US" sz="980" dirty="0"/>
          </a:p>
        </p:txBody>
      </p:sp>
      <p:sp>
        <p:nvSpPr>
          <p:cNvPr id="32" name="Shape 29"/>
          <p:cNvSpPr/>
          <p:nvPr/>
        </p:nvSpPr>
        <p:spPr>
          <a:xfrm>
            <a:off x="9006840" y="3474720"/>
            <a:ext cx="310896" cy="310896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00684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9418320" y="3474720"/>
            <a:ext cx="1858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매칭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9418320" y="3749040"/>
            <a:ext cx="1858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안의 코드로 그 매장과 연결됩니다. 승인 조건이 없는 코드면 그 자리에서 활성입니다.</a:t>
            </a:r>
            <a:endParaRPr lang="en-US" sz="980" dirty="0"/>
          </a:p>
        </p:txBody>
      </p:sp>
      <p:sp>
        <p:nvSpPr>
          <p:cNvPr id="36" name="Shape 33"/>
          <p:cNvSpPr/>
          <p:nvPr/>
        </p:nvSpPr>
        <p:spPr>
          <a:xfrm>
            <a:off x="9006840" y="4553712"/>
            <a:ext cx="310896" cy="310896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00684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9418320" y="4553712"/>
            <a:ext cx="1858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링크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9418320" y="4828032"/>
            <a:ext cx="1858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마이페이지에 그 매장의 고유 링크. 복사, 카톡 공유, 이용권이 바뀌어도 그대로.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9006840" y="5596128"/>
            <a:ext cx="222473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06840" y="5650992"/>
            <a:ext cx="2224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코드는 매장당 하나. 코드를 만든 대행사가 아니라 입력하는 사람이 연결됩니다.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유어딜 정산 프로세스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B. 아는 가게를 섭외합니다. 중개사 계정이면 유어딜은 5%.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사장님을 설득하는 일이 아니라, 열어 두면 손해 볼 게 없다는 것을 알려 드리는 일에 가깝습니다. 내 계정에서 매장을 등록하면 매장 코드가 생기고, 사장님은 그 코드로 가입해 주인이 됩니다.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606040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매장을 고른다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670048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633472" y="2606040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633472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2633472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중개사 계정으로 등록한다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(코드 자동 생성)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670048"/>
            <a:ext cx="219456" cy="21945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81144" y="2606040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81144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4581144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사장님께 코드를 드린다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670048"/>
            <a:ext cx="219456" cy="21945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528816" y="2606040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528816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6528816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이용권을 올리고 내 링크로 판다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3657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셀러 대시보드의 매장 등록에서 "중개·대행사에요" 를 고르면 매장 코드가 자동으로 생기고, 중개사 몫 %와 인플루언서 상한 %를 함께 정합니다. 사장님이 가입하며 그 코드를 넣으면 매장 주인이 되고, 나는 운영자로 남습니다. 등록증 확인은 그대로입니다.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85800" y="4160520"/>
            <a:ext cx="74980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960120" y="434340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사장님께 이렇게 말하면 됩니다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960120" y="46634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가입비도 월 이용료도 없어요. </a:t>
            </a:r>
            <a:pPr indent="0" marL="0"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팔린 만큼만 유어딜 수수료 5%가 나갑니다.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960120" y="50292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배달앱이 아니에요. </a:t>
            </a:r>
            <a:pPr indent="0" marL="0"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온라인에서 할인가로 미리 팔고, 손님은 가게에 와서 QR 로 씁니다.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960120" y="539496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 몫과 소개비는 등록할 때 정해요. </a:t>
            </a:r>
            <a:pPr indent="0" marL="0"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몫 95% 안에서. 유어딜이 각자에게 보냅니다.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960120" y="576072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쓴 이용권은 유어딜이 환불해요. </a:t>
            </a:r>
            <a:pPr indent="0" marL="0"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노쇼로 손해 보는 구조가 아닙니다.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8503920" y="2606040"/>
            <a:ext cx="3001975" cy="3566160"/>
          </a:xfrm>
          <a:prstGeom prst="roundRect">
            <a:avLst>
              <a:gd name="adj" fmla="val 4264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778240" y="2788920"/>
            <a:ext cx="2453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중개사 계정으로 등록하면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8778240" y="3154680"/>
            <a:ext cx="2453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5%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8778240" y="3401568"/>
            <a:ext cx="2453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직접 등록하면 10%, 중개사 계정으로 등록하면 5%. 사장님 몫은 95%입니다.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8778240" y="3904488"/>
            <a:ext cx="2453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%는 등록할 때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8778240" y="4151376"/>
            <a:ext cx="2453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중개사 몫 %와 인플루언서 상한 %를 등록하며 정합니다. 개별 소개비는 협업 코드로.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8778240" y="4654296"/>
            <a:ext cx="2453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코드는 사장님이 입력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8778240" y="4901184"/>
            <a:ext cx="2453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가입하며 코드를 넣어야 주인이 됩니다. 첫 정산 전까지만. 판매는 그 전에도 됩니다.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8778240" y="5404104"/>
            <a:ext cx="2453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가기 전에 확인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8778240" y="5650992"/>
            <a:ext cx="2453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사업자등록이 있는지, 손님이 방문해 쓰는 업종인지, 할인가에 팔아도 남는 메뉴가 있는지.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유어딜 정산 프로세스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링크는 두 곳에 남습니다. 내 유어샵과 유어쇼츠.</a:t>
            </a:r>
            <a:endParaRPr lang="en-US" sz="2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465" y="1574225"/>
            <a:ext cx="2418831" cy="46239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37560" y="6135624"/>
            <a:ext cx="27326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유어샵 (라이브 화면)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945" y="1574225"/>
            <a:ext cx="2418831" cy="462395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035040" y="6135624"/>
            <a:ext cx="27326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유어쇼츠 (라이브 · 이용권이 붙은 영상)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20116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 링크는 유어샵 하나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2286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스토리, 더보기, 블로그 어디든 이 링크만 겁니다</a:t>
            </a:r>
            <a:endParaRPr lang="en-US" sz="980" dirty="0"/>
          </a:p>
        </p:txBody>
      </p:sp>
      <p:sp>
        <p:nvSpPr>
          <p:cNvPr id="13" name="Shape 8"/>
          <p:cNvSpPr/>
          <p:nvPr/>
        </p:nvSpPr>
        <p:spPr>
          <a:xfrm>
            <a:off x="3584448" y="2157984"/>
            <a:ext cx="1119433" cy="3658"/>
          </a:xfrm>
          <a:prstGeom prst="line">
            <a:avLst/>
          </a:prstGeom>
          <a:noFill/>
          <a:ln w="12700">
            <a:solidFill>
              <a:srgbClr val="1C69E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538728" y="2112264"/>
            <a:ext cx="91440" cy="91440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621585" y="2079346"/>
            <a:ext cx="164592" cy="164592"/>
          </a:xfrm>
          <a:prstGeom prst="ellipse">
            <a:avLst/>
          </a:prstGeom>
          <a:solidFill>
            <a:srgbClr val="1C69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3337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담은 이용권이 카드로 진열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36118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상세의 담기 버튼 한 번. 순서는 바꿀 수 있습니다</a:t>
            </a:r>
            <a:endParaRPr lang="en-US" sz="980" dirty="0"/>
          </a:p>
        </p:txBody>
      </p:sp>
      <p:sp>
        <p:nvSpPr>
          <p:cNvPr id="18" name="Shape 13"/>
          <p:cNvSpPr/>
          <p:nvPr/>
        </p:nvSpPr>
        <p:spPr>
          <a:xfrm>
            <a:off x="3584448" y="3483864"/>
            <a:ext cx="1119433" cy="318211"/>
          </a:xfrm>
          <a:prstGeom prst="line">
            <a:avLst/>
          </a:prstGeom>
          <a:noFill/>
          <a:ln w="12700">
            <a:solidFill>
              <a:srgbClr val="1C69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538728" y="3438144"/>
            <a:ext cx="91440" cy="91440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21585" y="3719779"/>
            <a:ext cx="164592" cy="164592"/>
          </a:xfrm>
          <a:prstGeom prst="ellipse">
            <a:avLst/>
          </a:prstGeom>
          <a:solidFill>
            <a:srgbClr val="1C69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46634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콘텐츠가 내려가도 여기서 팝니다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85800" y="4937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유효기간 동안 계속. 매칭된 매장의 이용권은 소개비가 붙습니다</a:t>
            </a:r>
            <a:endParaRPr lang="en-US" sz="980" dirty="0"/>
          </a:p>
        </p:txBody>
      </p:sp>
      <p:sp>
        <p:nvSpPr>
          <p:cNvPr id="23" name="Shape 18"/>
          <p:cNvSpPr/>
          <p:nvPr/>
        </p:nvSpPr>
        <p:spPr>
          <a:xfrm>
            <a:off x="3584448" y="4809744"/>
            <a:ext cx="1119433" cy="338328"/>
          </a:xfrm>
          <a:prstGeom prst="line">
            <a:avLst/>
          </a:prstGeom>
          <a:noFill/>
          <a:ln w="12700">
            <a:solidFill>
              <a:srgbClr val="1C69E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538728" y="4764024"/>
            <a:ext cx="91440" cy="91440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621585" y="5065776"/>
            <a:ext cx="164592" cy="164592"/>
          </a:xfrm>
          <a:prstGeom prst="ellipse">
            <a:avLst/>
          </a:prstGeom>
          <a:solidFill>
            <a:srgbClr val="1C69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630521" y="2011680"/>
            <a:ext cx="2875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세로 영상에 이용권이 붙습니다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8630521" y="2286000"/>
            <a:ext cx="2875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홈과 이용권 상세에 실리는 유어쇼츠</a:t>
            </a:r>
            <a:endParaRPr lang="en-US" sz="980" dirty="0"/>
          </a:p>
        </p:txBody>
      </p:sp>
      <p:sp>
        <p:nvSpPr>
          <p:cNvPr id="28" name="Shape 23"/>
          <p:cNvSpPr/>
          <p:nvPr/>
        </p:nvSpPr>
        <p:spPr>
          <a:xfrm flipH="1">
            <a:off x="7401361" y="2157984"/>
            <a:ext cx="1119433" cy="971093"/>
          </a:xfrm>
          <a:prstGeom prst="line">
            <a:avLst/>
          </a:prstGeom>
          <a:noFill/>
          <a:ln w="12700">
            <a:solidFill>
              <a:srgbClr val="1C69E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475073" y="2112264"/>
            <a:ext cx="91440" cy="91440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319065" y="3046781"/>
            <a:ext cx="164592" cy="164592"/>
          </a:xfrm>
          <a:prstGeom prst="ellipse">
            <a:avLst/>
          </a:prstGeom>
          <a:solidFill>
            <a:srgbClr val="1C69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630521" y="3337560"/>
            <a:ext cx="2875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아래 구매 바에서 바로 결제</a:t>
            </a:r>
            <a:endParaRPr lang="en-US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8630521" y="3611880"/>
            <a:ext cx="2875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매장, 이용권, 정가와 할인가가 함께 보입니다</a:t>
            </a:r>
            <a:endParaRPr lang="en-US" sz="980" dirty="0"/>
          </a:p>
        </p:txBody>
      </p:sp>
      <p:sp>
        <p:nvSpPr>
          <p:cNvPr id="33" name="Shape 28"/>
          <p:cNvSpPr/>
          <p:nvPr/>
        </p:nvSpPr>
        <p:spPr>
          <a:xfrm flipH="1">
            <a:off x="7301304" y="3483864"/>
            <a:ext cx="1219489" cy="2211019"/>
          </a:xfrm>
          <a:prstGeom prst="line">
            <a:avLst/>
          </a:prstGeom>
          <a:noFill/>
          <a:ln w="12700">
            <a:solidFill>
              <a:srgbClr val="1C69E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475073" y="3438144"/>
            <a:ext cx="91440" cy="91440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219008" y="5612587"/>
            <a:ext cx="164592" cy="164592"/>
          </a:xfrm>
          <a:prstGeom prst="ellipse">
            <a:avLst/>
          </a:prstGeom>
          <a:solidFill>
            <a:srgbClr val="1C69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8630521" y="4663440"/>
            <a:ext cx="2875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매칭된 매장이면 여기서도 소개비</a:t>
            </a:r>
            <a:endParaRPr lang="en-US" sz="1250" dirty="0"/>
          </a:p>
        </p:txBody>
      </p:sp>
      <p:sp>
        <p:nvSpPr>
          <p:cNvPr id="37" name="Text 32"/>
          <p:cNvSpPr txBox="1"/>
          <p:nvPr/>
        </p:nvSpPr>
        <p:spPr>
          <a:xfrm>
            <a:off x="8630521" y="4937760"/>
            <a:ext cx="2875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자체에 대한 몫은 없고, 그 이용권의 매장과 매칭돼 있을 때 붙습니다</a:t>
            </a:r>
            <a:endParaRPr lang="en-US" sz="980" dirty="0"/>
          </a:p>
        </p:txBody>
      </p:sp>
      <p:sp>
        <p:nvSpPr>
          <p:cNvPr id="38" name="Shape 33"/>
          <p:cNvSpPr/>
          <p:nvPr/>
        </p:nvSpPr>
        <p:spPr>
          <a:xfrm flipH="1">
            <a:off x="8121764" y="4809744"/>
            <a:ext cx="399029" cy="885139"/>
          </a:xfrm>
          <a:prstGeom prst="line">
            <a:avLst/>
          </a:prstGeom>
          <a:noFill/>
          <a:ln w="12700">
            <a:solidFill>
              <a:srgbClr val="1C69EF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8475073" y="4764024"/>
            <a:ext cx="91440" cy="91440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039468" y="5612587"/>
            <a:ext cx="164592" cy="164592"/>
          </a:xfrm>
          <a:prstGeom prst="ellipse">
            <a:avLst/>
          </a:prstGeom>
          <a:solidFill>
            <a:srgbClr val="1C69EF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유어딜 정산 프로세스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SNS 별 이용권 홍보 방법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채널이든 결제로 이어진 것만 소개비로 잡힙니다. 조회수와 좋아요는 세지 않습니다. 그래서 팔로워가 적어도 동네 손님이 사면 돈이 됩니다.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468880"/>
            <a:ext cx="2533574" cy="365760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41832" y="2724912"/>
            <a:ext cx="457200" cy="457200"/>
          </a:xfrm>
          <a:prstGeom prst="ellipse">
            <a:avLst/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84378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41832" y="3310128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블로그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941832" y="3602736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"동네 + 메뉴" 검색에 오래 남는 글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941832" y="3950208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씁니다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41832" y="43616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41832" y="4361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289304" y="4334256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 본문과 마지막에 이용권 링크를 둡니다</a:t>
            </a:r>
            <a:endParaRPr lang="en-US" sz="1020" dirty="0"/>
          </a:p>
        </p:txBody>
      </p:sp>
      <p:sp>
        <p:nvSpPr>
          <p:cNvPr id="17" name="Shape 13"/>
          <p:cNvSpPr/>
          <p:nvPr/>
        </p:nvSpPr>
        <p:spPr>
          <a:xfrm>
            <a:off x="941832" y="491032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41832" y="4910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1289304" y="4882896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가게 이름과 메뉴를 제목에 넣습니다</a:t>
            </a:r>
            <a:endParaRPr lang="en-US" sz="1020" dirty="0"/>
          </a:p>
        </p:txBody>
      </p:sp>
      <p:sp>
        <p:nvSpPr>
          <p:cNvPr id="20" name="Shape 16"/>
          <p:cNvSpPr/>
          <p:nvPr/>
        </p:nvSpPr>
        <p:spPr>
          <a:xfrm>
            <a:off x="941832" y="545896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41832" y="5458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1289304" y="5431536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쓴 글이 유효기간 동안 계속 팝니다</a:t>
            </a:r>
            <a:endParaRPr lang="en-US" sz="1020" dirty="0"/>
          </a:p>
        </p:txBody>
      </p:sp>
      <p:sp>
        <p:nvSpPr>
          <p:cNvPr id="23" name="Shape 19"/>
          <p:cNvSpPr/>
          <p:nvPr/>
        </p:nvSpPr>
        <p:spPr>
          <a:xfrm>
            <a:off x="3447974" y="2468880"/>
            <a:ext cx="2533574" cy="365760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704006" y="2724912"/>
            <a:ext cx="457200" cy="457200"/>
          </a:xfrm>
          <a:prstGeom prst="ellipse">
            <a:avLst/>
          </a:prstGeom>
          <a:solidFill>
            <a:srgbClr val="FFE9E9"/>
          </a:solidFill>
          <a:ln w="12700">
            <a:solidFill>
              <a:srgbClr val="FFE9E9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878" y="2843784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3704006" y="3310128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· 쇼츠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3704006" y="3602736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먹는 장면으로 설득하는 영상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3704006" y="3950208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씁니다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3704006" y="43616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704006" y="4361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4051478" y="4334256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설명란과 고정 댓글에 링크를 둡니다</a:t>
            </a:r>
            <a:endParaRPr lang="en-US" sz="1020" dirty="0"/>
          </a:p>
        </p:txBody>
      </p:sp>
      <p:sp>
        <p:nvSpPr>
          <p:cNvPr id="32" name="Shape 27"/>
          <p:cNvSpPr/>
          <p:nvPr/>
        </p:nvSpPr>
        <p:spPr>
          <a:xfrm>
            <a:off x="3704006" y="491032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704006" y="4910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4051478" y="4882896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쇼츠는 매장 근처 시청자에게 짧게 닿습니다</a:t>
            </a:r>
            <a:endParaRPr lang="en-US" sz="1020" dirty="0"/>
          </a:p>
        </p:txBody>
      </p:sp>
      <p:sp>
        <p:nvSpPr>
          <p:cNvPr id="35" name="Shape 30"/>
          <p:cNvSpPr/>
          <p:nvPr/>
        </p:nvSpPr>
        <p:spPr>
          <a:xfrm>
            <a:off x="3704006" y="545896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3704006" y="5458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37" name="Text 32"/>
          <p:cNvSpPr txBox="1"/>
          <p:nvPr/>
        </p:nvSpPr>
        <p:spPr>
          <a:xfrm>
            <a:off x="4051478" y="5431536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하나에 이용권 여러 개를 함께 소개합니다</a:t>
            </a:r>
            <a:endParaRPr lang="en-US" sz="1020" dirty="0"/>
          </a:p>
        </p:txBody>
      </p:sp>
      <p:sp>
        <p:nvSpPr>
          <p:cNvPr id="38" name="Shape 33"/>
          <p:cNvSpPr/>
          <p:nvPr/>
        </p:nvSpPr>
        <p:spPr>
          <a:xfrm>
            <a:off x="6210148" y="2468880"/>
            <a:ext cx="2533574" cy="365760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6466180" y="2724912"/>
            <a:ext cx="457200" cy="457200"/>
          </a:xfrm>
          <a:prstGeom prst="ellipse">
            <a:avLst/>
          </a:prstGeom>
          <a:solidFill>
            <a:srgbClr val="FDE7EE"/>
          </a:solidFill>
          <a:ln w="12700">
            <a:solidFill>
              <a:srgbClr val="FDE7EE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052" y="2843784"/>
            <a:ext cx="219456" cy="219456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6466180" y="3310128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인스타그램 · 릴스</a:t>
            </a:r>
            <a:endParaRPr 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6466180" y="3602736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 감성과 단골 손님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6466180" y="3950208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씁니다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6466180" y="43616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6466180" y="4361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46" name="Text 40"/>
          <p:cNvSpPr txBox="1"/>
          <p:nvPr/>
        </p:nvSpPr>
        <p:spPr>
          <a:xfrm>
            <a:off x="6813652" y="4334256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 링크를 내 유어샵으로 둡니다</a:t>
            </a:r>
            <a:endParaRPr lang="en-US" sz="1020" dirty="0"/>
          </a:p>
        </p:txBody>
      </p:sp>
      <p:sp>
        <p:nvSpPr>
          <p:cNvPr id="47" name="Shape 41"/>
          <p:cNvSpPr/>
          <p:nvPr/>
        </p:nvSpPr>
        <p:spPr>
          <a:xfrm>
            <a:off x="6466180" y="491032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6466180" y="4910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49" name="Text 43"/>
          <p:cNvSpPr txBox="1"/>
          <p:nvPr/>
        </p:nvSpPr>
        <p:spPr>
          <a:xfrm>
            <a:off x="6813652" y="4882896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릴스와 스토리에서 이용권을 바로 안내합니다</a:t>
            </a:r>
            <a:endParaRPr lang="en-US" sz="1020" dirty="0"/>
          </a:p>
        </p:txBody>
      </p:sp>
      <p:sp>
        <p:nvSpPr>
          <p:cNvPr id="50" name="Shape 44"/>
          <p:cNvSpPr/>
          <p:nvPr/>
        </p:nvSpPr>
        <p:spPr>
          <a:xfrm>
            <a:off x="6466180" y="545896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6466180" y="5458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52" name="Text 46"/>
          <p:cNvSpPr txBox="1"/>
          <p:nvPr/>
        </p:nvSpPr>
        <p:spPr>
          <a:xfrm>
            <a:off x="6813652" y="5431536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팔로워가 적어도 동네 손님이면 결제가 납니다</a:t>
            </a:r>
            <a:endParaRPr lang="en-US" sz="1020" dirty="0"/>
          </a:p>
        </p:txBody>
      </p:sp>
      <p:sp>
        <p:nvSpPr>
          <p:cNvPr id="53" name="Shape 47"/>
          <p:cNvSpPr/>
          <p:nvPr/>
        </p:nvSpPr>
        <p:spPr>
          <a:xfrm>
            <a:off x="8972321" y="2468880"/>
            <a:ext cx="2533574" cy="365760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9228353" y="2724912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7225" y="2843784"/>
            <a:ext cx="219456" cy="219456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9228353" y="3310128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유어쇼츠</a:t>
            </a:r>
            <a:endParaRPr lang="en-US" sz="1350" dirty="0"/>
          </a:p>
        </p:txBody>
      </p:sp>
      <p:sp>
        <p:nvSpPr>
          <p:cNvPr id="57" name="Text 50"/>
          <p:cNvSpPr txBox="1"/>
          <p:nvPr/>
        </p:nvSpPr>
        <p:spPr>
          <a:xfrm>
            <a:off x="9228353" y="3602736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페이지 안의 세로 영상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9228353" y="3950208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씁니다</a:t>
            </a:r>
            <a:endParaRPr lang="en-US" sz="1250" dirty="0"/>
          </a:p>
        </p:txBody>
      </p:sp>
      <p:sp>
        <p:nvSpPr>
          <p:cNvPr id="59" name="Shape 52"/>
          <p:cNvSpPr/>
          <p:nvPr/>
        </p:nvSpPr>
        <p:spPr>
          <a:xfrm>
            <a:off x="9228353" y="43616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9228353" y="4361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61" name="Text 54"/>
          <p:cNvSpPr txBox="1"/>
          <p:nvPr/>
        </p:nvSpPr>
        <p:spPr>
          <a:xfrm>
            <a:off x="9575825" y="4334256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홈과 이용권 상세에 영상이 실립니다</a:t>
            </a:r>
            <a:endParaRPr lang="en-US" sz="1020" dirty="0"/>
          </a:p>
        </p:txBody>
      </p:sp>
      <p:sp>
        <p:nvSpPr>
          <p:cNvPr id="62" name="Shape 55"/>
          <p:cNvSpPr/>
          <p:nvPr/>
        </p:nvSpPr>
        <p:spPr>
          <a:xfrm>
            <a:off x="9228353" y="491032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9228353" y="4910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64" name="Text 57"/>
          <p:cNvSpPr txBox="1"/>
          <p:nvPr/>
        </p:nvSpPr>
        <p:spPr>
          <a:xfrm>
            <a:off x="9575825" y="4882896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아래 구매 버튼으로 바로 결제합니다</a:t>
            </a:r>
            <a:endParaRPr lang="en-US" sz="1020" dirty="0"/>
          </a:p>
        </p:txBody>
      </p:sp>
      <p:sp>
        <p:nvSpPr>
          <p:cNvPr id="65" name="Shape 58"/>
          <p:cNvSpPr/>
          <p:nvPr/>
        </p:nvSpPr>
        <p:spPr>
          <a:xfrm>
            <a:off x="9228353" y="545896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6" name="Text 59"/>
          <p:cNvSpPr txBox="1"/>
          <p:nvPr/>
        </p:nvSpPr>
        <p:spPr>
          <a:xfrm>
            <a:off x="9228353" y="5458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67" name="Text 60"/>
          <p:cNvSpPr txBox="1"/>
          <p:nvPr/>
        </p:nvSpPr>
        <p:spPr>
          <a:xfrm>
            <a:off x="9575825" y="5431536"/>
            <a:ext cx="1728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매칭된 매장이면 외부 채널 없이도 소개비가 붙습니다</a:t>
            </a:r>
            <a:endParaRPr lang="en-US" sz="10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유어딜 정산 프로세스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정산 프로세스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귀속부터 송금까지 유어딜이 처리합니다. 화면에서 대기, 확정, 지급을 그대로 봅니다.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606040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108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링크로 귀속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6576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매장 링크로 들어온 주문에 자동으로 연결됩니다. 이용권이 바뀌어도 링크는 그대로라 다시 받을 일이 없습니다.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2679192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24912" y="2606040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724912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2724912" y="3108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사용 후 확정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2724912" y="36576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팔로워가 매장에서 이용권을 쓰면 지급 가능 상태가 됩니다. 환불된 건은 그 건만 정리됩니다.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679192"/>
            <a:ext cx="219456" cy="21945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64024" y="2606040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764024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764024" y="3108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매월 1일 집계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4764024" y="36576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 가능 금액을 모아 정산 대기로 올립니다. 화면에서 바로 보입니다.</a:t>
            </a:r>
            <a:endParaRPr lang="en-US" sz="10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679192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803136" y="2606040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03136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6803136" y="3108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확인 후 지급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6803136" y="36576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현금은 10만원부터 등록 계좌로(원천징수 차감 별도). 딜로 받으면 하한 없이 유어딜 잔액으로.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85800" y="5257800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005840" y="52578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매장에 돈을 달라고 할 일이 없습니다. </a:t>
            </a:r>
            <a:pPr algn="ctr" indent="0" marL="0">
              <a:buNone/>
            </a:pPr>
            <a:r>
              <a:rPr lang="en-US" sz="115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귀속부터 송금까지 유어딜이 하고, 10만원에 못 미치면 다음 달로 이월됩니다.</a:t>
            </a:r>
            <a:endParaRPr lang="en-US" sz="11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093" y="717213"/>
            <a:ext cx="2813205" cy="537785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77824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 정산 화면 (예시 데이터)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유어딜 정산 프로세스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이젠 체험단이 아닌 유어딜인 이유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체험단은 한 번 받고 끝나지만, 유어딜은 내 유어샵과 매장 링크가 남고 매칭된 매장이 계속 쌓입니다. 자주 묻는 질문에 먼저 답해 두었습니다.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560320"/>
            <a:ext cx="345429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60120" y="2779776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팔로워가 적어도 되나요?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127248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하한이 없습니다. 오히려 지역과 카테고리가 뚜렷한 채널이 동네 이용권과 잘 맞습니다.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68698" y="2560320"/>
            <a:ext cx="345429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43018" y="2779776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비용이 드나요?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643018" y="3127248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가입비도 이용료도 없습니다. 소개비는 매장이 내고, 유어딜이 대신 정산합니다.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51597" y="2560320"/>
            <a:ext cx="345429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25917" y="2779776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형식이 정해져 있나요?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325917" y="3127248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자유입니다. 스토리, 릴스, 블로그 글, 유어쇼츠 어디든 매장 링크 하나면 됩니다.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5800" y="4389120"/>
            <a:ext cx="345429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60120" y="4608576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소개비가 안 붙는 이용권도 있나요?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4956048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있습니다. 매칭되지 않은 매장의 이용권은 담아 둘 수는 있지만 소개비가 0 입니다.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368698" y="4389120"/>
            <a:ext cx="345429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643018" y="4608576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표시를 해야 하나요?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643018" y="4956048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네. 소개비를 받는 콘텐츠에는 "광고" 처럼 경제적 대가를 받았다는 표시가 법으로 필요합니다. 표시 없이 올린 콘텐츠의 책임은 유어딜이 대신 질 수 없습니다.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051597" y="4389120"/>
            <a:ext cx="345429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325917" y="4608576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매칭은 어떻게 되나요?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325917" y="4956048"/>
            <a:ext cx="29056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대행사(중개사)가 보낸 링크를 탭하면 가입과 동시에 매칭됩니다. 직접 왔다면 마이페이지에서 매장 코드를 입력하면 됩니다. 아는 가게가 있으면 중개사 계정으로 직접 등록해도 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유어딜 정산 프로세스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경로와 정산을 한 장에 놓았습니다. 어느 열이든 내가 내는 돈은 없습니다.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A 와 B 는 링크를 거는 순간부터 같은 길로 합쳐지고, 정산은 유어딜이 합니다.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3454298" cy="457200"/>
          </a:xfrm>
          <a:prstGeom prst="roundRect">
            <a:avLst>
              <a:gd name="adj" fmla="val 24000"/>
            </a:avLst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317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A · 링크로 시작한다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926080"/>
            <a:ext cx="345429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17296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" y="315468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대행사(중개사)가 보낸 코드 링크를 탭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914400" y="359359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252728" y="3575304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로그인으로 가입, 그 순간 매칭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914400" y="401421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252728" y="3995928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(직접 왔다면 마이페이지에서 코드 입력)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914400" y="443484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252728" y="4416552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마이페이지에 매장 단위 링크 생성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914400" y="48554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252728" y="4837176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콘텐츠와 유어샵에 링크 (복사·카톡 공유)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914400" y="527608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276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252728" y="525780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마이페이지에서 주문·확정 확인</a:t>
            </a:r>
            <a:endParaRPr lang="en-US" sz="1030" dirty="0"/>
          </a:p>
        </p:txBody>
      </p:sp>
      <p:sp>
        <p:nvSpPr>
          <p:cNvPr id="29" name="Shape 26"/>
          <p:cNvSpPr/>
          <p:nvPr/>
        </p:nvSpPr>
        <p:spPr>
          <a:xfrm>
            <a:off x="914400" y="5605272"/>
            <a:ext cx="299709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669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소개비 %는 코드의 값, 딜마다 조정 가능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368698" y="2331720"/>
            <a:ext cx="3454298" cy="457200"/>
          </a:xfrm>
          <a:prstGeom prst="roundRect">
            <a:avLst>
              <a:gd name="adj" fmla="val 2400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68698" y="23317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B · 매장을 섭외한다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368698" y="2926080"/>
            <a:ext cx="345429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597298" y="317296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97298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4935626" y="315468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아는 사장님 가게를 고른다</a:t>
            </a:r>
            <a:endParaRPr lang="en-US" sz="1030" dirty="0"/>
          </a:p>
        </p:txBody>
      </p:sp>
      <p:sp>
        <p:nvSpPr>
          <p:cNvPr id="37" name="Shape 34"/>
          <p:cNvSpPr/>
          <p:nvPr/>
        </p:nvSpPr>
        <p:spPr>
          <a:xfrm>
            <a:off x="4597298" y="359359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597298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4935626" y="3575304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중개사 계정으로 등록 (유어딜 5%) → 매장 코드 자동 생성</a:t>
            </a:r>
            <a:endParaRPr lang="en-US" sz="1030" dirty="0"/>
          </a:p>
        </p:txBody>
      </p:sp>
      <p:sp>
        <p:nvSpPr>
          <p:cNvPr id="40" name="Shape 37"/>
          <p:cNvSpPr/>
          <p:nvPr/>
        </p:nvSpPr>
        <p:spPr>
          <a:xfrm>
            <a:off x="4597298" y="401421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597298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4935626" y="3995928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중개사 몫 %와 인플루언서 상한 %를 그때 정한다</a:t>
            </a:r>
            <a:endParaRPr lang="en-US" sz="1030" dirty="0"/>
          </a:p>
        </p:txBody>
      </p:sp>
      <p:sp>
        <p:nvSpPr>
          <p:cNvPr id="43" name="Shape 40"/>
          <p:cNvSpPr/>
          <p:nvPr/>
        </p:nvSpPr>
        <p:spPr>
          <a:xfrm>
            <a:off x="4597298" y="443484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597298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4935626" y="4416552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가입하며 코드 입력 → 매장 주인</a:t>
            </a:r>
            <a:endParaRPr lang="en-US" sz="1030" dirty="0"/>
          </a:p>
        </p:txBody>
      </p:sp>
      <p:sp>
        <p:nvSpPr>
          <p:cNvPr id="46" name="Shape 43"/>
          <p:cNvSpPr/>
          <p:nvPr/>
        </p:nvSpPr>
        <p:spPr>
          <a:xfrm>
            <a:off x="4597298" y="48554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597298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48" name="Text 45"/>
          <p:cNvSpPr txBox="1"/>
          <p:nvPr/>
        </p:nvSpPr>
        <p:spPr>
          <a:xfrm>
            <a:off x="4935626" y="4837176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이용권을 올리고 내 링크로 판다</a:t>
            </a:r>
            <a:endParaRPr lang="en-US" sz="1030" dirty="0"/>
          </a:p>
        </p:txBody>
      </p:sp>
      <p:sp>
        <p:nvSpPr>
          <p:cNvPr id="49" name="Shape 46"/>
          <p:cNvSpPr/>
          <p:nvPr/>
        </p:nvSpPr>
        <p:spPr>
          <a:xfrm>
            <a:off x="4597298" y="527608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597298" y="5276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4935626" y="525780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마이페이지·대시보드에서 확인</a:t>
            </a:r>
            <a:endParaRPr lang="en-US" sz="1030" dirty="0"/>
          </a:p>
        </p:txBody>
      </p:sp>
      <p:sp>
        <p:nvSpPr>
          <p:cNvPr id="52" name="Shape 49"/>
          <p:cNvSpPr/>
          <p:nvPr/>
        </p:nvSpPr>
        <p:spPr>
          <a:xfrm>
            <a:off x="4597298" y="5605272"/>
            <a:ext cx="299709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597298" y="5669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중개사 몫도 유어딜이 직접 보냅니다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8051597" y="2331720"/>
            <a:ext cx="3454298" cy="457200"/>
          </a:xfrm>
          <a:prstGeom prst="roundRect">
            <a:avLst>
              <a:gd name="adj" fmla="val 2400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051597" y="23317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· 유어딜이 한다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8051597" y="2926080"/>
            <a:ext cx="345429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8280197" y="317296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0197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59" name="Text 56"/>
          <p:cNvSpPr txBox="1"/>
          <p:nvPr/>
        </p:nvSpPr>
        <p:spPr>
          <a:xfrm>
            <a:off x="8618525" y="315468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링크로 들어온 주문에 자동 귀속</a:t>
            </a:r>
            <a:endParaRPr lang="en-US" sz="1030" dirty="0"/>
          </a:p>
        </p:txBody>
      </p:sp>
      <p:sp>
        <p:nvSpPr>
          <p:cNvPr id="60" name="Shape 57"/>
          <p:cNvSpPr/>
          <p:nvPr/>
        </p:nvSpPr>
        <p:spPr>
          <a:xfrm>
            <a:off x="8280197" y="359359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280197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8618525" y="3575304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사용 후 확정 (환불 건은 그 건만 정리)</a:t>
            </a:r>
            <a:endParaRPr lang="en-US" sz="1030" dirty="0"/>
          </a:p>
        </p:txBody>
      </p:sp>
      <p:sp>
        <p:nvSpPr>
          <p:cNvPr id="63" name="Shape 60"/>
          <p:cNvSpPr/>
          <p:nvPr/>
        </p:nvSpPr>
        <p:spPr>
          <a:xfrm>
            <a:off x="8280197" y="401421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280197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65" name="Text 62"/>
          <p:cNvSpPr txBox="1"/>
          <p:nvPr/>
        </p:nvSpPr>
        <p:spPr>
          <a:xfrm>
            <a:off x="8618525" y="3995928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매월 1일 지급 가능 금액 집계</a:t>
            </a:r>
            <a:endParaRPr lang="en-US" sz="1030" dirty="0"/>
          </a:p>
        </p:txBody>
      </p:sp>
      <p:sp>
        <p:nvSpPr>
          <p:cNvPr id="66" name="Shape 63"/>
          <p:cNvSpPr/>
          <p:nvPr/>
        </p:nvSpPr>
        <p:spPr>
          <a:xfrm>
            <a:off x="8280197" y="443484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80197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68" name="Text 65"/>
          <p:cNvSpPr txBox="1"/>
          <p:nvPr/>
        </p:nvSpPr>
        <p:spPr>
          <a:xfrm>
            <a:off x="8618525" y="4416552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현금은 10만원부터 등록 계좌로</a:t>
            </a:r>
            <a:endParaRPr lang="en-US" sz="1030" dirty="0"/>
          </a:p>
        </p:txBody>
      </p:sp>
      <p:sp>
        <p:nvSpPr>
          <p:cNvPr id="69" name="Shape 66"/>
          <p:cNvSpPr/>
          <p:nvPr/>
        </p:nvSpPr>
        <p:spPr>
          <a:xfrm>
            <a:off x="8280197" y="48554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280197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71" name="Text 68"/>
          <p:cNvSpPr txBox="1"/>
          <p:nvPr/>
        </p:nvSpPr>
        <p:spPr>
          <a:xfrm>
            <a:off x="8618525" y="4837176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딜로 받으면 하한 없이 잔액으로</a:t>
            </a:r>
            <a:endParaRPr lang="en-US" sz="1030" dirty="0"/>
          </a:p>
        </p:txBody>
      </p:sp>
      <p:sp>
        <p:nvSpPr>
          <p:cNvPr id="72" name="Shape 69"/>
          <p:cNvSpPr/>
          <p:nvPr/>
        </p:nvSpPr>
        <p:spPr>
          <a:xfrm>
            <a:off x="8280197" y="527608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80197" y="5276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74" name="Text 71"/>
          <p:cNvSpPr txBox="1"/>
          <p:nvPr/>
        </p:nvSpPr>
        <p:spPr>
          <a:xfrm>
            <a:off x="8618525" y="525780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못 미치면 다음 달로 이월</a:t>
            </a:r>
            <a:endParaRPr lang="en-US" sz="1030" dirty="0"/>
          </a:p>
        </p:txBody>
      </p:sp>
      <p:sp>
        <p:nvSpPr>
          <p:cNvPr id="75" name="Shape 72"/>
          <p:cNvSpPr/>
          <p:nvPr/>
        </p:nvSpPr>
        <p:spPr>
          <a:xfrm>
            <a:off x="8280197" y="5605272"/>
            <a:ext cx="299709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80197" y="5669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매장에 돈을 달라고 할 일이 없습니다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유어딜 정산 프로세스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제휴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사장님의 매출과 인플루언서님의 수익을 함께 올려갑니다.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한 번으로 시작하고, 매장이 늘수록 링크가 늘어납니다. 내가 내는 돈은 없습니다.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514600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496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또는 코드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496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대행사가 보낸 링크를 탭하거나, 마이페이지에서 매장 코드를 입력합니다. 가입과 매칭이 한 번에 됩니다.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" y="3172968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섭외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3154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아는 가게가 있으면 중개사 계정으로 등록합니다. 코드가 생기고, 사장님은 그 코드로 가입해 주인이 됩니다.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" y="3831336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831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813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공유와 정산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링크를 걸고, 적립과 정산은 마이페이지에서 확인합니다.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85800" y="4617720"/>
            <a:ext cx="4206240" cy="160020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873752"/>
            <a:ext cx="201168" cy="201168"/>
          </a:xfrm>
          <a:prstGeom prst="rect">
            <a:avLst/>
          </a:prstGeom>
        </p:spPr>
      </p:pic>
      <p:sp>
        <p:nvSpPr>
          <p:cNvPr id="22" name="Text 18">
            <a:hlinkClick r:id="rId3" tooltip="유어딜"/>
          </p:cNvPr>
          <p:cNvSpPr txBox="1"/>
          <p:nvPr/>
        </p:nvSpPr>
        <p:spPr>
          <a:xfrm>
            <a:off x="1280160" y="4818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 invalidUrl="" action="" tgtFrame="" tooltip="유어딜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https://urdeal.kr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280160" y="50657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</a:t>
            </a:r>
            <a:endParaRPr lang="en-US" sz="8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330952"/>
            <a:ext cx="201168" cy="201168"/>
          </a:xfrm>
          <a:prstGeom prst="rect">
            <a:avLst/>
          </a:prstGeom>
        </p:spPr>
      </p:pic>
      <p:sp>
        <p:nvSpPr>
          <p:cNvPr id="25" name="Text 20">
            <a:hlinkClick r:id="rId5" tooltip="카카오톡 채널 상담"/>
          </p:cNvPr>
          <p:cNvSpPr txBox="1"/>
          <p:nvPr/>
        </p:nvSpPr>
        <p:spPr>
          <a:xfrm>
            <a:off x="1280160" y="5276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5" invalidUrl="" action="" tgtFrame="" tooltip="카카오톡 채널 상담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https://pf.kakao.com/_AITdn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1280160" y="55229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카카오톡 채널 상담</a:t>
            </a:r>
            <a:endParaRPr lang="en-US" sz="8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788152"/>
            <a:ext cx="201168" cy="201168"/>
          </a:xfrm>
          <a:prstGeom prst="rect">
            <a:avLst/>
          </a:prstGeom>
        </p:spPr>
      </p:pic>
      <p:sp>
        <p:nvSpPr>
          <p:cNvPr id="28" name="Text 22">
            <a:hlinkClick r:id="rId7" tooltip="제휴 문의"/>
          </p:cNvPr>
          <p:cNvSpPr txBox="1"/>
          <p:nvPr/>
        </p:nvSpPr>
        <p:spPr>
          <a:xfrm>
            <a:off x="1280160" y="5733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7" invalidUrl="" action="" tgtFrame="" tooltip="제휴 문의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jiwon@ur-team.com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280160" y="59801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 문의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5166360" y="59436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리스터코퍼레이션 · 사업자등록번호 479-09-02930</a:t>
            </a:r>
            <a:endParaRPr lang="en-US" sz="9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6773" y="717213"/>
            <a:ext cx="2813205" cy="537785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50392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가입하면 생기는 내 유어샵 (라이브 화면)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title(slide, text, { dark = false, y = 1.15, size = 27, w = W - 2 * M } = {}) {
    T(slide, text, { x: M, y, w, h: 0.9, fontSize: size, bold: true, color: dark ? C.darkText : C.ink, valign: 'top', lineSpacingMultiple: 1.15, charSpacing: -0.6 });
  }</dc:title>
  <dc:subject>PptxGenJS Presentation</dc:subject>
  <dc:creator>리스터코퍼레이션</dc:creator>
  <cp:lastModifiedBy>리스터코퍼레이션</cp:lastModifiedBy>
  <cp:revision>1</cp:revision>
  <dcterms:created xsi:type="dcterms:W3CDTF">2026-10-12T14:01:01Z</dcterms:created>
  <dcterms:modified xsi:type="dcterms:W3CDTF">2026-10-12T14:01:01Z</dcterms:modified>
</cp:coreProperties>
</file>