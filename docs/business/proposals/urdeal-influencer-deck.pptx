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딜 소개비: 매장 제안 %, 상한 없음, 매장 부담(actor-benefit-map Q2-1). 영입 2%: influencer-store-intro-commission.ts (직접 입점만, 1년, 유어딜 몫). 비용 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유어샵 자동 생성: KakaoAuthService.upsertUser (가입 시 handle 발급). 만료 환불: auto-settlement.ts handleExpiredVoucherRefunds. 귀속: affiliate 링크 추적.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캡처 4장: home / detail / use / shop. 사장님 덱 3장과 같은 블록(customerSteps).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직접 10% / 중개 5%: fee-resolver.ts. 카드 수수료 약 2.75%: DEFAULT_PG_RESERVE_PCT (변동 가능). 딜 소개비: 매장 부담(store-operator-model §7). 영입 2%: 플랫폼 10% 안에서(09-07 Q4-2 확정, 예산 아비터).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딜 소개비: influencer-deals(매장 제안 %, 상한 없음). 영입: influencer-store-intro-commission.ts (store_channel=direct 만, referral_bonus_until 1년, 주인 바뀌어도 유지 09-07). "딜 있을 때만": /influencer 랜딩 고지 + affiliate_program_enabled 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상품 2888 실측 16,500원. 16,500×42=693,000 · ×12%=83,160 · ×8.8%=7,318(내림) · 75,842. 영입 2%: 693,000×2%=13,860. 원천징수 SSOT tax-withholding.ts (3.3/8.8). 회수: clawback (T+7).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CreatorApplyPage(/creators/apply → /api/creator-apply). 제안 수락: /i/offer/:token (InfluencerOfferAcceptPage) → tracking_url 발급. 정산 화면: /influencer/settlement.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초대 링크: /influencer/settlement 의 /store/new?ref=&lt;id&gt;. 직접 입점 조건: store_channel=direct (08-31 확정, 미지정=미지급). 1년: referral_bonus_until. 주인 변경 유지: 09-07 store-handover 결정.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유어샵: CuratorPage /u/:handle (핀). 유어쇼츠: /videos (urshorts.routes, 크리에이터 몫 0 — 09-08 동의 게이트 폐기). 담기 보상 0 (affiliate_program_enabled OFF).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influencer-payout.ts: T+7 available, 매월 1일 18시 KST 집계, 현금 최소 influencer_payout_min(기본 100,000), 딜 수령은 하한 없음, 실제 지급은 어드민 /admin/influencer-payouts (사람). 원천징수 WITHHOLDING_RATES 3.3/8.8.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09-14: 정직 고지 블록 제거(대표 — 사장님 덱과 같은 판단). FAQ 6 개를 크게.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신청: /creators/apply → /api/creator-apply. 연락처는 대표 지정값(사장님 덱과 동일).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234440"/>
            <a:ext cx="6766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spc="-15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팔로워에게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spc="-15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광고를 팔지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spc="-15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않습니다.</a:t>
            </a:r>
            <a:endParaRPr lang="en-US" sz="46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384048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동네에서 진짜 쓰는 이용권을 건넵니다. 매장이 소개비 %를 정해 제안하고, 나는 링크 하나를 겁니다. 재고도 배송도 응대도 내 몫이 아닙니다.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47091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정한 %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530352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딜 소개비. 판매가 기준,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딜마다 제안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2926080" y="47091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2%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2926080" y="530352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데려온 매장 매출의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1년간, 직접 입점만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166360" y="47091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5166360" y="530352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가입비, 이용료,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내는 비용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122" y="747042"/>
            <a:ext cx="2997247" cy="572967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배송되는 물건이 아니라, 동네에서 바로 쓰는 권리를 팝니다.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7452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식당, 카페, 뷰티, 숙박 이용권을 온라인 할인가로 파는 로컬 커머스입니다. 손님은 미리 사고, 가게에 가서 QR 로 씁니다. 택배가 오가지 않으니 품절도 오배송도 반품도 없습니다.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78892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898282"/>
            <a:ext cx="201900" cy="201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80160" y="278892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1280160" y="31089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식사, 뷰티, 숙박, 액티비티. 할인가와 유효기간은 매장이 정합니다. 유효기간이 지나도 안 쓴 이용권은 유어딜이 손님에게 100% 환불합니다.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685800" y="368503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162" y="3794394"/>
            <a:ext cx="201900" cy="2019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80160" y="368503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가입하면 누구나 유어샵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1280160" y="4005072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urdeal.kr/u/내주소 하나가 생깁니다. 담아 둔 이용권이 한 곳에 진열되는 내 페이지라, 프로필 링크는 이것만 걸면 됩니다.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685800" y="4581144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162" y="4690506"/>
            <a:ext cx="201900" cy="2019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280160" y="4581144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하는 일은 링크 하나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1280160" y="4901184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스토리, 릴스, 카톡, 더보기, 블로그 어디든 됩니다. 귀속은 링크로 자동 추적되니 쿠폰 코드를 불러 줄 일이 없습니다.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685800" y="5477256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162" y="5586618"/>
            <a:ext cx="201900" cy="20190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280160" y="5477256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결제, 발급, 정산, 세금은 유어딜</a:t>
            </a:r>
            <a:endParaRPr lang="en-US" sz="1400" dirty="0"/>
          </a:p>
        </p:txBody>
      </p:sp>
      <p:sp>
        <p:nvSpPr>
          <p:cNvPr id="22" name="Text 15"/>
          <p:cNvSpPr txBox="1"/>
          <p:nvPr/>
        </p:nvSpPr>
        <p:spPr>
          <a:xfrm>
            <a:off x="1280160" y="5797296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토스 결제, 이용권 발급, 매장 QR 확인, 원천징수까지 유어딜이 합니다. 매장에 돈을 달라고 할 일이 없습니다.</a:t>
            </a:r>
            <a:endParaRPr lang="en-US" sz="110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5642" y="847562"/>
            <a:ext cx="2892080" cy="5528636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8229600" y="6272784"/>
            <a:ext cx="312416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상세 (라이브 화면)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팔로워가 겪는 순서는 네 화면이 전부입니다.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urdeal.kr 에서 그대로 캡처한 화면입니다. 앱을 새로 깔거나 가입을 강요하는 구간은 없습니다. 가격은 매장이 정한 실제 판매가입니다.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1177211" y="226771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77211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050" y="2693890"/>
            <a:ext cx="1630082" cy="31161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20040" y="5815584"/>
            <a:ext cx="20801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찾기: 홈에서 동네 이용권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334382" y="226771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334382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2221" y="2693890"/>
            <a:ext cx="1630082" cy="311614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477211" y="5815584"/>
            <a:ext cx="20801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결제: 정가와 할인가를 함께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7491553" y="226771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91553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9392" y="2693890"/>
            <a:ext cx="1630082" cy="311614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634382" y="5815584"/>
            <a:ext cx="20801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발급: 결제 즉시 내 이용권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10648724" y="226771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10648724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16564" y="2693890"/>
            <a:ext cx="1630082" cy="311614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9791554" y="5815584"/>
            <a:ext cx="20801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사용: 매장에서 QR 또는 확인코드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낸 돈은 이렇게 갈립니다. 내 몫이 붙는 자리는 두 곳입니다.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사장님과 대행사에게 보여드리는 그림과 같은 그림입니다. 숫자를 숨기지 않습니다.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8580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결제</a:t>
            </a:r>
            <a:endParaRPr lang="en-US" sz="10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624328"/>
            <a:ext cx="219456" cy="21945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15468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315468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카드사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315468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 처리</a:t>
            </a:r>
            <a:endParaRPr lang="en-US" sz="10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5232" y="2624328"/>
            <a:ext cx="219456" cy="219456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562356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62356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562356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10%</a:t>
            </a:r>
            <a:endParaRPr lang="en-US" sz="10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4112" y="2624328"/>
            <a:ext cx="219456" cy="21945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809244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809244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809244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90%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416052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23" name="Text 17"/>
          <p:cNvSpPr txBox="1"/>
          <p:nvPr/>
        </p:nvSpPr>
        <p:spPr>
          <a:xfrm>
            <a:off x="3154680" y="347472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2.75%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3063240" y="3803904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결제 수수료.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자기 몫 안에서 냅니다.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카드사 정책에 따라 바뀔 수 있습니다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662940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26" name="Shape 20"/>
          <p:cNvSpPr/>
          <p:nvPr/>
        </p:nvSpPr>
        <p:spPr>
          <a:xfrm>
            <a:off x="5513832" y="3401568"/>
            <a:ext cx="2231136" cy="1389888"/>
          </a:xfrm>
          <a:prstGeom prst="roundRect">
            <a:avLst>
              <a:gd name="adj" fmla="val 9211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5623560" y="347472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-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영입 2%</a:t>
            </a:r>
            <a:endParaRPr lang="en-US" sz="1500" dirty="0"/>
          </a:p>
        </p:txBody>
      </p:sp>
      <p:sp>
        <p:nvSpPr>
          <p:cNvPr id="28" name="Text 22"/>
          <p:cNvSpPr txBox="1"/>
          <p:nvPr/>
        </p:nvSpPr>
        <p:spPr>
          <a:xfrm>
            <a:off x="5532120" y="3803904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데려온 매장이면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몫 안에서 나에게.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입점 매장만, 1년</a:t>
            </a:r>
            <a:endParaRPr lang="en-US" sz="950" dirty="0"/>
          </a:p>
        </p:txBody>
      </p:sp>
      <p:sp>
        <p:nvSpPr>
          <p:cNvPr id="29" name="Shape 23"/>
          <p:cNvSpPr/>
          <p:nvPr/>
        </p:nvSpPr>
        <p:spPr>
          <a:xfrm>
            <a:off x="909828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30" name="Shape 24"/>
          <p:cNvSpPr/>
          <p:nvPr/>
        </p:nvSpPr>
        <p:spPr>
          <a:xfrm>
            <a:off x="7982712" y="3401568"/>
            <a:ext cx="2231136" cy="1389888"/>
          </a:xfrm>
          <a:prstGeom prst="roundRect">
            <a:avLst>
              <a:gd name="adj" fmla="val 9211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8092440" y="347472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-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딜 소개비 %</a:t>
            </a:r>
            <a:endParaRPr lang="en-US" sz="1500" dirty="0"/>
          </a:p>
        </p:txBody>
      </p:sp>
      <p:sp>
        <p:nvSpPr>
          <p:cNvPr id="32" name="Text 26"/>
          <p:cNvSpPr txBox="1"/>
          <p:nvPr/>
        </p:nvSpPr>
        <p:spPr>
          <a:xfrm>
            <a:off x="8001000" y="3803904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나에게 제안한 %.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몫 90% 안에서,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링크로 팔린 건에만</a:t>
            </a:r>
            <a:endParaRPr lang="en-US" sz="950" dirty="0"/>
          </a:p>
        </p:txBody>
      </p:sp>
      <p:sp>
        <p:nvSpPr>
          <p:cNvPr id="33" name="Shape 27"/>
          <p:cNvSpPr/>
          <p:nvPr/>
        </p:nvSpPr>
        <p:spPr>
          <a:xfrm>
            <a:off x="685800" y="4892040"/>
            <a:ext cx="5272888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4" name="Text 28"/>
          <p:cNvSpPr txBox="1"/>
          <p:nvPr/>
        </p:nvSpPr>
        <p:spPr>
          <a:xfrm>
            <a:off x="914400" y="5020056"/>
            <a:ext cx="481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딜 소개비는 매장이 냅니다</a:t>
            </a:r>
            <a:endParaRPr lang="en-US" sz="1150" dirty="0"/>
          </a:p>
        </p:txBody>
      </p:sp>
      <p:sp>
        <p:nvSpPr>
          <p:cNvPr id="35" name="Text 29"/>
          <p:cNvSpPr txBox="1"/>
          <p:nvPr/>
        </p:nvSpPr>
        <p:spPr>
          <a:xfrm>
            <a:off x="914400" y="5294376"/>
            <a:ext cx="4815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플랫폼이 정한 고정 요율이 아닙니다. 매장이 딜마다 제안한 비율이 그대로 적립되고, 유어딜이 중간에서 깎지 않습니다. 매장이 제안하지 않은 이용권에는 소개비가 없습니다.</a:t>
            </a:r>
            <a:endParaRPr lang="en-US" sz="950" dirty="0"/>
          </a:p>
        </p:txBody>
      </p:sp>
      <p:sp>
        <p:nvSpPr>
          <p:cNvPr id="36" name="Shape 30"/>
          <p:cNvSpPr/>
          <p:nvPr/>
        </p:nvSpPr>
        <p:spPr>
          <a:xfrm>
            <a:off x="6233008" y="4892040"/>
            <a:ext cx="5272888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7" name="Text 31"/>
          <p:cNvSpPr txBox="1"/>
          <p:nvPr/>
        </p:nvSpPr>
        <p:spPr>
          <a:xfrm>
            <a:off x="6461608" y="5020056"/>
            <a:ext cx="481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영입 2%는 유어딜이 냅니다</a:t>
            </a:r>
            <a:endParaRPr lang="en-US" sz="1150" dirty="0"/>
          </a:p>
        </p:txBody>
      </p:sp>
      <p:sp>
        <p:nvSpPr>
          <p:cNvPr id="38" name="Text 32"/>
          <p:cNvSpPr txBox="1"/>
          <p:nvPr/>
        </p:nvSpPr>
        <p:spPr>
          <a:xfrm>
            <a:off x="6461608" y="5294376"/>
            <a:ext cx="4815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소개로 직접 입점한 매장의 매출에서 1년간 유어딜 몫 10% 안에서 드립니다. 사장님 몫에서 떼지 않으니 사장님께 부담을 지우지 않습니다.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수익은 두 갈래입니다. 둘 다 내 링크로 팔린 뒤에만 붙습니다.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5250028" cy="2788920"/>
          </a:xfrm>
          <a:prstGeom prst="roundRect">
            <a:avLst>
              <a:gd name="adj" fmla="val 45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60120" y="22402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482" y="2349642"/>
            <a:ext cx="201900" cy="201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554480" y="2240280"/>
            <a:ext cx="41527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4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주문마다 붙는 딜 소개비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1554480" y="2514600"/>
            <a:ext cx="41527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 금액 × 매장이 제안한 %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960120" y="2898648"/>
            <a:ext cx="47013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"이 이용권 팔아 주면 몇 %" 를 적어 제안합니다. 수락하면 그 자리에서 내 전용 링크가 나오고, 그 링크로 팔린 건마다 그 %가 쌓입니다. 상한이 없고, 유어딜이 중간에서 떼지 않습니다. 제안에 콘텐츠 조건이나 기간이 붙으면 그 조건을 지킨 건에만 붙습니다.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960120" y="3749040"/>
            <a:ext cx="300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재원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3545883" y="3749040"/>
            <a:ext cx="2115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몫 안에서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960120" y="4059936"/>
            <a:ext cx="300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비율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3545883" y="4059936"/>
            <a:ext cx="2115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딜마다 제안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4370832"/>
            <a:ext cx="300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상한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3545883" y="4370832"/>
            <a:ext cx="2115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6255868" y="1965960"/>
            <a:ext cx="5250028" cy="2788920"/>
          </a:xfrm>
          <a:prstGeom prst="roundRect">
            <a:avLst>
              <a:gd name="adj" fmla="val 45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530188" y="22402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9550" y="2349642"/>
            <a:ext cx="201900" cy="20190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124548" y="2240280"/>
            <a:ext cx="41527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4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1년간 붙는 영입 소개비</a:t>
            </a:r>
            <a:endParaRPr lang="en-US" sz="1450" dirty="0"/>
          </a:p>
        </p:txBody>
      </p:sp>
      <p:sp>
        <p:nvSpPr>
          <p:cNvPr id="22" name="Text 17"/>
          <p:cNvSpPr txBox="1"/>
          <p:nvPr/>
        </p:nvSpPr>
        <p:spPr>
          <a:xfrm>
            <a:off x="7124548" y="2514600"/>
            <a:ext cx="41527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매장 매출 × 2%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6530188" y="2898648"/>
            <a:ext cx="47013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초대 링크로 사장님이 직접 입점하면, 그 매장의 모든 이용권 매출에서 2%가 1년간 나에게 옵니다. 내가 그 딜을 다시 공유하지 않아도, 다른 사람 링크로 팔려도 쌓입니다. 매장이 주인을 바꿔도 유지됩니다.</a:t>
            </a:r>
            <a:endParaRPr 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6530188" y="3749040"/>
            <a:ext cx="300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재원</a:t>
            </a:r>
            <a:endParaRPr lang="en-US" sz="1150" dirty="0"/>
          </a:p>
        </p:txBody>
      </p:sp>
      <p:sp>
        <p:nvSpPr>
          <p:cNvPr id="25" name="Text 20"/>
          <p:cNvSpPr txBox="1"/>
          <p:nvPr/>
        </p:nvSpPr>
        <p:spPr>
          <a:xfrm>
            <a:off x="9115951" y="3749040"/>
            <a:ext cx="2115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몫 10% 안에서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6530188" y="4059936"/>
            <a:ext cx="300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조건</a:t>
            </a:r>
            <a:endParaRPr lang="en-US" sz="1150" dirty="0"/>
          </a:p>
        </p:txBody>
      </p:sp>
      <p:sp>
        <p:nvSpPr>
          <p:cNvPr id="27" name="Text 22"/>
          <p:cNvSpPr txBox="1"/>
          <p:nvPr/>
        </p:nvSpPr>
        <p:spPr>
          <a:xfrm>
            <a:off x="9115951" y="4059936"/>
            <a:ext cx="2115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입점 매장만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6530188" y="4370832"/>
            <a:ext cx="300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기간</a:t>
            </a:r>
            <a:endParaRPr lang="en-US" sz="1150" dirty="0"/>
          </a:p>
        </p:txBody>
      </p:sp>
      <p:sp>
        <p:nvSpPr>
          <p:cNvPr id="29" name="Text 24"/>
          <p:cNvSpPr txBox="1"/>
          <p:nvPr/>
        </p:nvSpPr>
        <p:spPr>
          <a:xfrm>
            <a:off x="9115951" y="4370832"/>
            <a:ext cx="2115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입점일부터 1년</a:t>
            </a:r>
            <a:endParaRPr lang="en-US" sz="1200" dirty="0"/>
          </a:p>
        </p:txBody>
      </p:sp>
      <p:sp>
        <p:nvSpPr>
          <p:cNvPr id="30" name="Shape 25"/>
          <p:cNvSpPr/>
          <p:nvPr/>
        </p:nvSpPr>
        <p:spPr>
          <a:xfrm>
            <a:off x="685800" y="4983480"/>
            <a:ext cx="10820095" cy="1051560"/>
          </a:xfrm>
          <a:prstGeom prst="roundRect">
            <a:avLst>
              <a:gd name="adj" fmla="val 12174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960120" y="512064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이용권에 소개비가 붙는 것은 아닙니다</a:t>
            </a:r>
            <a:endParaRPr lang="en-US" sz="1250" dirty="0"/>
          </a:p>
        </p:txBody>
      </p:sp>
      <p:sp>
        <p:nvSpPr>
          <p:cNvPr id="32" name="Text 27"/>
          <p:cNvSpPr txBox="1"/>
          <p:nvPr/>
        </p:nvSpPr>
        <p:spPr>
          <a:xfrm>
            <a:off x="960120" y="5413248"/>
            <a:ext cx="102714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유어샵에 담는 것은 누구나 할 수 있지만, 소개비는 매장과 맺은 딜이 있을 때만 붙습니다. 딜 없이 담아 둔 이용권이 팔리면 0원입니다. 사이트의 소개자 페이지에도 같은 문장이 적혀 있습니다.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계산해 보면 이렇습니다. 지금 팔리는 실제 이용권으로 넣었습니다.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5394960" cy="4251960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1005840" y="21488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가정: 치즈돈가스 2인 세트 이용권을 한 달에 42건 팔았다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2468880"/>
            <a:ext cx="30431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판매가 (정가 25,000원의 34% 할인)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3621024" y="2468880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16,500원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2862072"/>
            <a:ext cx="30431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42건 판매 금액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621024" y="2862072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693,000원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05840" y="3227832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05840" y="3255264"/>
            <a:ext cx="30431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제안한 소개비 12% (가정)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3621024" y="3255264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83,160원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" y="3648456"/>
            <a:ext cx="30431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기타소득 원천징수 8.8% (비사업자)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3621024" y="3648456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7,318원 차감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1005840" y="4014216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05840" y="4041648"/>
            <a:ext cx="30431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통장에 들어오는 돈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3621024" y="4041648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75,842원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005840" y="4434840"/>
            <a:ext cx="30431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데려온 매장이라면 영입 2% 추가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3621024" y="4434840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13,860원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005840" y="493776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 12%와 42건은 가정입니다. 실제 비율은 딜마다 매장이 제시하고, 판매 건수는 내 채널이 정합니다. 사업자라면 원천징수는 3.3%입니다.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446520" y="2011680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127" y="2116287"/>
            <a:ext cx="193121" cy="193121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7040880" y="2011680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내는 돈이 없다</a:t>
            </a:r>
            <a:endParaRPr lang="en-US" sz="1350" dirty="0"/>
          </a:p>
        </p:txBody>
      </p:sp>
      <p:sp>
        <p:nvSpPr>
          <p:cNvPr id="26" name="Text 22"/>
          <p:cNvSpPr txBox="1"/>
          <p:nvPr/>
        </p:nvSpPr>
        <p:spPr>
          <a:xfrm>
            <a:off x="7040880" y="2340864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가입비도 이용료도 없습니다. 소개비는 매장이, 영입비는 유어딜이 냅니다. 내 지출이 생기는 지점이 없습니다.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6446520" y="3090672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127" y="3195279"/>
            <a:ext cx="193121" cy="193121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7040880" y="3090672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재고, 배송, 반품 응대가 없다</a:t>
            </a:r>
            <a:endParaRPr lang="en-US" sz="1350" dirty="0"/>
          </a:p>
        </p:txBody>
      </p:sp>
      <p:sp>
        <p:nvSpPr>
          <p:cNvPr id="30" name="Text 25"/>
          <p:cNvSpPr txBox="1"/>
          <p:nvPr/>
        </p:nvSpPr>
        <p:spPr>
          <a:xfrm>
            <a:off x="7040880" y="3419856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매장에서 쓰는 권리라 택배가 오가지 않습니다. 공동구매를 열었다가 품절 문의를 혼자 받는 일이 생기지 않습니다.</a:t>
            </a:r>
            <a:endParaRPr lang="en-US" sz="1100" dirty="0"/>
          </a:p>
        </p:txBody>
      </p:sp>
      <p:sp>
        <p:nvSpPr>
          <p:cNvPr id="31" name="Shape 26"/>
          <p:cNvSpPr/>
          <p:nvPr/>
        </p:nvSpPr>
        <p:spPr>
          <a:xfrm>
            <a:off x="6446520" y="4169664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127" y="4274271"/>
            <a:ext cx="193121" cy="193121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7040880" y="4169664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캠페인이 끝나도 내 주소가 남는다</a:t>
            </a:r>
            <a:endParaRPr lang="en-US" sz="1350" dirty="0"/>
          </a:p>
        </p:txBody>
      </p:sp>
      <p:sp>
        <p:nvSpPr>
          <p:cNvPr id="34" name="Text 28"/>
          <p:cNvSpPr txBox="1"/>
          <p:nvPr/>
        </p:nvSpPr>
        <p:spPr>
          <a:xfrm>
            <a:off x="7040880" y="4498848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유어샵과 거기 담아 둔 이용권은 그대로 남습니다. 매번 새 링크로 시작하는 대신 한 주소에 쌓입니다.</a:t>
            </a:r>
            <a:endParaRPr lang="en-US" sz="1100" dirty="0"/>
          </a:p>
        </p:txBody>
      </p:sp>
      <p:sp>
        <p:nvSpPr>
          <p:cNvPr id="35" name="Shape 29"/>
          <p:cNvSpPr/>
          <p:nvPr/>
        </p:nvSpPr>
        <p:spPr>
          <a:xfrm>
            <a:off x="6446520" y="5248656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1127" y="5353263"/>
            <a:ext cx="193121" cy="193121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7040880" y="5248656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환불되면 그 건만 회수된다</a:t>
            </a:r>
            <a:endParaRPr lang="en-US" sz="1350" dirty="0"/>
          </a:p>
        </p:txBody>
      </p:sp>
      <p:sp>
        <p:nvSpPr>
          <p:cNvPr id="38" name="Text 31"/>
          <p:cNvSpPr txBox="1"/>
          <p:nvPr/>
        </p:nvSpPr>
        <p:spPr>
          <a:xfrm>
            <a:off x="7040880" y="5577840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환불이나 취소된 주문의 소개비는 자동으로 회수됩니다. 그래서 확정까지 7일을 기다립니다.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경로 A. 제안을 받고, 공유합니다.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7498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섭외가 필요 없습니다. 신청해 두면 조건을 담은 제안이 오고, 수락하면 그 자리에서 팔 수 있습니다. 수락하기 전까지 아무 의무도 생기지 않습니다.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715768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157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26974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신청서를 남기고, 프로필을 공개한다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1188720" y="3008376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urdeal.kr/creators/apply 에 채널과 활동 지역을 적고, 카카오 로그인 뒤 내 정산 화면에서 소개자 프로필을 "공개"로 켭니다. 매장은 공개된 프로필을 보고 제안을 보냅니다. 팔로워 수 하한은 없습니다.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85800" y="3502152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3502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1188720" y="3483864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제안을 보고 수락한다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37947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이용권과 소개비 %, 촬영 지원 여부를 담아 보냅니다. 수락하는 순간 조건이 발효되고 내 전용 링크가 발급됩니다.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85800" y="4288536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42885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1188720" y="4270248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콘텐츠에 링크를 건다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1188720" y="4581144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스토리, 릴스, 카톡, 유튜브 더보기, 블로그 어디든 됩니다. 유어샵에 담아 두면 콘텐츠가 내려가도 판매는 이어집니다.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85800" y="5074920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5074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1188720" y="5056632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성과와 정산을 확인한다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1188720" y="5367528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정산 화면에서 딜별 주문과 대기, 확정 금액을 봅니다. 매장에 판매량을 물어볼 일이 없습니다.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685800" y="5861304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하지 않아도 되는 일: 가격 협상, 재고 관리, 배송과 포장, 결제 처리, 환불 응대, 세금계산서, 쿠폰 코드 확인.</a:t>
            </a:r>
            <a:endParaRPr lang="en-US" sz="105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6773" y="717213"/>
            <a:ext cx="2813205" cy="5377855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850392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보낸 제안 (예시 데이터로 렌더한 실제 화면)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경로 B. 내가 아는 가게를 데려옵니다. 영입 2%가 붙는 유일한 경로입니다.</a:t>
            </a:r>
            <a:endParaRPr lang="en-US" sz="25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사장님을 설득하는 일이 아니라, 열어 두면 손해 볼 게 없다는 것을 알려 드리는 일에 가깝습니다. 내 정산 화면의 매장 초대 링크를 보내면 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606040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606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0632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고른다</a:t>
            </a:r>
            <a:endParaRPr lang="en-US" sz="12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728" y="2670048"/>
            <a:ext cx="219456" cy="21945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633472" y="2606040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2633472" y="2606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2633472" y="30632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초대 링크를 보낸다</a:t>
            </a:r>
            <a:endParaRPr lang="en-US" sz="12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2670048"/>
            <a:ext cx="219456" cy="219456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4581144" y="2606040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581144" y="2606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7" name="Text 12"/>
          <p:cNvSpPr txBox="1"/>
          <p:nvPr/>
        </p:nvSpPr>
        <p:spPr>
          <a:xfrm>
            <a:off x="4581144" y="30632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직접 입점한다</a:t>
            </a:r>
            <a:endParaRPr lang="en-US" sz="12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1072" y="2670048"/>
            <a:ext cx="219456" cy="21945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528816" y="2606040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6528816" y="2606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1" name="Text 15"/>
          <p:cNvSpPr txBox="1"/>
          <p:nvPr/>
        </p:nvSpPr>
        <p:spPr>
          <a:xfrm>
            <a:off x="6528816" y="30632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제안이 오면 수락한다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85800" y="36576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4번부터는 경로 A 와 같습니다. 입점은 카카오 로그인과 사업자 확인이 필요해 사장님이 직접 합니다. 10분이면 끝납니다.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685800" y="4160520"/>
            <a:ext cx="74980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4" name="Text 18"/>
          <p:cNvSpPr txBox="1"/>
          <p:nvPr/>
        </p:nvSpPr>
        <p:spPr>
          <a:xfrm>
            <a:off x="960120" y="434340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사장님께 이렇게 말하면 됩니다</a:t>
            </a:r>
            <a:endParaRPr lang="en-US" sz="1000" dirty="0"/>
          </a:p>
        </p:txBody>
      </p:sp>
      <p:sp>
        <p:nvSpPr>
          <p:cNvPr id="25" name="Text 19"/>
          <p:cNvSpPr txBox="1"/>
          <p:nvPr/>
        </p:nvSpPr>
        <p:spPr>
          <a:xfrm>
            <a:off x="960120" y="4663440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가입비도 월 이용료도 없어요. </a:t>
            </a:r>
            <a:pPr indent="0" marL="0"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만큼만 수수료가 나갑니다.</a:t>
            </a:r>
            <a:endParaRPr lang="en-US" sz="1100" dirty="0"/>
          </a:p>
        </p:txBody>
      </p:sp>
      <p:sp>
        <p:nvSpPr>
          <p:cNvPr id="26" name="Text 20"/>
          <p:cNvSpPr txBox="1"/>
          <p:nvPr/>
        </p:nvSpPr>
        <p:spPr>
          <a:xfrm>
            <a:off x="960120" y="5029200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배달앱이 아니에요. </a:t>
            </a:r>
            <a:pPr indent="0" marL="0"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온라인에서 할인가로 미리 팔고, 손님은 가게에 와서 QR 로 씁니다.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960120" y="5394960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소개비는 사장님이 정하세요. </a:t>
            </a:r>
            <a:pPr indent="0" marL="0"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나가는 광고비가 없습니다.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960120" y="5760720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쓴 이용권은 유어딜이 환불해요. </a:t>
            </a:r>
            <a:pPr indent="0" marL="0"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노쇼로 손해 보는 구조가 아닙니다.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8503920" y="2606040"/>
            <a:ext cx="3001975" cy="3566160"/>
          </a:xfrm>
          <a:prstGeom prst="roundRect">
            <a:avLst>
              <a:gd name="adj" fmla="val 4264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8778240" y="2788920"/>
            <a:ext cx="2453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2%가 붙는 조건</a:t>
            </a:r>
            <a:endParaRPr lang="en-US" sz="1250" dirty="0"/>
          </a:p>
        </p:txBody>
      </p:sp>
      <p:sp>
        <p:nvSpPr>
          <p:cNvPr id="31" name="Text 25"/>
          <p:cNvSpPr txBox="1"/>
          <p:nvPr/>
        </p:nvSpPr>
        <p:spPr>
          <a:xfrm>
            <a:off x="8778240" y="3154680"/>
            <a:ext cx="2453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입점</a:t>
            </a:r>
            <a:endParaRPr lang="en-US" sz="1100" dirty="0"/>
          </a:p>
        </p:txBody>
      </p:sp>
      <p:sp>
        <p:nvSpPr>
          <p:cNvPr id="32" name="Text 26"/>
          <p:cNvSpPr txBox="1"/>
          <p:nvPr/>
        </p:nvSpPr>
        <p:spPr>
          <a:xfrm>
            <a:off x="8778240" y="3401568"/>
            <a:ext cx="24533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"내 가게에요" 로 등록한 매장만. 대행사를 통해 등록한 매장은 대상이 아닙니다.</a:t>
            </a:r>
            <a:endParaRPr lang="en-US" sz="950" dirty="0"/>
          </a:p>
        </p:txBody>
      </p:sp>
      <p:sp>
        <p:nvSpPr>
          <p:cNvPr id="33" name="Text 27"/>
          <p:cNvSpPr txBox="1"/>
          <p:nvPr/>
        </p:nvSpPr>
        <p:spPr>
          <a:xfrm>
            <a:off x="8778240" y="3904488"/>
            <a:ext cx="2453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1년</a:t>
            </a:r>
            <a:endParaRPr lang="en-US" sz="1100" dirty="0"/>
          </a:p>
        </p:txBody>
      </p:sp>
      <p:sp>
        <p:nvSpPr>
          <p:cNvPr id="34" name="Text 28"/>
          <p:cNvSpPr txBox="1"/>
          <p:nvPr/>
        </p:nvSpPr>
        <p:spPr>
          <a:xfrm>
            <a:off x="8778240" y="4151376"/>
            <a:ext cx="24533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입점일부터 1년. 매장이 주인을 바꿔도 유지됩니다.</a:t>
            </a:r>
            <a:endParaRPr lang="en-US" sz="950" dirty="0"/>
          </a:p>
        </p:txBody>
      </p:sp>
      <p:sp>
        <p:nvSpPr>
          <p:cNvPr id="35" name="Text 29"/>
          <p:cNvSpPr txBox="1"/>
          <p:nvPr/>
        </p:nvSpPr>
        <p:spPr>
          <a:xfrm>
            <a:off x="8778240" y="4654296"/>
            <a:ext cx="2453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몫에서</a:t>
            </a:r>
            <a:endParaRPr lang="en-US" sz="1100" dirty="0"/>
          </a:p>
        </p:txBody>
      </p:sp>
      <p:sp>
        <p:nvSpPr>
          <p:cNvPr id="36" name="Text 30"/>
          <p:cNvSpPr txBox="1"/>
          <p:nvPr/>
        </p:nvSpPr>
        <p:spPr>
          <a:xfrm>
            <a:off x="8778240" y="4901184"/>
            <a:ext cx="24533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몫에서 떼지 않습니다. 사장님께 부담이 없다고 말씀드려도 됩니다.</a:t>
            </a:r>
            <a:endParaRPr lang="en-US" sz="950" dirty="0"/>
          </a:p>
        </p:txBody>
      </p:sp>
      <p:sp>
        <p:nvSpPr>
          <p:cNvPr id="37" name="Text 31"/>
          <p:cNvSpPr txBox="1"/>
          <p:nvPr/>
        </p:nvSpPr>
        <p:spPr>
          <a:xfrm>
            <a:off x="8778240" y="5404104"/>
            <a:ext cx="2453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가기 전에 확인</a:t>
            </a:r>
            <a:endParaRPr lang="en-US" sz="1100" dirty="0"/>
          </a:p>
        </p:txBody>
      </p:sp>
      <p:sp>
        <p:nvSpPr>
          <p:cNvPr id="38" name="Text 32"/>
          <p:cNvSpPr txBox="1"/>
          <p:nvPr/>
        </p:nvSpPr>
        <p:spPr>
          <a:xfrm>
            <a:off x="8778240" y="5650992"/>
            <a:ext cx="24533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사업자등록이 있는지, 손님이 방문해 쓰는 업종인지, 할인가에 팔아도 남는 메뉴가 있는지.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링크는 두 곳에 남습니다.</a:t>
            </a:r>
            <a:endParaRPr lang="en-US" sz="2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유어샵과 유어쇼츠.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4754880" cy="420624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60120" y="22402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482" y="2349642"/>
            <a:ext cx="201900" cy="201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554480" y="228600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4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유어샵 urdeal.kr/u/내주소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960120" y="278892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가입하면 자동으로 생기는 내 페이지입니다. 이용권을 담아 두면 한 곳에 진열되고, 프로필 링크는 이 주소 하나면 됩니다. 콘텐츠가 내려가도 여기서는 계속 팔립니다.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960120" y="3794760"/>
            <a:ext cx="26919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담기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3273552" y="3794760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누구나, 어떤 이용권이든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960120" y="4142232"/>
            <a:ext cx="26919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3273552" y="4142232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매장과 딜이 있는 것만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4489704"/>
            <a:ext cx="26919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카톡 공유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3273552" y="4489704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미리보기 카드 자동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960120" y="49834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482" y="5092842"/>
            <a:ext cx="201900" cy="20190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554480" y="502920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4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유어쇼츠</a:t>
            </a:r>
            <a:endParaRPr lang="en-US" sz="1450" dirty="0"/>
          </a:p>
        </p:txBody>
      </p:sp>
      <p:sp>
        <p:nvSpPr>
          <p:cNvPr id="20" name="Text 15"/>
          <p:cNvSpPr txBox="1"/>
          <p:nvPr/>
        </p:nvSpPr>
        <p:spPr>
          <a:xfrm>
            <a:off x="960120" y="539496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세로 영상 아래 구매 버튼이 붙는 자리입니다. 영상 자체에 대한 몫은 없고, 그 이용권에 매장과 맺은 딜이 있을 때 소개비가 붙습니다.</a:t>
            </a:r>
            <a:endParaRPr lang="en-US" sz="105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762" y="756122"/>
            <a:ext cx="2892080" cy="552863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760720" y="6181344"/>
            <a:ext cx="312416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유어샵 (라이브 화면)</a:t>
            </a:r>
            <a:endParaRPr lang="en-US" sz="1050" dirty="0"/>
          </a:p>
        </p:txBody>
      </p:sp>
      <p:sp>
        <p:nvSpPr>
          <p:cNvPr id="23" name="Text 17"/>
          <p:cNvSpPr txBox="1"/>
          <p:nvPr/>
        </p:nvSpPr>
        <p:spPr>
          <a:xfrm>
            <a:off x="9281160" y="2011680"/>
            <a:ext cx="2224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담는 방법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9281160" y="233172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9281160" y="2331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26" name="Text 20"/>
          <p:cNvSpPr txBox="1"/>
          <p:nvPr/>
        </p:nvSpPr>
        <p:spPr>
          <a:xfrm>
            <a:off x="9738360" y="2313432"/>
            <a:ext cx="1767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상세에서 담기</a:t>
            </a:r>
            <a:endParaRPr lang="en-US" sz="1200" dirty="0"/>
          </a:p>
        </p:txBody>
      </p:sp>
      <p:sp>
        <p:nvSpPr>
          <p:cNvPr id="27" name="Text 21"/>
          <p:cNvSpPr txBox="1"/>
          <p:nvPr/>
        </p:nvSpPr>
        <p:spPr>
          <a:xfrm>
            <a:off x="9281160" y="2715768"/>
            <a:ext cx="2224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마음에 드는 이용권 상세 화면의 담기 버튼을 누릅니다.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9281160" y="338328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9281160" y="33832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30" name="Text 24"/>
          <p:cNvSpPr txBox="1"/>
          <p:nvPr/>
        </p:nvSpPr>
        <p:spPr>
          <a:xfrm>
            <a:off x="9738360" y="3364992"/>
            <a:ext cx="1767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유어샵에 진열</a:t>
            </a:r>
            <a:endParaRPr lang="en-US" sz="1200" dirty="0"/>
          </a:p>
        </p:txBody>
      </p:sp>
      <p:sp>
        <p:nvSpPr>
          <p:cNvPr id="31" name="Text 25"/>
          <p:cNvSpPr txBox="1"/>
          <p:nvPr/>
        </p:nvSpPr>
        <p:spPr>
          <a:xfrm>
            <a:off x="9281160" y="3767328"/>
            <a:ext cx="2224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담은 순서대로 내 유어샵 카드가 됩니다. 순서는 바꿀 수 있습니다.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9281160" y="443484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9281160" y="4434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34" name="Text 28"/>
          <p:cNvSpPr txBox="1"/>
          <p:nvPr/>
        </p:nvSpPr>
        <p:spPr>
          <a:xfrm>
            <a:off x="9738360" y="4416552"/>
            <a:ext cx="1767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주소 하나만 공유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9281160" y="4818888"/>
            <a:ext cx="2224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프로필, 스토리, 더보기에 내 유어샵 주소를 겁니다.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정산은 이렇게 됩니다. 매장에 돈을 달라고 할 일이 없습니다.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귀속부터 송금까지 유어딜이 처리합니다. 화면에서 대기, 확정, 지급을 그대로 봅니다.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60604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606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1089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링크로 귀속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65760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링크로 들어온 주문에 자동으로 연결됩니다. 코드를 확인할 일이 없습니다.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7168" y="2679192"/>
            <a:ext cx="219456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724912" y="260604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724912" y="2606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2724912" y="31089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7일 뒤 확정</a:t>
            </a:r>
            <a:endParaRPr lang="en-US" sz="1250" dirty="0"/>
          </a:p>
        </p:txBody>
      </p:sp>
      <p:sp>
        <p:nvSpPr>
          <p:cNvPr id="15" name="Text 11"/>
          <p:cNvSpPr txBox="1"/>
          <p:nvPr/>
        </p:nvSpPr>
        <p:spPr>
          <a:xfrm>
            <a:off x="2724912" y="365760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 가능 기간이 지나면 지급 가능 상태가 됩니다. 환불된 건은 그 건만 회수됩니다.</a:t>
            </a:r>
            <a:endParaRPr lang="en-US" sz="10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2679192"/>
            <a:ext cx="219456" cy="219456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4764024" y="260604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4764024" y="2606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4764024" y="31089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매월 1일 집계</a:t>
            </a:r>
            <a:endParaRPr lang="en-US" sz="1250" dirty="0"/>
          </a:p>
        </p:txBody>
      </p:sp>
      <p:sp>
        <p:nvSpPr>
          <p:cNvPr id="20" name="Text 15"/>
          <p:cNvSpPr txBox="1"/>
          <p:nvPr/>
        </p:nvSpPr>
        <p:spPr>
          <a:xfrm>
            <a:off x="4764024" y="365760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지급 가능 금액을 모아 정산 대기로 올립니다. 화면에서 바로 보입니다.</a:t>
            </a:r>
            <a:endParaRPr lang="en-US" sz="100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92" y="2679192"/>
            <a:ext cx="219456" cy="219456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803136" y="260604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803136" y="2606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18"/>
          <p:cNvSpPr txBox="1"/>
          <p:nvPr/>
        </p:nvSpPr>
        <p:spPr>
          <a:xfrm>
            <a:off x="6803136" y="31089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확인 후 지급</a:t>
            </a:r>
            <a:endParaRPr lang="en-US" sz="1250" dirty="0"/>
          </a:p>
        </p:txBody>
      </p:sp>
      <p:sp>
        <p:nvSpPr>
          <p:cNvPr id="25" name="Text 19"/>
          <p:cNvSpPr txBox="1"/>
          <p:nvPr/>
        </p:nvSpPr>
        <p:spPr>
          <a:xfrm>
            <a:off x="6803136" y="365760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현금은 10만원부터, 원천징수를 뗀 뒤 등록 계좌로. 딜로 받으면 하한 없이 유어딜 잔액으로.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685800" y="4937760"/>
            <a:ext cx="7863840" cy="1234440"/>
          </a:xfrm>
          <a:prstGeom prst="roundRect">
            <a:avLst>
              <a:gd name="adj" fmla="val 1037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960120" y="5074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원천징수는 법대로, 대신 계산은 유어딜이</a:t>
            </a:r>
            <a:endParaRPr lang="en-US" sz="1200" dirty="0"/>
          </a:p>
        </p:txBody>
      </p:sp>
      <p:sp>
        <p:nvSpPr>
          <p:cNvPr id="28" name="Text 22"/>
          <p:cNvSpPr txBox="1"/>
          <p:nvPr/>
        </p:nvSpPr>
        <p:spPr>
          <a:xfrm>
            <a:off x="960120" y="536752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사업자는 사업소득 3.3%, 비사업자는 기타소득 8.8%를 떼고 보냅니다. 8.8%는 이듬해 5월 종합소득세 신고에서 정산되며 돌려받을 수 있습니다. 10만원에 못 미치면 다음 달로 이월되고 사라지지 않습니다. 계좌와 사업자번호는 내 정산 화면에서 직접 넣습니다.</a:t>
            </a:r>
            <a:endParaRPr lang="en-US" sz="1050" dirty="0"/>
          </a:p>
        </p:txBody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01093" y="717213"/>
            <a:ext cx="2813205" cy="537785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877824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정산 화면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협찬은 한 번 받고 끝나지만, 이 구조는 남습니다.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캠페인이 끝나도 내 유어샵과 링크는 그대로 남고, 매장과 맺은 딜은 계속 쌓입니다. 자주 묻는 질문에 먼저 답해 두었습니다.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560320"/>
            <a:ext cx="345429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960120" y="2779776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팔로워가 적어도 되나요?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3127248"/>
            <a:ext cx="29056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하한이 없습니다. 오히려 지역과 카테고리가 뚜렷한 채널이 동네 이용권과 잘 맞습니다.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68698" y="2560320"/>
            <a:ext cx="345429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643018" y="2779776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비용이 드나요?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4643018" y="3127248"/>
            <a:ext cx="29056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가입비도 이용료도 없습니다. 소개비는 매장이, 영입비는 유어딜이 냅니다.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8051597" y="2560320"/>
            <a:ext cx="345429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8325917" y="2779776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형식이 정해져 있나요?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8325917" y="3127248"/>
            <a:ext cx="29056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자유입니다. 제안에 조건이 붙어 있으면 그 조건을 지켜야 그 소개비가 발효됩니다.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85800" y="4389120"/>
            <a:ext cx="345429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960120" y="4608576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소개비가 안 붙는 이용권도 있나요?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960120" y="4956048"/>
            <a:ext cx="29056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있습니다. 매장과 맺은 딜이 없는 이용권은 담아 둘 수는 있지만 소개비가 0 입니다.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368698" y="4389120"/>
            <a:ext cx="345429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4643018" y="4608576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표시를 해야 하나요?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4643018" y="4956048"/>
            <a:ext cx="29056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네. 소개비를 받는 콘텐츠에는 "광고" 처럼 경제적 대가를 받았다는 표시가 법으로 필요합니다. 표시 없이 올린 콘텐츠의 책임은 유어딜이 대신 질 수 없습니다.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051597" y="4389120"/>
            <a:ext cx="345429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8325917" y="4608576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제안은 어떻게 오나요?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8325917" y="4956048"/>
            <a:ext cx="29056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신청서는 유어딜 담당자가 보고, 매장은 내가 공개해 둔 소개자 프로필을 보고 직접 보냅니다. 둘 다 해 두는 것이 빠릅니다.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하실 일은 신청서를 남기는 것, 그것뿐입니다.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수락하기 전까지 아무 의무도 생기지 않습니다. 조건을 보고 마음에 들지 않으면 수락하지 않으면 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51460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514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1143000" y="24963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신청 (3분)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3154680" y="24963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urdeal.kr/creators/apply 에 신청하고, 로그인 뒤 내 정산 화면에서 소개자 프로필을 공개합니다.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85800" y="317296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3172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" y="3154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수신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3154680" y="31546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조건이 맞는 매장의 제안을 받습니다. 수락 여부는 매번 내가 정합니다.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85800" y="3831336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38313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1143000" y="38130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공유와 정산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3154680" y="381304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링크를 걸고, 성과와 정산은 내 정산 화면에서 확인합니다.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85800" y="4617720"/>
            <a:ext cx="4206240" cy="160020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873752"/>
            <a:ext cx="201168" cy="20116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280160" y="481888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urdeal.kr/creators/apply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1280160" y="5065776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신청</a:t>
            </a:r>
            <a:endParaRPr lang="en-US" sz="85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5330952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1280160" y="527608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pf.kakao.com/_AITdn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1280160" y="5522976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카카오톡 채널 상담</a:t>
            </a:r>
            <a:endParaRPr lang="en-US" sz="850" dirty="0"/>
          </a:p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788152"/>
            <a:ext cx="201168" cy="201168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280160" y="573328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jiwon@ur-team.com</a:t>
            </a:r>
            <a:endParaRPr lang="en-US" sz="1200" dirty="0"/>
          </a:p>
        </p:txBody>
      </p:sp>
      <p:sp>
        <p:nvSpPr>
          <p:cNvPr id="28" name="Text 22"/>
          <p:cNvSpPr txBox="1"/>
          <p:nvPr/>
        </p:nvSpPr>
        <p:spPr>
          <a:xfrm>
            <a:off x="1280160" y="5980176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제휴 문의</a:t>
            </a:r>
            <a:endParaRPr lang="en-US" sz="850" dirty="0"/>
          </a:p>
        </p:txBody>
      </p:sp>
      <p:sp>
        <p:nvSpPr>
          <p:cNvPr id="29" name="Text 23"/>
          <p:cNvSpPr txBox="1"/>
          <p:nvPr/>
        </p:nvSpPr>
        <p:spPr>
          <a:xfrm>
            <a:off x="5166360" y="594360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 · 사업자등록번호 479-09-02930</a:t>
            </a:r>
            <a:endParaRPr lang="en-US" sz="900" dirty="0"/>
          </a:p>
        </p:txBody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26773" y="717213"/>
            <a:ext cx="2813205" cy="5377855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850392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신청 폼 (라이브 화면)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 title(slide, text, { dark = false, y = 1.15, size = 27, w = W - 2 * M } = {}) {
    T(slide, text, { x: M, y, w, h: 0.9, fontSize: size, bold: true, color: dark ? C.darkText : C.ink, valign: 'top', lineSpacingMultiple: 1.15, charSpacing: -0.6 });
  }</dc:title>
  <dc:subject>PptxGenJS Presentation</dc:subject>
  <dc:creator>리스터코퍼레이션</dc:creator>
  <cp:lastModifiedBy>리스터코퍼레이션</cp:lastModifiedBy>
  <cp:revision>1</cp:revision>
  <dcterms:created xsi:type="dcterms:W3CDTF">2026-09-14T06:28:13Z</dcterms:created>
  <dcterms:modified xsi:type="dcterms:W3CDTF">2026-09-14T06:28:13Z</dcterms:modified>
</cp:coreProperties>
</file>