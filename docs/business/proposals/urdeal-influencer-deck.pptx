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딜 소개비: 매장 제안 %, 상한 없음, 매장 부담(actor-benefit-map Q2-1). 영입 2%: influencer-store-intro-commission.ts (직접 입점만, 1년, 유어딜 몫). 비용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유어샵 자동 생성: KakaoAuthService.upsertUser (가입 시 handle 발급). 만료 환불: auto-settlement.ts handleExpiredVoucherRefunds. 귀속: affiliate 링크 추적.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캡처 4장: home / detail / use / shop. 사장님 덱 3장과 같은 블록(customerSteps).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10% / 중개 5%: fee-resolver.ts. 카드 수수료 약 2.75%: DEFAULT_PG_RESERVE_PCT (변동 가능). 딜 소개비: 매장 부담(store-operator-model §7). 영입 2%: 플랫폼 10% 안에서(09-07 Q4-2 확정, 예산 아비터).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딜 소개비: influencer-deals(매장 제안 %, 상한 없음). 영입: influencer-store-intro-commission.ts (store_channel=direct 만, referral_bonus_until 1년, 주인 바뀌어도 유지 09-07). "딜 있을 때만": /influencer 랜딩 고지 + affiliate_program_enabled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상품 2888 실측 16,500원. 16,500×42=693,000 · ×12%=83,160 · ×8.8%=7,318(내림) · 75,842. 영입 2%: 693,000×2%=13,860. 원천징수 SSOT tax-withholding.ts (3.3/8.8). 회수: clawback (T+7).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CreatorApplyPage(/creators/apply → /api/creator-apply). 제안 수락: /i/offer/:token (InfluencerOfferAcceptPage) → tracking_url 발급. 정산 화면: /influencer/settlement.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초대 링크: /influencer/settlement 의 /store/new?ref=&lt;id&gt;. 직접 입점 조건: store_channel=direct (08-31 확정, 미지정=미지급). 1년: referral_bonus_until. 주인 변경 유지: 09-07 store-handover 결정.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유어샵: CuratorPage /u/:handle (핀). 유어쇼츠: /videos (urshorts.routes, 크리에이터 몫 0 — 09-08 동의 게이트 폐기). 담기 보상 0 (affiliate_program_enabled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influencer-payout.ts: T+7 available, 매월 1일 18시 KST 집계, 현금 최소 influencer_payout_min(기본 100,000), 딜 수령은 하한 없음, 실제 지급은 어드민 /admin/influencer-payouts (사람). 원천징수 WITHHOLDING_RATES 3.3/8.8.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정직 고지: 09-13 실측(활성 337, 실제 매장 1, 인플루언서 딜 지급 0). FAQ 는 기존 9장 HTML 에서 옮기고 "딜 없으면 0" 항목 추가.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신청: /creators/apply → /api/creator-apply. 연락처는 대표 지정값(사장님 덱과 동일).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41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67066" cy="237744"/>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A9A6A2"/>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F8F7FC"/>
                </a:solidFill>
                <a:latin typeface="Pretendard" pitchFamily="34" charset="0"/>
                <a:ea typeface="Pretendard" pitchFamily="34" charset="-122"/>
                <a:cs typeface="Pretendard" pitchFamily="34" charset="-120"/>
              </a:rPr>
              <a:t>01</a:t>
            </a:r>
            <a:endParaRPr lang="en-US" sz="950" dirty="0"/>
          </a:p>
        </p:txBody>
      </p:sp>
      <p:sp>
        <p:nvSpPr>
          <p:cNvPr id="5" name="Text 2"/>
          <p:cNvSpPr txBox="1"/>
          <p:nvPr/>
        </p:nvSpPr>
        <p:spPr>
          <a:xfrm>
            <a:off x="685800" y="1234440"/>
            <a:ext cx="6766560" cy="2468880"/>
          </a:xfrm>
          <a:prstGeom prst="rect">
            <a:avLst/>
          </a:prstGeom>
          <a:noFill/>
          <a:ln/>
        </p:spPr>
        <p:txBody>
          <a:bodyPr wrap="square" lIns="0" tIns="0" rIns="0" bIns="0" rtlCol="0" anchor="t"/>
          <a:lstStyle/>
          <a:p>
            <a:pPr indent="0" marL="0">
              <a:lnSpc>
                <a:spcPct val="105000"/>
              </a:lnSpc>
              <a:buNone/>
            </a:pPr>
            <a:r>
              <a:rPr lang="en-US" sz="4600" b="1" spc="-150" kern="0" dirty="0">
                <a:solidFill>
                  <a:srgbClr val="F8F7FC"/>
                </a:solidFill>
                <a:latin typeface="Pretendard" pitchFamily="34" charset="0"/>
                <a:ea typeface="Pretendard" pitchFamily="34" charset="-122"/>
                <a:cs typeface="Pretendard" pitchFamily="34" charset="-120"/>
              </a:rPr>
              <a:t>팔로워에게</a:t>
            </a:r>
            <a:endParaRPr lang="en-US" sz="4600" dirty="0"/>
          </a:p>
          <a:p>
            <a:pPr indent="0" marL="0">
              <a:lnSpc>
                <a:spcPct val="105000"/>
              </a:lnSpc>
              <a:buNone/>
            </a:pPr>
            <a:r>
              <a:rPr lang="en-US" sz="4600" b="1" spc="-150" kern="0" dirty="0">
                <a:solidFill>
                  <a:srgbClr val="F8F7FC"/>
                </a:solidFill>
                <a:latin typeface="Pretendard" pitchFamily="34" charset="0"/>
                <a:ea typeface="Pretendard" pitchFamily="34" charset="-122"/>
                <a:cs typeface="Pretendard" pitchFamily="34" charset="-120"/>
              </a:rPr>
              <a:t>광고를 팔지</a:t>
            </a:r>
            <a:endParaRPr lang="en-US" sz="4600" dirty="0"/>
          </a:p>
          <a:p>
            <a:pPr indent="0" marL="0">
              <a:lnSpc>
                <a:spcPct val="105000"/>
              </a:lnSpc>
              <a:buNone/>
            </a:pPr>
            <a:r>
              <a:rPr lang="en-US" sz="4600" b="1" spc="-150" kern="0" dirty="0">
                <a:solidFill>
                  <a:srgbClr val="F8F7FC"/>
                </a:solidFill>
                <a:latin typeface="Pretendard" pitchFamily="34" charset="0"/>
                <a:ea typeface="Pretendard" pitchFamily="34" charset="-122"/>
                <a:cs typeface="Pretendard" pitchFamily="34" charset="-120"/>
              </a:rPr>
              <a:t>않습니다.</a:t>
            </a:r>
            <a:endParaRPr lang="en-US" sz="4600" dirty="0"/>
          </a:p>
        </p:txBody>
      </p:sp>
      <p:sp>
        <p:nvSpPr>
          <p:cNvPr id="6" name="Text 3"/>
          <p:cNvSpPr txBox="1"/>
          <p:nvPr/>
        </p:nvSpPr>
        <p:spPr>
          <a:xfrm>
            <a:off x="685800" y="3840480"/>
            <a:ext cx="6400800" cy="822960"/>
          </a:xfrm>
          <a:prstGeom prst="rect">
            <a:avLst/>
          </a:prstGeom>
          <a:noFill/>
          <a:ln/>
        </p:spPr>
        <p:txBody>
          <a:bodyPr wrap="square" lIns="0" tIns="0" rIns="0" bIns="0" rtlCol="0" anchor="t"/>
          <a:lstStyle/>
          <a:p>
            <a:pPr indent="0" marL="0">
              <a:lnSpc>
                <a:spcPct val="150000"/>
              </a:lnSpc>
              <a:buNone/>
            </a:pPr>
            <a:r>
              <a:rPr lang="en-US" sz="1350" dirty="0">
                <a:solidFill>
                  <a:srgbClr val="A9A6A2"/>
                </a:solidFill>
                <a:latin typeface="Pretendard" pitchFamily="34" charset="0"/>
                <a:ea typeface="Pretendard" pitchFamily="34" charset="-122"/>
                <a:cs typeface="Pretendard" pitchFamily="34" charset="-120"/>
              </a:rPr>
              <a:t>동네에서 진짜 쓰는 이용권을 건넵니다. 매장이 소개비 %를 정해 제안하고, 나는 링크 하나를 겁니다. 재고도 배송도 응대도 내 몫이 아닙니다.</a:t>
            </a:r>
            <a:endParaRPr lang="en-US" sz="1350" dirty="0"/>
          </a:p>
        </p:txBody>
      </p:sp>
      <p:sp>
        <p:nvSpPr>
          <p:cNvPr id="7" name="Text 4"/>
          <p:cNvSpPr txBox="1"/>
          <p:nvPr/>
        </p:nvSpPr>
        <p:spPr>
          <a:xfrm>
            <a:off x="685800" y="4709160"/>
            <a:ext cx="2194560" cy="548640"/>
          </a:xfrm>
          <a:prstGeom prst="rect">
            <a:avLst/>
          </a:prstGeom>
          <a:noFill/>
          <a:ln/>
        </p:spPr>
        <p:txBody>
          <a:bodyPr wrap="square" lIns="0" tIns="0" rIns="0" bIns="0" rtlCol="0" anchor="ctr"/>
          <a:lstStyle/>
          <a:p>
            <a:pPr indent="0" marL="0">
              <a:buNone/>
            </a:pPr>
            <a:r>
              <a:rPr lang="en-US" sz="2400" b="1" spc="-120" kern="0" dirty="0">
                <a:solidFill>
                  <a:srgbClr val="F8F7FC"/>
                </a:solidFill>
                <a:latin typeface="Pretendard" pitchFamily="34" charset="0"/>
                <a:ea typeface="Pretendard" pitchFamily="34" charset="-122"/>
                <a:cs typeface="Pretendard" pitchFamily="34" charset="-120"/>
              </a:rPr>
              <a:t>매장이 정한 %</a:t>
            </a:r>
            <a:endParaRPr lang="en-US" sz="2400" dirty="0"/>
          </a:p>
        </p:txBody>
      </p:sp>
      <p:sp>
        <p:nvSpPr>
          <p:cNvPr id="8" name="Text 5"/>
          <p:cNvSpPr txBox="1"/>
          <p:nvPr/>
        </p:nvSpPr>
        <p:spPr>
          <a:xfrm>
            <a:off x="685800" y="5303520"/>
            <a:ext cx="2148840" cy="548640"/>
          </a:xfrm>
          <a:prstGeom prst="rect">
            <a:avLst/>
          </a:prstGeom>
          <a:noFill/>
          <a:ln/>
        </p:spPr>
        <p:txBody>
          <a:bodyPr wrap="square" lIns="0" tIns="0" rIns="0" bIns="0" rtlCol="0" anchor="t"/>
          <a:lstStyle/>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딜 소개비. 판매가 기준,</a:t>
            </a:r>
            <a:endParaRPr lang="en-US" sz="1000" dirty="0"/>
          </a:p>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매장이 딜마다 제안</a:t>
            </a:r>
            <a:endParaRPr lang="en-US" sz="1000" dirty="0"/>
          </a:p>
        </p:txBody>
      </p:sp>
      <p:sp>
        <p:nvSpPr>
          <p:cNvPr id="9" name="Text 6"/>
          <p:cNvSpPr txBox="1"/>
          <p:nvPr/>
        </p:nvSpPr>
        <p:spPr>
          <a:xfrm>
            <a:off x="2926080" y="4709160"/>
            <a:ext cx="2194560" cy="548640"/>
          </a:xfrm>
          <a:prstGeom prst="rect">
            <a:avLst/>
          </a:prstGeom>
          <a:noFill/>
          <a:ln/>
        </p:spPr>
        <p:txBody>
          <a:bodyPr wrap="square" lIns="0" tIns="0" rIns="0" bIns="0" rtlCol="0" anchor="ctr"/>
          <a:lstStyle/>
          <a:p>
            <a:pPr indent="0" marL="0">
              <a:buNone/>
            </a:pPr>
            <a:r>
              <a:rPr lang="en-US" sz="3600" b="1" spc="-120" kern="0" dirty="0">
                <a:solidFill>
                  <a:srgbClr val="F8F7FC"/>
                </a:solidFill>
                <a:latin typeface="Pretendard" pitchFamily="34" charset="0"/>
                <a:ea typeface="Pretendard" pitchFamily="34" charset="-122"/>
                <a:cs typeface="Pretendard" pitchFamily="34" charset="-120"/>
              </a:rPr>
              <a:t>2%</a:t>
            </a:r>
            <a:endParaRPr lang="en-US" sz="3600" dirty="0"/>
          </a:p>
        </p:txBody>
      </p:sp>
      <p:sp>
        <p:nvSpPr>
          <p:cNvPr id="10" name="Text 7"/>
          <p:cNvSpPr txBox="1"/>
          <p:nvPr/>
        </p:nvSpPr>
        <p:spPr>
          <a:xfrm>
            <a:off x="2926080" y="5303520"/>
            <a:ext cx="2148840" cy="548640"/>
          </a:xfrm>
          <a:prstGeom prst="rect">
            <a:avLst/>
          </a:prstGeom>
          <a:noFill/>
          <a:ln/>
        </p:spPr>
        <p:txBody>
          <a:bodyPr wrap="square" lIns="0" tIns="0" rIns="0" bIns="0" rtlCol="0" anchor="t"/>
          <a:lstStyle/>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내가 데려온 매장 매출의</a:t>
            </a:r>
            <a:endParaRPr lang="en-US" sz="1000" dirty="0"/>
          </a:p>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1년간, 직접 입점만</a:t>
            </a:r>
            <a:endParaRPr lang="en-US" sz="1000" dirty="0"/>
          </a:p>
        </p:txBody>
      </p:sp>
      <p:sp>
        <p:nvSpPr>
          <p:cNvPr id="11" name="Text 8"/>
          <p:cNvSpPr txBox="1"/>
          <p:nvPr/>
        </p:nvSpPr>
        <p:spPr>
          <a:xfrm>
            <a:off x="5166360" y="4709160"/>
            <a:ext cx="2194560" cy="548640"/>
          </a:xfrm>
          <a:prstGeom prst="rect">
            <a:avLst/>
          </a:prstGeom>
          <a:noFill/>
          <a:ln/>
        </p:spPr>
        <p:txBody>
          <a:bodyPr wrap="square" lIns="0" tIns="0" rIns="0" bIns="0" rtlCol="0" anchor="ctr"/>
          <a:lstStyle/>
          <a:p>
            <a:pPr indent="0" marL="0">
              <a:buNone/>
            </a:pPr>
            <a:r>
              <a:rPr lang="en-US" sz="3600" b="1" spc="-120" kern="0" dirty="0">
                <a:solidFill>
                  <a:srgbClr val="F8F7FC"/>
                </a:solidFill>
                <a:latin typeface="Pretendard" pitchFamily="34" charset="0"/>
                <a:ea typeface="Pretendard" pitchFamily="34" charset="-122"/>
                <a:cs typeface="Pretendard" pitchFamily="34" charset="-120"/>
              </a:rPr>
              <a:t>0원</a:t>
            </a:r>
            <a:endParaRPr lang="en-US" sz="3600" dirty="0"/>
          </a:p>
        </p:txBody>
      </p:sp>
      <p:sp>
        <p:nvSpPr>
          <p:cNvPr id="12" name="Text 9"/>
          <p:cNvSpPr txBox="1"/>
          <p:nvPr/>
        </p:nvSpPr>
        <p:spPr>
          <a:xfrm>
            <a:off x="5166360" y="5303520"/>
            <a:ext cx="2148840" cy="548640"/>
          </a:xfrm>
          <a:prstGeom prst="rect">
            <a:avLst/>
          </a:prstGeom>
          <a:noFill/>
          <a:ln/>
        </p:spPr>
        <p:txBody>
          <a:bodyPr wrap="square" lIns="0" tIns="0" rIns="0" bIns="0" rtlCol="0" anchor="t"/>
          <a:lstStyle/>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가입비, 이용료,</a:t>
            </a:r>
            <a:endParaRPr lang="en-US" sz="1000" dirty="0"/>
          </a:p>
          <a:p>
            <a:pPr indent="0" marL="0">
              <a:lnSpc>
                <a:spcPct val="135000"/>
              </a:lnSpc>
              <a:buNone/>
            </a:pPr>
            <a:r>
              <a:rPr lang="en-US" sz="1000" dirty="0">
                <a:solidFill>
                  <a:srgbClr val="A9A6A2"/>
                </a:solidFill>
                <a:latin typeface="Pretendard" pitchFamily="34" charset="0"/>
                <a:ea typeface="Pretendard" pitchFamily="34" charset="-122"/>
                <a:cs typeface="Pretendard" pitchFamily="34" charset="-120"/>
              </a:rPr>
              <a:t>내가 내는 비용</a:t>
            </a:r>
            <a:endParaRPr lang="en-US" sz="1000" dirty="0"/>
          </a:p>
        </p:txBody>
      </p:sp>
      <p:pic>
        <p:nvPicPr>
          <p:cNvPr id="13" name="Image 1" descr="preencoded.png">    </p:cNvPr>
          <p:cNvPicPr>
            <a:picLocks noChangeAspect="1"/>
          </p:cNvPicPr>
          <p:nvPr/>
        </p:nvPicPr>
        <p:blipFill>
          <a:blip r:embed="rId2"/>
          <a:stretch>
            <a:fillRect/>
          </a:stretch>
        </p:blipFill>
        <p:spPr>
          <a:xfrm>
            <a:off x="8245122" y="747042"/>
            <a:ext cx="2997247" cy="5729677"/>
          </a:xfrm>
          <a:prstGeom prst="rect">
            <a:avLst/>
          </a:prstGeom>
        </p:spPr>
      </p:pic>
      <p:sp>
        <p:nvSpPr>
          <p:cNvPr id="14" name="Text 10"/>
          <p:cNvSpPr txBox="1"/>
          <p:nvPr/>
        </p:nvSpPr>
        <p:spPr>
          <a:xfrm>
            <a:off x="685800" y="896112"/>
            <a:ext cx="5486400" cy="228600"/>
          </a:xfrm>
          <a:prstGeom prst="rect">
            <a:avLst/>
          </a:prstGeom>
          <a:noFill/>
          <a:ln/>
        </p:spPr>
        <p:txBody>
          <a:bodyPr wrap="square" lIns="0" tIns="0" rIns="0" bIns="0" rtlCol="0" anchor="ctr"/>
          <a:lstStyle/>
          <a:p>
            <a:pPr indent="0" marL="0">
              <a:buNone/>
            </a:pPr>
            <a:r>
              <a:rPr lang="en-US" sz="1000" spc="50" kern="0" dirty="0">
                <a:solidFill>
                  <a:srgbClr val="A9A6A2"/>
                </a:solidFill>
                <a:latin typeface="Pretendard" pitchFamily="34" charset="0"/>
                <a:ea typeface="Pretendard" pitchFamily="34" charset="-122"/>
                <a:cs typeface="Pretendard" pitchFamily="34" charset="-120"/>
              </a:rPr>
              <a:t>인플루언서 제휴 소개 · 2026-09-13</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67066" cy="237744"/>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02</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배송되는 물건이 아니라, 동네에서 바로 쓰는 권리를 팝니다.</a:t>
            </a:r>
            <a:endParaRPr lang="en-US" sz="2700" dirty="0"/>
          </a:p>
        </p:txBody>
      </p:sp>
      <p:sp>
        <p:nvSpPr>
          <p:cNvPr id="6" name="Text 3"/>
          <p:cNvSpPr txBox="1"/>
          <p:nvPr/>
        </p:nvSpPr>
        <p:spPr>
          <a:xfrm>
            <a:off x="685800" y="1874520"/>
            <a:ext cx="7498080" cy="77724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유어딜은 식당, 카페, 뷰티, 숙박 이용권을 온라인 할인가로 파는 로컬 커머스입니다. 손님은 미리 사고, 가게에 가서 QR 로 씁니다. 택배가 오가지 않으니 품절도 오배송도 반품도 없습니다.</a:t>
            </a:r>
            <a:endParaRPr lang="en-US" sz="1250" dirty="0"/>
          </a:p>
        </p:txBody>
      </p:sp>
      <p:sp>
        <p:nvSpPr>
          <p:cNvPr id="7" name="Shape 4"/>
          <p:cNvSpPr/>
          <p:nvPr/>
        </p:nvSpPr>
        <p:spPr>
          <a:xfrm>
            <a:off x="685800" y="2788920"/>
            <a:ext cx="420624" cy="420624"/>
          </a:xfrm>
          <a:prstGeom prst="ellipse">
            <a:avLst/>
          </a:prstGeom>
          <a:solidFill>
            <a:srgbClr val="E4EDFD"/>
          </a:solidFill>
          <a:ln w="12700">
            <a:solidFill>
              <a:srgbClr val="E4EDFD"/>
            </a:solidFill>
            <a:prstDash val="solid"/>
          </a:ln>
        </p:spPr>
      </p:sp>
      <p:pic>
        <p:nvPicPr>
          <p:cNvPr id="8" name="Image 1" descr="preencoded.png">    </p:cNvPr>
          <p:cNvPicPr>
            <a:picLocks noChangeAspect="1"/>
          </p:cNvPicPr>
          <p:nvPr/>
        </p:nvPicPr>
        <p:blipFill>
          <a:blip r:embed="rId2"/>
          <a:stretch>
            <a:fillRect/>
          </a:stretch>
        </p:blipFill>
        <p:spPr>
          <a:xfrm>
            <a:off x="795162" y="2898282"/>
            <a:ext cx="201900" cy="201900"/>
          </a:xfrm>
          <a:prstGeom prst="rect">
            <a:avLst/>
          </a:prstGeom>
        </p:spPr>
      </p:pic>
      <p:sp>
        <p:nvSpPr>
          <p:cNvPr id="9" name="Text 5"/>
          <p:cNvSpPr txBox="1"/>
          <p:nvPr/>
        </p:nvSpPr>
        <p:spPr>
          <a:xfrm>
            <a:off x="1280160" y="2788920"/>
            <a:ext cx="6400800" cy="292608"/>
          </a:xfrm>
          <a:prstGeom prst="rect">
            <a:avLst/>
          </a:prstGeom>
          <a:noFill/>
          <a:ln/>
        </p:spPr>
        <p:txBody>
          <a:bodyPr wrap="square" lIns="0" tIns="0" rIns="0" bIns="0" rtlCol="0" anchor="ctr"/>
          <a:lstStyle/>
          <a:p>
            <a:pPr indent="0" marL="0">
              <a:buNone/>
            </a:pPr>
            <a:r>
              <a:rPr lang="en-US" sz="1400" b="1" spc="-30" kern="0" dirty="0">
                <a:solidFill>
                  <a:srgbClr val="16181C"/>
                </a:solidFill>
                <a:latin typeface="Pretendard" pitchFamily="34" charset="0"/>
                <a:ea typeface="Pretendard" pitchFamily="34" charset="-122"/>
                <a:cs typeface="Pretendard" pitchFamily="34" charset="-120"/>
              </a:rPr>
              <a:t>이용권</a:t>
            </a:r>
            <a:endParaRPr lang="en-US" sz="1400" dirty="0"/>
          </a:p>
        </p:txBody>
      </p:sp>
      <p:sp>
        <p:nvSpPr>
          <p:cNvPr id="10" name="Text 6"/>
          <p:cNvSpPr txBox="1"/>
          <p:nvPr/>
        </p:nvSpPr>
        <p:spPr>
          <a:xfrm>
            <a:off x="1280160" y="3108960"/>
            <a:ext cx="6400800" cy="54864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식사, 뷰티, 숙박, 액티비티. 할인가와 유효기간은 매장이 정합니다. 유효기간이 지나도 안 쓴 이용권은 유어딜이 손님에게 100% 환불합니다.</a:t>
            </a:r>
            <a:endParaRPr lang="en-US" sz="1100" dirty="0"/>
          </a:p>
        </p:txBody>
      </p:sp>
      <p:sp>
        <p:nvSpPr>
          <p:cNvPr id="11" name="Shape 7"/>
          <p:cNvSpPr/>
          <p:nvPr/>
        </p:nvSpPr>
        <p:spPr>
          <a:xfrm>
            <a:off x="685800" y="3685032"/>
            <a:ext cx="420624" cy="420624"/>
          </a:xfrm>
          <a:prstGeom prst="ellipse">
            <a:avLst/>
          </a:prstGeom>
          <a:solidFill>
            <a:srgbClr val="E4EDFD"/>
          </a:solidFill>
          <a:ln w="12700">
            <a:solidFill>
              <a:srgbClr val="E4EDFD"/>
            </a:solidFill>
            <a:prstDash val="solid"/>
          </a:ln>
        </p:spPr>
      </p:sp>
      <p:pic>
        <p:nvPicPr>
          <p:cNvPr id="12" name="Image 2" descr="preencoded.png">    </p:cNvPr>
          <p:cNvPicPr>
            <a:picLocks noChangeAspect="1"/>
          </p:cNvPicPr>
          <p:nvPr/>
        </p:nvPicPr>
        <p:blipFill>
          <a:blip r:embed="rId3"/>
          <a:stretch>
            <a:fillRect/>
          </a:stretch>
        </p:blipFill>
        <p:spPr>
          <a:xfrm>
            <a:off x="795162" y="3794394"/>
            <a:ext cx="201900" cy="201900"/>
          </a:xfrm>
          <a:prstGeom prst="rect">
            <a:avLst/>
          </a:prstGeom>
        </p:spPr>
      </p:pic>
      <p:sp>
        <p:nvSpPr>
          <p:cNvPr id="13" name="Text 8"/>
          <p:cNvSpPr txBox="1"/>
          <p:nvPr/>
        </p:nvSpPr>
        <p:spPr>
          <a:xfrm>
            <a:off x="1280160" y="3685032"/>
            <a:ext cx="6400800" cy="292608"/>
          </a:xfrm>
          <a:prstGeom prst="rect">
            <a:avLst/>
          </a:prstGeom>
          <a:noFill/>
          <a:ln/>
        </p:spPr>
        <p:txBody>
          <a:bodyPr wrap="square" lIns="0" tIns="0" rIns="0" bIns="0" rtlCol="0" anchor="ctr"/>
          <a:lstStyle/>
          <a:p>
            <a:pPr indent="0" marL="0">
              <a:buNone/>
            </a:pPr>
            <a:r>
              <a:rPr lang="en-US" sz="1400" b="1" spc="-30" kern="0" dirty="0">
                <a:solidFill>
                  <a:srgbClr val="16181C"/>
                </a:solidFill>
                <a:latin typeface="Pretendard" pitchFamily="34" charset="0"/>
                <a:ea typeface="Pretendard" pitchFamily="34" charset="-122"/>
                <a:cs typeface="Pretendard" pitchFamily="34" charset="-120"/>
              </a:rPr>
              <a:t>가입하면 누구나 유어샵</a:t>
            </a:r>
            <a:endParaRPr lang="en-US" sz="1400" dirty="0"/>
          </a:p>
        </p:txBody>
      </p:sp>
      <p:sp>
        <p:nvSpPr>
          <p:cNvPr id="14" name="Text 9"/>
          <p:cNvSpPr txBox="1"/>
          <p:nvPr/>
        </p:nvSpPr>
        <p:spPr>
          <a:xfrm>
            <a:off x="1280160" y="4005072"/>
            <a:ext cx="6400800" cy="54864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urdeal.kr/u/내주소 하나가 생깁니다. 담아 둔 이용권이 한 곳에 진열되는 내 페이지라, 프로필 링크는 이것만 걸면 됩니다.</a:t>
            </a:r>
            <a:endParaRPr lang="en-US" sz="1100" dirty="0"/>
          </a:p>
        </p:txBody>
      </p:sp>
      <p:sp>
        <p:nvSpPr>
          <p:cNvPr id="15" name="Shape 10"/>
          <p:cNvSpPr/>
          <p:nvPr/>
        </p:nvSpPr>
        <p:spPr>
          <a:xfrm>
            <a:off x="685800" y="4581144"/>
            <a:ext cx="420624" cy="420624"/>
          </a:xfrm>
          <a:prstGeom prst="ellipse">
            <a:avLst/>
          </a:prstGeom>
          <a:solidFill>
            <a:srgbClr val="E4EDFD"/>
          </a:solidFill>
          <a:ln w="12700">
            <a:solidFill>
              <a:srgbClr val="E4EDFD"/>
            </a:solidFill>
            <a:prstDash val="solid"/>
          </a:ln>
        </p:spPr>
      </p:sp>
      <p:pic>
        <p:nvPicPr>
          <p:cNvPr id="16" name="Image 3" descr="preencoded.png">    </p:cNvPr>
          <p:cNvPicPr>
            <a:picLocks noChangeAspect="1"/>
          </p:cNvPicPr>
          <p:nvPr/>
        </p:nvPicPr>
        <p:blipFill>
          <a:blip r:embed="rId4"/>
          <a:stretch>
            <a:fillRect/>
          </a:stretch>
        </p:blipFill>
        <p:spPr>
          <a:xfrm>
            <a:off x="795162" y="4690506"/>
            <a:ext cx="201900" cy="201900"/>
          </a:xfrm>
          <a:prstGeom prst="rect">
            <a:avLst/>
          </a:prstGeom>
        </p:spPr>
      </p:pic>
      <p:sp>
        <p:nvSpPr>
          <p:cNvPr id="17" name="Text 11"/>
          <p:cNvSpPr txBox="1"/>
          <p:nvPr/>
        </p:nvSpPr>
        <p:spPr>
          <a:xfrm>
            <a:off x="1280160" y="4581144"/>
            <a:ext cx="6400800" cy="292608"/>
          </a:xfrm>
          <a:prstGeom prst="rect">
            <a:avLst/>
          </a:prstGeom>
          <a:noFill/>
          <a:ln/>
        </p:spPr>
        <p:txBody>
          <a:bodyPr wrap="square" lIns="0" tIns="0" rIns="0" bIns="0" rtlCol="0" anchor="ctr"/>
          <a:lstStyle/>
          <a:p>
            <a:pPr indent="0" marL="0">
              <a:buNone/>
            </a:pPr>
            <a:r>
              <a:rPr lang="en-US" sz="1400" b="1" spc="-30" kern="0" dirty="0">
                <a:solidFill>
                  <a:srgbClr val="16181C"/>
                </a:solidFill>
                <a:latin typeface="Pretendard" pitchFamily="34" charset="0"/>
                <a:ea typeface="Pretendard" pitchFamily="34" charset="-122"/>
                <a:cs typeface="Pretendard" pitchFamily="34" charset="-120"/>
              </a:rPr>
              <a:t>내가 하는 일은 링크 하나</a:t>
            </a:r>
            <a:endParaRPr lang="en-US" sz="1400" dirty="0"/>
          </a:p>
        </p:txBody>
      </p:sp>
      <p:sp>
        <p:nvSpPr>
          <p:cNvPr id="18" name="Text 12"/>
          <p:cNvSpPr txBox="1"/>
          <p:nvPr/>
        </p:nvSpPr>
        <p:spPr>
          <a:xfrm>
            <a:off x="1280160" y="4901184"/>
            <a:ext cx="6400800" cy="54864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스토리, 릴스, 카톡, 더보기, 블로그 어디든 됩니다. 귀속은 링크로 자동 추적되니 쿠폰 코드를 불러 줄 일이 없습니다.</a:t>
            </a:r>
            <a:endParaRPr lang="en-US" sz="1100" dirty="0"/>
          </a:p>
        </p:txBody>
      </p:sp>
      <p:sp>
        <p:nvSpPr>
          <p:cNvPr id="19" name="Shape 13"/>
          <p:cNvSpPr/>
          <p:nvPr/>
        </p:nvSpPr>
        <p:spPr>
          <a:xfrm>
            <a:off x="685800" y="5477256"/>
            <a:ext cx="420624" cy="420624"/>
          </a:xfrm>
          <a:prstGeom prst="ellipse">
            <a:avLst/>
          </a:prstGeom>
          <a:solidFill>
            <a:srgbClr val="E4EDFD"/>
          </a:solidFill>
          <a:ln w="12700">
            <a:solidFill>
              <a:srgbClr val="E4EDFD"/>
            </a:solidFill>
            <a:prstDash val="solid"/>
          </a:ln>
        </p:spPr>
      </p:sp>
      <p:pic>
        <p:nvPicPr>
          <p:cNvPr id="20" name="Image 4" descr="preencoded.png">    </p:cNvPr>
          <p:cNvPicPr>
            <a:picLocks noChangeAspect="1"/>
          </p:cNvPicPr>
          <p:nvPr/>
        </p:nvPicPr>
        <p:blipFill>
          <a:blip r:embed="rId5"/>
          <a:stretch>
            <a:fillRect/>
          </a:stretch>
        </p:blipFill>
        <p:spPr>
          <a:xfrm>
            <a:off x="795162" y="5586618"/>
            <a:ext cx="201900" cy="201900"/>
          </a:xfrm>
          <a:prstGeom prst="rect">
            <a:avLst/>
          </a:prstGeom>
        </p:spPr>
      </p:pic>
      <p:sp>
        <p:nvSpPr>
          <p:cNvPr id="21" name="Text 14"/>
          <p:cNvSpPr txBox="1"/>
          <p:nvPr/>
        </p:nvSpPr>
        <p:spPr>
          <a:xfrm>
            <a:off x="1280160" y="5477256"/>
            <a:ext cx="6400800" cy="292608"/>
          </a:xfrm>
          <a:prstGeom prst="rect">
            <a:avLst/>
          </a:prstGeom>
          <a:noFill/>
          <a:ln/>
        </p:spPr>
        <p:txBody>
          <a:bodyPr wrap="square" lIns="0" tIns="0" rIns="0" bIns="0" rtlCol="0" anchor="ctr"/>
          <a:lstStyle/>
          <a:p>
            <a:pPr indent="0" marL="0">
              <a:buNone/>
            </a:pPr>
            <a:r>
              <a:rPr lang="en-US" sz="1400" b="1" spc="-30" kern="0" dirty="0">
                <a:solidFill>
                  <a:srgbClr val="16181C"/>
                </a:solidFill>
                <a:latin typeface="Pretendard" pitchFamily="34" charset="0"/>
                <a:ea typeface="Pretendard" pitchFamily="34" charset="-122"/>
                <a:cs typeface="Pretendard" pitchFamily="34" charset="-120"/>
              </a:rPr>
              <a:t>결제, 발급, 정산, 세금은 유어딜</a:t>
            </a:r>
            <a:endParaRPr lang="en-US" sz="1400" dirty="0"/>
          </a:p>
        </p:txBody>
      </p:sp>
      <p:sp>
        <p:nvSpPr>
          <p:cNvPr id="22" name="Text 15"/>
          <p:cNvSpPr txBox="1"/>
          <p:nvPr/>
        </p:nvSpPr>
        <p:spPr>
          <a:xfrm>
            <a:off x="1280160" y="5797296"/>
            <a:ext cx="6400800" cy="54864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토스 결제, 이용권 발급, 매장 QR 확인, 원천징수까지 유어딜이 합니다. 매장에 돈을 달라고 할 일이 없습니다.</a:t>
            </a:r>
            <a:endParaRPr lang="en-US" sz="1100" dirty="0"/>
          </a:p>
        </p:txBody>
      </p:sp>
      <p:pic>
        <p:nvPicPr>
          <p:cNvPr id="23" name="Image 5" descr="preencoded.png">    </p:cNvPr>
          <p:cNvPicPr>
            <a:picLocks noChangeAspect="1"/>
          </p:cNvPicPr>
          <p:nvPr/>
        </p:nvPicPr>
        <p:blipFill>
          <a:blip r:embed="rId6"/>
          <a:stretch>
            <a:fillRect/>
          </a:stretch>
        </p:blipFill>
        <p:spPr>
          <a:xfrm>
            <a:off x="8345642" y="847562"/>
            <a:ext cx="2892080" cy="5528636"/>
          </a:xfrm>
          <a:prstGeom prst="rect">
            <a:avLst/>
          </a:prstGeom>
        </p:spPr>
      </p:pic>
      <p:sp>
        <p:nvSpPr>
          <p:cNvPr id="24" name="Text 16"/>
          <p:cNvSpPr txBox="1"/>
          <p:nvPr/>
        </p:nvSpPr>
        <p:spPr>
          <a:xfrm>
            <a:off x="8229600" y="6272784"/>
            <a:ext cx="3124165"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이용권 상세 (라이브 화면)</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67066" cy="237744"/>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03</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팔로워가 겪는 순서는 네 화면이 전부입니다.</a:t>
            </a:r>
            <a:endParaRPr lang="en-US" sz="2700" dirty="0"/>
          </a:p>
        </p:txBody>
      </p:sp>
      <p:sp>
        <p:nvSpPr>
          <p:cNvPr id="6" name="Text 3"/>
          <p:cNvSpPr txBox="1"/>
          <p:nvPr/>
        </p:nvSpPr>
        <p:spPr>
          <a:xfrm>
            <a:off x="685800" y="1828800"/>
            <a:ext cx="10820095" cy="36576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오늘 urdeal.kr 에서 그대로 캡처한 화면입니다. 앱을 새로 깔거나 가입을 강요하는 구간은 없습니다. 가격은 매장이 정한 실제 판매가입니다.</a:t>
            </a:r>
            <a:endParaRPr lang="en-US" sz="1250" dirty="0"/>
          </a:p>
        </p:txBody>
      </p:sp>
      <p:sp>
        <p:nvSpPr>
          <p:cNvPr id="7" name="Shape 4"/>
          <p:cNvSpPr/>
          <p:nvPr/>
        </p:nvSpPr>
        <p:spPr>
          <a:xfrm>
            <a:off x="1177211" y="2267712"/>
            <a:ext cx="365760" cy="365760"/>
          </a:xfrm>
          <a:prstGeom prst="ellipse">
            <a:avLst/>
          </a:prstGeom>
          <a:solidFill>
            <a:srgbClr val="1C69EF"/>
          </a:solidFill>
          <a:ln w="15875">
            <a:solidFill>
              <a:srgbClr val="1C69EF"/>
            </a:solidFill>
            <a:prstDash val="solid"/>
          </a:ln>
        </p:spPr>
      </p:sp>
      <p:sp>
        <p:nvSpPr>
          <p:cNvPr id="8" name="Text 5"/>
          <p:cNvSpPr txBox="1"/>
          <p:nvPr/>
        </p:nvSpPr>
        <p:spPr>
          <a:xfrm>
            <a:off x="1177211" y="226771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pic>
        <p:nvPicPr>
          <p:cNvPr id="9" name="Image 1" descr="preencoded.png">    </p:cNvPr>
          <p:cNvPicPr>
            <a:picLocks noChangeAspect="1"/>
          </p:cNvPicPr>
          <p:nvPr/>
        </p:nvPicPr>
        <p:blipFill>
          <a:blip r:embed="rId2"/>
          <a:stretch>
            <a:fillRect/>
          </a:stretch>
        </p:blipFill>
        <p:spPr>
          <a:xfrm>
            <a:off x="545050" y="2693890"/>
            <a:ext cx="1630082" cy="3116140"/>
          </a:xfrm>
          <a:prstGeom prst="rect">
            <a:avLst/>
          </a:prstGeom>
        </p:spPr>
      </p:pic>
      <p:sp>
        <p:nvSpPr>
          <p:cNvPr id="10" name="Text 6"/>
          <p:cNvSpPr txBox="1"/>
          <p:nvPr/>
        </p:nvSpPr>
        <p:spPr>
          <a:xfrm>
            <a:off x="320040" y="5815584"/>
            <a:ext cx="2080102"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찾기: 홈에서 동네 이용권</a:t>
            </a:r>
            <a:endParaRPr lang="en-US" sz="1050" dirty="0"/>
          </a:p>
        </p:txBody>
      </p:sp>
      <p:sp>
        <p:nvSpPr>
          <p:cNvPr id="11" name="Shape 7"/>
          <p:cNvSpPr/>
          <p:nvPr/>
        </p:nvSpPr>
        <p:spPr>
          <a:xfrm>
            <a:off x="4334382" y="2267712"/>
            <a:ext cx="365760" cy="365760"/>
          </a:xfrm>
          <a:prstGeom prst="ellipse">
            <a:avLst/>
          </a:prstGeom>
          <a:solidFill>
            <a:srgbClr val="1C69EF"/>
          </a:solidFill>
          <a:ln w="15875">
            <a:solidFill>
              <a:srgbClr val="1C69EF"/>
            </a:solidFill>
            <a:prstDash val="solid"/>
          </a:ln>
        </p:spPr>
      </p:sp>
      <p:sp>
        <p:nvSpPr>
          <p:cNvPr id="12" name="Text 8"/>
          <p:cNvSpPr txBox="1"/>
          <p:nvPr/>
        </p:nvSpPr>
        <p:spPr>
          <a:xfrm>
            <a:off x="4334382" y="226771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pic>
        <p:nvPicPr>
          <p:cNvPr id="13" name="Image 2" descr="preencoded.png">    </p:cNvPr>
          <p:cNvPicPr>
            <a:picLocks noChangeAspect="1"/>
          </p:cNvPicPr>
          <p:nvPr/>
        </p:nvPicPr>
        <p:blipFill>
          <a:blip r:embed="rId3"/>
          <a:stretch>
            <a:fillRect/>
          </a:stretch>
        </p:blipFill>
        <p:spPr>
          <a:xfrm>
            <a:off x="3702221" y="2693890"/>
            <a:ext cx="1630082" cy="3116140"/>
          </a:xfrm>
          <a:prstGeom prst="rect">
            <a:avLst/>
          </a:prstGeom>
        </p:spPr>
      </p:pic>
      <p:sp>
        <p:nvSpPr>
          <p:cNvPr id="14" name="Text 9"/>
          <p:cNvSpPr txBox="1"/>
          <p:nvPr/>
        </p:nvSpPr>
        <p:spPr>
          <a:xfrm>
            <a:off x="3477211" y="5815584"/>
            <a:ext cx="2080102"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결제: 정가와 할인가를 함께</a:t>
            </a:r>
            <a:endParaRPr lang="en-US" sz="1050" dirty="0"/>
          </a:p>
        </p:txBody>
      </p:sp>
      <p:sp>
        <p:nvSpPr>
          <p:cNvPr id="15" name="Shape 10"/>
          <p:cNvSpPr/>
          <p:nvPr/>
        </p:nvSpPr>
        <p:spPr>
          <a:xfrm>
            <a:off x="7491553" y="2267712"/>
            <a:ext cx="365760" cy="365760"/>
          </a:xfrm>
          <a:prstGeom prst="ellipse">
            <a:avLst/>
          </a:prstGeom>
          <a:solidFill>
            <a:srgbClr val="1C69EF"/>
          </a:solidFill>
          <a:ln w="15875">
            <a:solidFill>
              <a:srgbClr val="1C69EF"/>
            </a:solidFill>
            <a:prstDash val="solid"/>
          </a:ln>
        </p:spPr>
      </p:sp>
      <p:sp>
        <p:nvSpPr>
          <p:cNvPr id="16" name="Text 11"/>
          <p:cNvSpPr txBox="1"/>
          <p:nvPr/>
        </p:nvSpPr>
        <p:spPr>
          <a:xfrm>
            <a:off x="7491553" y="226771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pic>
        <p:nvPicPr>
          <p:cNvPr id="17" name="Image 3" descr="preencoded.png">    </p:cNvPr>
          <p:cNvPicPr>
            <a:picLocks noChangeAspect="1"/>
          </p:cNvPicPr>
          <p:nvPr/>
        </p:nvPicPr>
        <p:blipFill>
          <a:blip r:embed="rId4"/>
          <a:stretch>
            <a:fillRect/>
          </a:stretch>
        </p:blipFill>
        <p:spPr>
          <a:xfrm>
            <a:off x="6859392" y="2693890"/>
            <a:ext cx="1630082" cy="3116140"/>
          </a:xfrm>
          <a:prstGeom prst="rect">
            <a:avLst/>
          </a:prstGeom>
        </p:spPr>
      </p:pic>
      <p:sp>
        <p:nvSpPr>
          <p:cNvPr id="18" name="Text 12"/>
          <p:cNvSpPr txBox="1"/>
          <p:nvPr/>
        </p:nvSpPr>
        <p:spPr>
          <a:xfrm>
            <a:off x="6634382" y="5815584"/>
            <a:ext cx="2080102"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발급: 결제 즉시 내 이용권</a:t>
            </a:r>
            <a:endParaRPr lang="en-US" sz="1050" dirty="0"/>
          </a:p>
        </p:txBody>
      </p:sp>
      <p:sp>
        <p:nvSpPr>
          <p:cNvPr id="19" name="Shape 13"/>
          <p:cNvSpPr/>
          <p:nvPr/>
        </p:nvSpPr>
        <p:spPr>
          <a:xfrm>
            <a:off x="10648724" y="2267712"/>
            <a:ext cx="365760" cy="365760"/>
          </a:xfrm>
          <a:prstGeom prst="ellipse">
            <a:avLst/>
          </a:prstGeom>
          <a:solidFill>
            <a:srgbClr val="1C69EF"/>
          </a:solidFill>
          <a:ln w="15875">
            <a:solidFill>
              <a:srgbClr val="1C69EF"/>
            </a:solidFill>
            <a:prstDash val="solid"/>
          </a:ln>
        </p:spPr>
      </p:sp>
      <p:sp>
        <p:nvSpPr>
          <p:cNvPr id="20" name="Text 14"/>
          <p:cNvSpPr txBox="1"/>
          <p:nvPr/>
        </p:nvSpPr>
        <p:spPr>
          <a:xfrm>
            <a:off x="10648724" y="2267712"/>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4</a:t>
            </a:r>
            <a:endParaRPr lang="en-US" sz="1150" dirty="0"/>
          </a:p>
        </p:txBody>
      </p:sp>
      <p:pic>
        <p:nvPicPr>
          <p:cNvPr id="21" name="Image 4" descr="preencoded.png">    </p:cNvPr>
          <p:cNvPicPr>
            <a:picLocks noChangeAspect="1"/>
          </p:cNvPicPr>
          <p:nvPr/>
        </p:nvPicPr>
        <p:blipFill>
          <a:blip r:embed="rId5"/>
          <a:stretch>
            <a:fillRect/>
          </a:stretch>
        </p:blipFill>
        <p:spPr>
          <a:xfrm>
            <a:off x="10016564" y="2693890"/>
            <a:ext cx="1630082" cy="3116140"/>
          </a:xfrm>
          <a:prstGeom prst="rect">
            <a:avLst/>
          </a:prstGeom>
        </p:spPr>
      </p:pic>
      <p:sp>
        <p:nvSpPr>
          <p:cNvPr id="22" name="Text 15"/>
          <p:cNvSpPr txBox="1"/>
          <p:nvPr/>
        </p:nvSpPr>
        <p:spPr>
          <a:xfrm>
            <a:off x="9791554" y="5815584"/>
            <a:ext cx="2080102"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사용: 매장에서 QR 또는 확인코드</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67066" cy="237744"/>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04</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손님이 낸 돈은 이렇게 갈립니다. 내 몫이 붙는 자리는 두 곳입니다.</a:t>
            </a:r>
            <a:endParaRPr lang="en-US" sz="2700" dirty="0"/>
          </a:p>
        </p:txBody>
      </p:sp>
      <p:sp>
        <p:nvSpPr>
          <p:cNvPr id="6" name="Text 3"/>
          <p:cNvSpPr txBox="1"/>
          <p:nvPr/>
        </p:nvSpPr>
        <p:spPr>
          <a:xfrm>
            <a:off x="685800" y="1828800"/>
            <a:ext cx="10820095" cy="36576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사장님과 대행사에게 보여드리는 그림과 같은 그림입니다. 숫자를 숨기지 않습니다.</a:t>
            </a:r>
            <a:endParaRPr lang="en-US" sz="1250" dirty="0"/>
          </a:p>
        </p:txBody>
      </p:sp>
      <p:sp>
        <p:nvSpPr>
          <p:cNvPr id="7" name="Shape 4"/>
          <p:cNvSpPr/>
          <p:nvPr/>
        </p:nvSpPr>
        <p:spPr>
          <a:xfrm>
            <a:off x="685800" y="2377440"/>
            <a:ext cx="2011680" cy="713232"/>
          </a:xfrm>
          <a:prstGeom prst="roundRect">
            <a:avLst>
              <a:gd name="adj" fmla="val 17949"/>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8" name="Text 5"/>
          <p:cNvSpPr txBox="1"/>
          <p:nvPr/>
        </p:nvSpPr>
        <p:spPr>
          <a:xfrm>
            <a:off x="685800" y="2468880"/>
            <a:ext cx="2011680" cy="292608"/>
          </a:xfrm>
          <a:prstGeom prst="rect">
            <a:avLst/>
          </a:prstGeom>
          <a:noFill/>
          <a:ln/>
        </p:spPr>
        <p:txBody>
          <a:bodyPr wrap="square" lIns="0" tIns="0" rIns="0" bIns="0" rtlCol="0" anchor="ctr"/>
          <a:lstStyle/>
          <a:p>
            <a:pPr algn="ctr" indent="0" marL="0">
              <a:buNone/>
            </a:pPr>
            <a:r>
              <a:rPr lang="en-US" sz="1400" b="1" spc="-30" kern="0" dirty="0">
                <a:solidFill>
                  <a:srgbClr val="16181C"/>
                </a:solidFill>
                <a:latin typeface="Pretendard" pitchFamily="34" charset="0"/>
                <a:ea typeface="Pretendard" pitchFamily="34" charset="-122"/>
                <a:cs typeface="Pretendard" pitchFamily="34" charset="-120"/>
              </a:rPr>
              <a:t>손님</a:t>
            </a:r>
            <a:endParaRPr lang="en-US" sz="1400" dirty="0"/>
          </a:p>
        </p:txBody>
      </p:sp>
      <p:sp>
        <p:nvSpPr>
          <p:cNvPr id="9" name="Text 6"/>
          <p:cNvSpPr txBox="1"/>
          <p:nvPr/>
        </p:nvSpPr>
        <p:spPr>
          <a:xfrm>
            <a:off x="685800" y="2761488"/>
            <a:ext cx="2011680" cy="237744"/>
          </a:xfrm>
          <a:prstGeom prst="rect">
            <a:avLst/>
          </a:prstGeom>
          <a:noFill/>
          <a:ln/>
        </p:spPr>
        <p:txBody>
          <a:bodyPr wrap="square" lIns="0" tIns="0" rIns="0" bIns="0" rtlCol="0" anchor="ctr"/>
          <a:lstStyle/>
          <a:p>
            <a:pPr algn="ctr" indent="0" marL="0">
              <a:buNone/>
            </a:pPr>
            <a:r>
              <a:rPr lang="en-US" sz="1000" dirty="0">
                <a:solidFill>
                  <a:srgbClr val="6E6B68"/>
                </a:solidFill>
                <a:latin typeface="Pretendard" pitchFamily="34" charset="0"/>
                <a:ea typeface="Pretendard" pitchFamily="34" charset="-122"/>
                <a:cs typeface="Pretendard" pitchFamily="34" charset="-120"/>
              </a:rPr>
              <a:t>이용권 결제</a:t>
            </a:r>
            <a:endParaRPr lang="en-US" sz="1000" dirty="0"/>
          </a:p>
        </p:txBody>
      </p:sp>
      <p:pic>
        <p:nvPicPr>
          <p:cNvPr id="10" name="Image 1" descr="preencoded.png">    </p:cNvPr>
          <p:cNvPicPr>
            <a:picLocks noChangeAspect="1"/>
          </p:cNvPicPr>
          <p:nvPr/>
        </p:nvPicPr>
        <p:blipFill>
          <a:blip r:embed="rId2"/>
          <a:stretch>
            <a:fillRect/>
          </a:stretch>
        </p:blipFill>
        <p:spPr>
          <a:xfrm>
            <a:off x="2816352" y="2624328"/>
            <a:ext cx="219456" cy="219456"/>
          </a:xfrm>
          <a:prstGeom prst="rect">
            <a:avLst/>
          </a:prstGeom>
        </p:spPr>
      </p:pic>
      <p:sp>
        <p:nvSpPr>
          <p:cNvPr id="11" name="Shape 7"/>
          <p:cNvSpPr/>
          <p:nvPr/>
        </p:nvSpPr>
        <p:spPr>
          <a:xfrm>
            <a:off x="3154680" y="2377440"/>
            <a:ext cx="2011680" cy="713232"/>
          </a:xfrm>
          <a:prstGeom prst="roundRect">
            <a:avLst>
              <a:gd name="adj" fmla="val 17949"/>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2" name="Text 8"/>
          <p:cNvSpPr txBox="1"/>
          <p:nvPr/>
        </p:nvSpPr>
        <p:spPr>
          <a:xfrm>
            <a:off x="3154680" y="2468880"/>
            <a:ext cx="2011680" cy="292608"/>
          </a:xfrm>
          <a:prstGeom prst="rect">
            <a:avLst/>
          </a:prstGeom>
          <a:noFill/>
          <a:ln/>
        </p:spPr>
        <p:txBody>
          <a:bodyPr wrap="square" lIns="0" tIns="0" rIns="0" bIns="0" rtlCol="0" anchor="ctr"/>
          <a:lstStyle/>
          <a:p>
            <a:pPr algn="ctr" indent="0" marL="0">
              <a:buNone/>
            </a:pPr>
            <a:r>
              <a:rPr lang="en-US" sz="1400" b="1" spc="-30" kern="0" dirty="0">
                <a:solidFill>
                  <a:srgbClr val="16181C"/>
                </a:solidFill>
                <a:latin typeface="Pretendard" pitchFamily="34" charset="0"/>
                <a:ea typeface="Pretendard" pitchFamily="34" charset="-122"/>
                <a:cs typeface="Pretendard" pitchFamily="34" charset="-120"/>
              </a:rPr>
              <a:t>카드사</a:t>
            </a:r>
            <a:endParaRPr lang="en-US" sz="1400" dirty="0"/>
          </a:p>
        </p:txBody>
      </p:sp>
      <p:sp>
        <p:nvSpPr>
          <p:cNvPr id="13" name="Text 9"/>
          <p:cNvSpPr txBox="1"/>
          <p:nvPr/>
        </p:nvSpPr>
        <p:spPr>
          <a:xfrm>
            <a:off x="3154680" y="2761488"/>
            <a:ext cx="2011680" cy="237744"/>
          </a:xfrm>
          <a:prstGeom prst="rect">
            <a:avLst/>
          </a:prstGeom>
          <a:noFill/>
          <a:ln/>
        </p:spPr>
        <p:txBody>
          <a:bodyPr wrap="square" lIns="0" tIns="0" rIns="0" bIns="0" rtlCol="0" anchor="ctr"/>
          <a:lstStyle/>
          <a:p>
            <a:pPr algn="ctr" indent="0" marL="0">
              <a:buNone/>
            </a:pPr>
            <a:r>
              <a:rPr lang="en-US" sz="1000" dirty="0">
                <a:solidFill>
                  <a:srgbClr val="6E6B68"/>
                </a:solidFill>
                <a:latin typeface="Pretendard" pitchFamily="34" charset="0"/>
                <a:ea typeface="Pretendard" pitchFamily="34" charset="-122"/>
                <a:cs typeface="Pretendard" pitchFamily="34" charset="-120"/>
              </a:rPr>
              <a:t>결제 처리</a:t>
            </a:r>
            <a:endParaRPr lang="en-US" sz="1000" dirty="0"/>
          </a:p>
        </p:txBody>
      </p:sp>
      <p:pic>
        <p:nvPicPr>
          <p:cNvPr id="14" name="Image 2" descr="preencoded.png">    </p:cNvPr>
          <p:cNvPicPr>
            <a:picLocks noChangeAspect="1"/>
          </p:cNvPicPr>
          <p:nvPr/>
        </p:nvPicPr>
        <p:blipFill>
          <a:blip r:embed="rId3"/>
          <a:stretch>
            <a:fillRect/>
          </a:stretch>
        </p:blipFill>
        <p:spPr>
          <a:xfrm>
            <a:off x="5285232" y="2624328"/>
            <a:ext cx="219456" cy="219456"/>
          </a:xfrm>
          <a:prstGeom prst="rect">
            <a:avLst/>
          </a:prstGeom>
        </p:spPr>
      </p:pic>
      <p:sp>
        <p:nvSpPr>
          <p:cNvPr id="15" name="Shape 10"/>
          <p:cNvSpPr/>
          <p:nvPr/>
        </p:nvSpPr>
        <p:spPr>
          <a:xfrm>
            <a:off x="5623560" y="2377440"/>
            <a:ext cx="2011680" cy="713232"/>
          </a:xfrm>
          <a:prstGeom prst="roundRect">
            <a:avLst>
              <a:gd name="adj" fmla="val 17949"/>
            </a:avLst>
          </a:prstGeom>
          <a:solidFill>
            <a:srgbClr val="16181C"/>
          </a:solidFill>
          <a:ln w="12700">
            <a:solidFill>
              <a:srgbClr val="16181C"/>
            </a:solidFill>
            <a:prstDash val="solid"/>
          </a:ln>
        </p:spPr>
      </p:sp>
      <p:sp>
        <p:nvSpPr>
          <p:cNvPr id="16" name="Text 11"/>
          <p:cNvSpPr txBox="1"/>
          <p:nvPr/>
        </p:nvSpPr>
        <p:spPr>
          <a:xfrm>
            <a:off x="5623560" y="2468880"/>
            <a:ext cx="2011680" cy="292608"/>
          </a:xfrm>
          <a:prstGeom prst="rect">
            <a:avLst/>
          </a:prstGeom>
          <a:noFill/>
          <a:ln/>
        </p:spPr>
        <p:txBody>
          <a:bodyPr wrap="square" lIns="0" tIns="0" rIns="0" bIns="0" rtlCol="0" anchor="ctr"/>
          <a:lstStyle/>
          <a:p>
            <a:pPr algn="ctr" indent="0" marL="0">
              <a:buNone/>
            </a:pPr>
            <a:r>
              <a:rPr lang="en-US" sz="1400" b="1" spc="-30" kern="0" dirty="0">
                <a:solidFill>
                  <a:srgbClr val="F8F7FC"/>
                </a:solidFill>
                <a:latin typeface="Pretendard" pitchFamily="34" charset="0"/>
                <a:ea typeface="Pretendard" pitchFamily="34" charset="-122"/>
                <a:cs typeface="Pretendard" pitchFamily="34" charset="-120"/>
              </a:rPr>
              <a:t>유어딜</a:t>
            </a:r>
            <a:endParaRPr lang="en-US" sz="1400" dirty="0"/>
          </a:p>
        </p:txBody>
      </p:sp>
      <p:sp>
        <p:nvSpPr>
          <p:cNvPr id="17" name="Text 12"/>
          <p:cNvSpPr txBox="1"/>
          <p:nvPr/>
        </p:nvSpPr>
        <p:spPr>
          <a:xfrm>
            <a:off x="5623560" y="2761488"/>
            <a:ext cx="2011680" cy="237744"/>
          </a:xfrm>
          <a:prstGeom prst="rect">
            <a:avLst/>
          </a:prstGeom>
          <a:noFill/>
          <a:ln/>
        </p:spPr>
        <p:txBody>
          <a:bodyPr wrap="square" lIns="0" tIns="0" rIns="0" bIns="0" rtlCol="0" anchor="ctr"/>
          <a:lstStyle/>
          <a:p>
            <a:pPr algn="ctr" indent="0" marL="0">
              <a:buNone/>
            </a:pPr>
            <a:r>
              <a:rPr lang="en-US" sz="1000" b="1" dirty="0">
                <a:solidFill>
                  <a:srgbClr val="1C69EF"/>
                </a:solidFill>
                <a:latin typeface="Pretendard" pitchFamily="34" charset="0"/>
                <a:ea typeface="Pretendard" pitchFamily="34" charset="-122"/>
                <a:cs typeface="Pretendard" pitchFamily="34" charset="-120"/>
              </a:rPr>
              <a:t>10%</a:t>
            </a:r>
            <a:endParaRPr lang="en-US" sz="1000" dirty="0"/>
          </a:p>
        </p:txBody>
      </p:sp>
      <p:pic>
        <p:nvPicPr>
          <p:cNvPr id="18" name="Image 3" descr="preencoded.png">    </p:cNvPr>
          <p:cNvPicPr>
            <a:picLocks noChangeAspect="1"/>
          </p:cNvPicPr>
          <p:nvPr/>
        </p:nvPicPr>
        <p:blipFill>
          <a:blip r:embed="rId4"/>
          <a:stretch>
            <a:fillRect/>
          </a:stretch>
        </p:blipFill>
        <p:spPr>
          <a:xfrm>
            <a:off x="7754112" y="2624328"/>
            <a:ext cx="219456" cy="219456"/>
          </a:xfrm>
          <a:prstGeom prst="rect">
            <a:avLst/>
          </a:prstGeom>
        </p:spPr>
      </p:pic>
      <p:sp>
        <p:nvSpPr>
          <p:cNvPr id="19" name="Shape 13"/>
          <p:cNvSpPr/>
          <p:nvPr/>
        </p:nvSpPr>
        <p:spPr>
          <a:xfrm>
            <a:off x="8092440" y="2377440"/>
            <a:ext cx="2011680" cy="713232"/>
          </a:xfrm>
          <a:prstGeom prst="roundRect">
            <a:avLst>
              <a:gd name="adj" fmla="val 17949"/>
            </a:avLst>
          </a:prstGeom>
          <a:solidFill>
            <a:srgbClr val="EEF3FE"/>
          </a:solidFill>
          <a:ln w="12700">
            <a:solidFill>
              <a:srgbClr val="EEF3FE"/>
            </a:solidFill>
            <a:prstDash val="solid"/>
          </a:ln>
        </p:spPr>
      </p:sp>
      <p:sp>
        <p:nvSpPr>
          <p:cNvPr id="20" name="Text 14"/>
          <p:cNvSpPr txBox="1"/>
          <p:nvPr/>
        </p:nvSpPr>
        <p:spPr>
          <a:xfrm>
            <a:off x="8092440" y="2468880"/>
            <a:ext cx="2011680" cy="292608"/>
          </a:xfrm>
          <a:prstGeom prst="rect">
            <a:avLst/>
          </a:prstGeom>
          <a:noFill/>
          <a:ln/>
        </p:spPr>
        <p:txBody>
          <a:bodyPr wrap="square" lIns="0" tIns="0" rIns="0" bIns="0" rtlCol="0" anchor="ctr"/>
          <a:lstStyle/>
          <a:p>
            <a:pPr algn="ctr" indent="0" marL="0">
              <a:buNone/>
            </a:pPr>
            <a:r>
              <a:rPr lang="en-US" sz="1400" b="1" spc="-30" kern="0" dirty="0">
                <a:solidFill>
                  <a:srgbClr val="1C69EF"/>
                </a:solidFill>
                <a:latin typeface="Pretendard" pitchFamily="34" charset="0"/>
                <a:ea typeface="Pretendard" pitchFamily="34" charset="-122"/>
                <a:cs typeface="Pretendard" pitchFamily="34" charset="-120"/>
              </a:rPr>
              <a:t>사장님</a:t>
            </a:r>
            <a:endParaRPr lang="en-US" sz="1400" dirty="0"/>
          </a:p>
        </p:txBody>
      </p:sp>
      <p:sp>
        <p:nvSpPr>
          <p:cNvPr id="21" name="Text 15"/>
          <p:cNvSpPr txBox="1"/>
          <p:nvPr/>
        </p:nvSpPr>
        <p:spPr>
          <a:xfrm>
            <a:off x="8092440" y="2761488"/>
            <a:ext cx="2011680" cy="237744"/>
          </a:xfrm>
          <a:prstGeom prst="rect">
            <a:avLst/>
          </a:prstGeom>
          <a:noFill/>
          <a:ln/>
        </p:spPr>
        <p:txBody>
          <a:bodyPr wrap="square" lIns="0" tIns="0" rIns="0" bIns="0" rtlCol="0" anchor="ctr"/>
          <a:lstStyle/>
          <a:p>
            <a:pPr algn="ctr" indent="0" marL="0">
              <a:buNone/>
            </a:pPr>
            <a:r>
              <a:rPr lang="en-US" sz="1000" dirty="0">
                <a:solidFill>
                  <a:srgbClr val="6E6B68"/>
                </a:solidFill>
                <a:latin typeface="Pretendard" pitchFamily="34" charset="0"/>
                <a:ea typeface="Pretendard" pitchFamily="34" charset="-122"/>
                <a:cs typeface="Pretendard" pitchFamily="34" charset="-120"/>
              </a:rPr>
              <a:t>나머지 90%</a:t>
            </a:r>
            <a:endParaRPr lang="en-US" sz="1000" dirty="0"/>
          </a:p>
        </p:txBody>
      </p:sp>
      <p:sp>
        <p:nvSpPr>
          <p:cNvPr id="22" name="Shape 16"/>
          <p:cNvSpPr/>
          <p:nvPr/>
        </p:nvSpPr>
        <p:spPr>
          <a:xfrm>
            <a:off x="4160520" y="3090672"/>
            <a:ext cx="0" cy="292608"/>
          </a:xfrm>
          <a:prstGeom prst="line">
            <a:avLst/>
          </a:prstGeom>
          <a:noFill/>
          <a:ln w="9525">
            <a:solidFill>
              <a:srgbClr val="8A8580"/>
            </a:solidFill>
            <a:prstDash val="solid"/>
            <a:tailEnd type="triangle"/>
          </a:ln>
        </p:spPr>
      </p:sp>
      <p:sp>
        <p:nvSpPr>
          <p:cNvPr id="23" name="Text 17"/>
          <p:cNvSpPr txBox="1"/>
          <p:nvPr/>
        </p:nvSpPr>
        <p:spPr>
          <a:xfrm>
            <a:off x="3154680" y="3474720"/>
            <a:ext cx="2011680" cy="310896"/>
          </a:xfrm>
          <a:prstGeom prst="rect">
            <a:avLst/>
          </a:prstGeom>
          <a:noFill/>
          <a:ln/>
        </p:spPr>
        <p:txBody>
          <a:bodyPr wrap="square" lIns="0" tIns="0" rIns="0" bIns="0" rtlCol="0" anchor="ctr"/>
          <a:lstStyle/>
          <a:p>
            <a:pPr algn="ctr" indent="0" marL="0">
              <a:buNone/>
            </a:pPr>
            <a:r>
              <a:rPr lang="en-US" sz="1500" b="1" spc="-50" kern="0" dirty="0">
                <a:solidFill>
                  <a:srgbClr val="16181C"/>
                </a:solidFill>
                <a:latin typeface="Pretendard" pitchFamily="34" charset="0"/>
                <a:ea typeface="Pretendard" pitchFamily="34" charset="-122"/>
                <a:cs typeface="Pretendard" pitchFamily="34" charset="-120"/>
              </a:rPr>
              <a:t>약 2.75%</a:t>
            </a:r>
            <a:endParaRPr lang="en-US" sz="1500" dirty="0"/>
          </a:p>
        </p:txBody>
      </p:sp>
      <p:sp>
        <p:nvSpPr>
          <p:cNvPr id="24" name="Text 18"/>
          <p:cNvSpPr txBox="1"/>
          <p:nvPr/>
        </p:nvSpPr>
        <p:spPr>
          <a:xfrm>
            <a:off x="3063240" y="3803904"/>
            <a:ext cx="2194560" cy="914400"/>
          </a:xfrm>
          <a:prstGeom prst="rect">
            <a:avLst/>
          </a:prstGeom>
          <a:noFill/>
          <a:ln/>
        </p:spPr>
        <p:txBody>
          <a:bodyPr wrap="square" lIns="0" tIns="0" rIns="0" bIns="0" rtlCol="0" anchor="t"/>
          <a:lstStyle/>
          <a:p>
            <a:pPr algn="ctr" indent="0" marL="0">
              <a:lnSpc>
                <a:spcPct val="135000"/>
              </a:lnSpc>
              <a:buNone/>
            </a:pPr>
            <a:r>
              <a:rPr lang="en-US" sz="950" dirty="0">
                <a:solidFill>
                  <a:srgbClr val="6E6B68"/>
                </a:solidFill>
                <a:latin typeface="Pretendard" pitchFamily="34" charset="0"/>
                <a:ea typeface="Pretendard" pitchFamily="34" charset="-122"/>
                <a:cs typeface="Pretendard" pitchFamily="34" charset="-120"/>
              </a:rPr>
              <a:t>카드 결제 수수료.</a:t>
            </a:r>
            <a:endParaRPr lang="en-US" sz="950" dirty="0"/>
          </a:p>
          <a:p>
            <a:pPr algn="ctr" indent="0" marL="0">
              <a:lnSpc>
                <a:spcPct val="135000"/>
              </a:lnSpc>
              <a:buNone/>
            </a:pPr>
            <a:r>
              <a:rPr lang="en-US" sz="950" dirty="0">
                <a:solidFill>
                  <a:srgbClr val="6E6B68"/>
                </a:solidFill>
                <a:latin typeface="Pretendard" pitchFamily="34" charset="0"/>
                <a:ea typeface="Pretendard" pitchFamily="34" charset="-122"/>
                <a:cs typeface="Pretendard" pitchFamily="34" charset="-120"/>
              </a:rPr>
              <a:t>유어딜이 자기 몫 안에서 냅니다.</a:t>
            </a:r>
            <a:endParaRPr lang="en-US" sz="950" dirty="0"/>
          </a:p>
          <a:p>
            <a:pPr algn="ctr" indent="0" marL="0">
              <a:lnSpc>
                <a:spcPct val="135000"/>
              </a:lnSpc>
              <a:buNone/>
            </a:pPr>
            <a:r>
              <a:rPr lang="en-US" sz="950" dirty="0">
                <a:solidFill>
                  <a:srgbClr val="6E6B68"/>
                </a:solidFill>
                <a:latin typeface="Pretendard" pitchFamily="34" charset="0"/>
                <a:ea typeface="Pretendard" pitchFamily="34" charset="-122"/>
                <a:cs typeface="Pretendard" pitchFamily="34" charset="-120"/>
              </a:rPr>
              <a:t>카드사 정책에 따라 바뀔 수 있습니다</a:t>
            </a:r>
            <a:endParaRPr lang="en-US" sz="950" dirty="0"/>
          </a:p>
        </p:txBody>
      </p:sp>
      <p:sp>
        <p:nvSpPr>
          <p:cNvPr id="25" name="Shape 19"/>
          <p:cNvSpPr/>
          <p:nvPr/>
        </p:nvSpPr>
        <p:spPr>
          <a:xfrm>
            <a:off x="6629400" y="3090672"/>
            <a:ext cx="0" cy="292608"/>
          </a:xfrm>
          <a:prstGeom prst="line">
            <a:avLst/>
          </a:prstGeom>
          <a:noFill/>
          <a:ln w="9525">
            <a:solidFill>
              <a:srgbClr val="8A8580"/>
            </a:solidFill>
            <a:prstDash val="solid"/>
            <a:tailEnd type="triangle"/>
          </a:ln>
        </p:spPr>
      </p:sp>
      <p:sp>
        <p:nvSpPr>
          <p:cNvPr id="26" name="Shape 20"/>
          <p:cNvSpPr/>
          <p:nvPr/>
        </p:nvSpPr>
        <p:spPr>
          <a:xfrm>
            <a:off x="5513832" y="3401568"/>
            <a:ext cx="2231136" cy="1389888"/>
          </a:xfrm>
          <a:prstGeom prst="roundRect">
            <a:avLst>
              <a:gd name="adj" fmla="val 9211"/>
            </a:avLst>
          </a:prstGeom>
          <a:solidFill>
            <a:srgbClr val="EEF3FE"/>
          </a:solidFill>
          <a:ln w="12700">
            <a:solidFill>
              <a:srgbClr val="EEF3FE"/>
            </a:solidFill>
            <a:prstDash val="solid"/>
          </a:ln>
        </p:spPr>
      </p:sp>
      <p:sp>
        <p:nvSpPr>
          <p:cNvPr id="27" name="Text 21"/>
          <p:cNvSpPr txBox="1"/>
          <p:nvPr/>
        </p:nvSpPr>
        <p:spPr>
          <a:xfrm>
            <a:off x="5623560" y="3474720"/>
            <a:ext cx="2011680" cy="310896"/>
          </a:xfrm>
          <a:prstGeom prst="rect">
            <a:avLst/>
          </a:prstGeom>
          <a:noFill/>
          <a:ln/>
        </p:spPr>
        <p:txBody>
          <a:bodyPr wrap="square" lIns="0" tIns="0" rIns="0" bIns="0" rtlCol="0" anchor="ctr"/>
          <a:lstStyle/>
          <a:p>
            <a:pPr algn="ctr" indent="0" marL="0">
              <a:buNone/>
            </a:pPr>
            <a:r>
              <a:rPr lang="en-US" sz="1500" b="1" spc="-50" kern="0" dirty="0">
                <a:solidFill>
                  <a:srgbClr val="1C69EF"/>
                </a:solidFill>
                <a:latin typeface="Pretendard" pitchFamily="34" charset="0"/>
                <a:ea typeface="Pretendard" pitchFamily="34" charset="-122"/>
                <a:cs typeface="Pretendard" pitchFamily="34" charset="-120"/>
              </a:rPr>
              <a:t>영입 2%</a:t>
            </a:r>
            <a:endParaRPr lang="en-US" sz="1500" dirty="0"/>
          </a:p>
        </p:txBody>
      </p:sp>
      <p:sp>
        <p:nvSpPr>
          <p:cNvPr id="28" name="Text 22"/>
          <p:cNvSpPr txBox="1"/>
          <p:nvPr/>
        </p:nvSpPr>
        <p:spPr>
          <a:xfrm>
            <a:off x="5532120" y="3803904"/>
            <a:ext cx="2194560" cy="914400"/>
          </a:xfrm>
          <a:prstGeom prst="rect">
            <a:avLst/>
          </a:prstGeom>
          <a:noFill/>
          <a:ln/>
        </p:spPr>
        <p:txBody>
          <a:bodyPr wrap="square" lIns="0" tIns="0" rIns="0" bIns="0" rtlCol="0" anchor="t"/>
          <a:lstStyle/>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내가 데려온 매장이면</a:t>
            </a:r>
            <a:endParaRPr lang="en-US" sz="950" dirty="0"/>
          </a:p>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유어딜 몫 안에서 나에게.</a:t>
            </a:r>
            <a:endParaRPr lang="en-US" sz="950" dirty="0"/>
          </a:p>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직접 입점 매장만, 1년</a:t>
            </a:r>
            <a:endParaRPr lang="en-US" sz="950" dirty="0"/>
          </a:p>
        </p:txBody>
      </p:sp>
      <p:sp>
        <p:nvSpPr>
          <p:cNvPr id="29" name="Shape 23"/>
          <p:cNvSpPr/>
          <p:nvPr/>
        </p:nvSpPr>
        <p:spPr>
          <a:xfrm>
            <a:off x="9098280" y="3090672"/>
            <a:ext cx="0" cy="292608"/>
          </a:xfrm>
          <a:prstGeom prst="line">
            <a:avLst/>
          </a:prstGeom>
          <a:noFill/>
          <a:ln w="9525">
            <a:solidFill>
              <a:srgbClr val="8A8580"/>
            </a:solidFill>
            <a:prstDash val="solid"/>
            <a:tailEnd type="triangle"/>
          </a:ln>
        </p:spPr>
      </p:sp>
      <p:sp>
        <p:nvSpPr>
          <p:cNvPr id="30" name="Shape 24"/>
          <p:cNvSpPr/>
          <p:nvPr/>
        </p:nvSpPr>
        <p:spPr>
          <a:xfrm>
            <a:off x="7982712" y="3401568"/>
            <a:ext cx="2231136" cy="1389888"/>
          </a:xfrm>
          <a:prstGeom prst="roundRect">
            <a:avLst>
              <a:gd name="adj" fmla="val 9211"/>
            </a:avLst>
          </a:prstGeom>
          <a:solidFill>
            <a:srgbClr val="EEF3FE"/>
          </a:solidFill>
          <a:ln w="12700">
            <a:solidFill>
              <a:srgbClr val="EEF3FE"/>
            </a:solidFill>
            <a:prstDash val="solid"/>
          </a:ln>
        </p:spPr>
      </p:sp>
      <p:sp>
        <p:nvSpPr>
          <p:cNvPr id="31" name="Text 25"/>
          <p:cNvSpPr txBox="1"/>
          <p:nvPr/>
        </p:nvSpPr>
        <p:spPr>
          <a:xfrm>
            <a:off x="8092440" y="3474720"/>
            <a:ext cx="2011680" cy="310896"/>
          </a:xfrm>
          <a:prstGeom prst="rect">
            <a:avLst/>
          </a:prstGeom>
          <a:noFill/>
          <a:ln/>
        </p:spPr>
        <p:txBody>
          <a:bodyPr wrap="square" lIns="0" tIns="0" rIns="0" bIns="0" rtlCol="0" anchor="ctr"/>
          <a:lstStyle/>
          <a:p>
            <a:pPr algn="ctr" indent="0" marL="0">
              <a:buNone/>
            </a:pPr>
            <a:r>
              <a:rPr lang="en-US" sz="1500" b="1" spc="-50" kern="0" dirty="0">
                <a:solidFill>
                  <a:srgbClr val="1C69EF"/>
                </a:solidFill>
                <a:latin typeface="Pretendard" pitchFamily="34" charset="0"/>
                <a:ea typeface="Pretendard" pitchFamily="34" charset="-122"/>
                <a:cs typeface="Pretendard" pitchFamily="34" charset="-120"/>
              </a:rPr>
              <a:t>딜 소개비 %</a:t>
            </a:r>
            <a:endParaRPr lang="en-US" sz="1500" dirty="0"/>
          </a:p>
        </p:txBody>
      </p:sp>
      <p:sp>
        <p:nvSpPr>
          <p:cNvPr id="32" name="Text 26"/>
          <p:cNvSpPr txBox="1"/>
          <p:nvPr/>
        </p:nvSpPr>
        <p:spPr>
          <a:xfrm>
            <a:off x="8001000" y="3803904"/>
            <a:ext cx="2194560" cy="914400"/>
          </a:xfrm>
          <a:prstGeom prst="rect">
            <a:avLst/>
          </a:prstGeom>
          <a:noFill/>
          <a:ln/>
        </p:spPr>
        <p:txBody>
          <a:bodyPr wrap="square" lIns="0" tIns="0" rIns="0" bIns="0" rtlCol="0" anchor="t"/>
          <a:lstStyle/>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매장이 나에게 제안한 %.</a:t>
            </a:r>
            <a:endParaRPr lang="en-US" sz="950" dirty="0"/>
          </a:p>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사장님 몫 90% 안에서,</a:t>
            </a:r>
            <a:endParaRPr lang="en-US" sz="950" dirty="0"/>
          </a:p>
          <a:p>
            <a:pPr algn="ct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내 링크로 팔린 건에만</a:t>
            </a:r>
            <a:endParaRPr lang="en-US" sz="950" dirty="0"/>
          </a:p>
        </p:txBody>
      </p:sp>
      <p:sp>
        <p:nvSpPr>
          <p:cNvPr id="33" name="Shape 27"/>
          <p:cNvSpPr/>
          <p:nvPr/>
        </p:nvSpPr>
        <p:spPr>
          <a:xfrm>
            <a:off x="685800" y="4892040"/>
            <a:ext cx="5272888" cy="1051560"/>
          </a:xfrm>
          <a:prstGeom prst="roundRect">
            <a:avLst>
              <a:gd name="adj" fmla="val 1217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34" name="Text 28"/>
          <p:cNvSpPr txBox="1"/>
          <p:nvPr/>
        </p:nvSpPr>
        <p:spPr>
          <a:xfrm>
            <a:off x="914400" y="5020056"/>
            <a:ext cx="4815688"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딜 소개비는 매장이 냅니다</a:t>
            </a:r>
            <a:endParaRPr lang="en-US" sz="1150" dirty="0"/>
          </a:p>
        </p:txBody>
      </p:sp>
      <p:sp>
        <p:nvSpPr>
          <p:cNvPr id="35" name="Text 29"/>
          <p:cNvSpPr txBox="1"/>
          <p:nvPr/>
        </p:nvSpPr>
        <p:spPr>
          <a:xfrm>
            <a:off x="914400" y="5294376"/>
            <a:ext cx="4815688" cy="640080"/>
          </a:xfrm>
          <a:prstGeom prst="rect">
            <a:avLst/>
          </a:prstGeom>
          <a:noFill/>
          <a:ln/>
        </p:spPr>
        <p:txBody>
          <a:bodyPr wrap="square" lIns="0" tIns="0" rIns="0" bIns="0" rtlCol="0" anchor="t"/>
          <a:lstStyle/>
          <a:p>
            <a:pPr indent="0" marL="0">
              <a:lnSpc>
                <a:spcPct val="135000"/>
              </a:lnSpc>
              <a:buNone/>
            </a:pPr>
            <a:r>
              <a:rPr lang="en-US" sz="950" dirty="0">
                <a:solidFill>
                  <a:srgbClr val="6E6B68"/>
                </a:solidFill>
                <a:latin typeface="Pretendard" pitchFamily="34" charset="0"/>
                <a:ea typeface="Pretendard" pitchFamily="34" charset="-122"/>
                <a:cs typeface="Pretendard" pitchFamily="34" charset="-120"/>
              </a:rPr>
              <a:t>플랫폼이 정한 고정 요율이 아닙니다. 매장이 딜마다 제안한 비율이 그대로 적립되고, 유어딜이 중간에서 깎지 않습니다. 매장이 제안하지 않은 이용권에는 소개비가 없습니다.</a:t>
            </a:r>
            <a:endParaRPr lang="en-US" sz="950" dirty="0"/>
          </a:p>
        </p:txBody>
      </p:sp>
      <p:sp>
        <p:nvSpPr>
          <p:cNvPr id="36" name="Shape 30"/>
          <p:cNvSpPr/>
          <p:nvPr/>
        </p:nvSpPr>
        <p:spPr>
          <a:xfrm>
            <a:off x="6233008" y="4892040"/>
            <a:ext cx="5272888" cy="1051560"/>
          </a:xfrm>
          <a:prstGeom prst="roundRect">
            <a:avLst>
              <a:gd name="adj" fmla="val 1217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37" name="Text 31"/>
          <p:cNvSpPr txBox="1"/>
          <p:nvPr/>
        </p:nvSpPr>
        <p:spPr>
          <a:xfrm>
            <a:off x="6461608" y="5020056"/>
            <a:ext cx="4815688"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영입 2%는 유어딜이 냅니다</a:t>
            </a:r>
            <a:endParaRPr lang="en-US" sz="1150" dirty="0"/>
          </a:p>
        </p:txBody>
      </p:sp>
      <p:sp>
        <p:nvSpPr>
          <p:cNvPr id="38" name="Text 32"/>
          <p:cNvSpPr txBox="1"/>
          <p:nvPr/>
        </p:nvSpPr>
        <p:spPr>
          <a:xfrm>
            <a:off x="6461608" y="5294376"/>
            <a:ext cx="4815688" cy="640080"/>
          </a:xfrm>
          <a:prstGeom prst="rect">
            <a:avLst/>
          </a:prstGeom>
          <a:noFill/>
          <a:ln/>
        </p:spPr>
        <p:txBody>
          <a:bodyPr wrap="square" lIns="0" tIns="0" rIns="0" bIns="0" rtlCol="0" anchor="t"/>
          <a:lstStyle/>
          <a:p>
            <a:pPr indent="0" marL="0">
              <a:lnSpc>
                <a:spcPct val="135000"/>
              </a:lnSpc>
              <a:buNone/>
            </a:pPr>
            <a:r>
              <a:rPr lang="en-US" sz="950" dirty="0">
                <a:solidFill>
                  <a:srgbClr val="6E6B68"/>
                </a:solidFill>
                <a:latin typeface="Pretendard" pitchFamily="34" charset="0"/>
                <a:ea typeface="Pretendard" pitchFamily="34" charset="-122"/>
                <a:cs typeface="Pretendard" pitchFamily="34" charset="-120"/>
              </a:rPr>
              <a:t>내 소개로 직접 입점한 매장의 매출에서 1년간 유어딜 몫 10% 안에서 드립니다. 사장님 몫에서 떼지 않으니 사장님께 부담을 지우지 않습니다.</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67066" cy="237744"/>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05</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수익은 두 갈래입니다. 둘 다 내 링크로 팔린 뒤에만 붙습니다.</a:t>
            </a:r>
            <a:endParaRPr lang="en-US" sz="2700" dirty="0"/>
          </a:p>
        </p:txBody>
      </p:sp>
      <p:sp>
        <p:nvSpPr>
          <p:cNvPr id="6" name="Shape 3"/>
          <p:cNvSpPr/>
          <p:nvPr/>
        </p:nvSpPr>
        <p:spPr>
          <a:xfrm>
            <a:off x="685800" y="1965960"/>
            <a:ext cx="5250028" cy="2788920"/>
          </a:xfrm>
          <a:prstGeom prst="roundRect">
            <a:avLst>
              <a:gd name="adj" fmla="val 4590"/>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7" name="Shape 4"/>
          <p:cNvSpPr/>
          <p:nvPr/>
        </p:nvSpPr>
        <p:spPr>
          <a:xfrm>
            <a:off x="960120" y="2240280"/>
            <a:ext cx="420624" cy="420624"/>
          </a:xfrm>
          <a:prstGeom prst="ellipse">
            <a:avLst/>
          </a:prstGeom>
          <a:solidFill>
            <a:srgbClr val="E4EDFD"/>
          </a:solidFill>
          <a:ln w="12700">
            <a:solidFill>
              <a:srgbClr val="E4EDFD"/>
            </a:solidFill>
            <a:prstDash val="solid"/>
          </a:ln>
        </p:spPr>
      </p:sp>
      <p:pic>
        <p:nvPicPr>
          <p:cNvPr id="8" name="Image 1" descr="preencoded.png">    </p:cNvPr>
          <p:cNvPicPr>
            <a:picLocks noChangeAspect="1"/>
          </p:cNvPicPr>
          <p:nvPr/>
        </p:nvPicPr>
        <p:blipFill>
          <a:blip r:embed="rId2"/>
          <a:stretch>
            <a:fillRect/>
          </a:stretch>
        </p:blipFill>
        <p:spPr>
          <a:xfrm>
            <a:off x="1069482" y="2349642"/>
            <a:ext cx="201900" cy="201900"/>
          </a:xfrm>
          <a:prstGeom prst="rect">
            <a:avLst/>
          </a:prstGeom>
        </p:spPr>
      </p:pic>
      <p:sp>
        <p:nvSpPr>
          <p:cNvPr id="9" name="Text 5"/>
          <p:cNvSpPr txBox="1"/>
          <p:nvPr/>
        </p:nvSpPr>
        <p:spPr>
          <a:xfrm>
            <a:off x="1554480" y="2240280"/>
            <a:ext cx="4152748" cy="274320"/>
          </a:xfrm>
          <a:prstGeom prst="rect">
            <a:avLst/>
          </a:prstGeom>
          <a:noFill/>
          <a:ln/>
        </p:spPr>
        <p:txBody>
          <a:bodyPr wrap="square" lIns="0" tIns="0" rIns="0" bIns="0" rtlCol="0" anchor="ctr"/>
          <a:lstStyle/>
          <a:p>
            <a:pPr indent="0" marL="0">
              <a:buNone/>
            </a:pPr>
            <a:r>
              <a:rPr lang="en-US" sz="1450" b="1" spc="-40" kern="0" dirty="0">
                <a:solidFill>
                  <a:srgbClr val="16181C"/>
                </a:solidFill>
                <a:latin typeface="Pretendard" pitchFamily="34" charset="0"/>
                <a:ea typeface="Pretendard" pitchFamily="34" charset="-122"/>
                <a:cs typeface="Pretendard" pitchFamily="34" charset="-120"/>
              </a:rPr>
              <a:t>주문마다 붙는 딜 소개비</a:t>
            </a:r>
            <a:endParaRPr lang="en-US" sz="1450" dirty="0"/>
          </a:p>
        </p:txBody>
      </p:sp>
      <p:sp>
        <p:nvSpPr>
          <p:cNvPr id="10" name="Text 6"/>
          <p:cNvSpPr txBox="1"/>
          <p:nvPr/>
        </p:nvSpPr>
        <p:spPr>
          <a:xfrm>
            <a:off x="1554480" y="2514600"/>
            <a:ext cx="4152748" cy="237744"/>
          </a:xfrm>
          <a:prstGeom prst="rect">
            <a:avLst/>
          </a:prstGeom>
          <a:noFill/>
          <a:ln/>
        </p:spPr>
        <p:txBody>
          <a:bodyPr wrap="square" lIns="0" tIns="0" rIns="0" bIns="0" rtlCol="0" anchor="ctr"/>
          <a:lstStyle/>
          <a:p>
            <a:pPr indent="0" marL="0">
              <a:buNone/>
            </a:pPr>
            <a:r>
              <a:rPr lang="en-US" sz="1100" b="1" dirty="0">
                <a:solidFill>
                  <a:srgbClr val="1C69EF"/>
                </a:solidFill>
                <a:latin typeface="Pretendard" pitchFamily="34" charset="0"/>
                <a:ea typeface="Pretendard" pitchFamily="34" charset="-122"/>
                <a:cs typeface="Pretendard" pitchFamily="34" charset="-120"/>
              </a:rPr>
              <a:t>결제 금액 × 매장이 제안한 %</a:t>
            </a:r>
            <a:endParaRPr lang="en-US" sz="1100" dirty="0"/>
          </a:p>
        </p:txBody>
      </p:sp>
      <p:sp>
        <p:nvSpPr>
          <p:cNvPr id="11" name="Text 7"/>
          <p:cNvSpPr txBox="1"/>
          <p:nvPr/>
        </p:nvSpPr>
        <p:spPr>
          <a:xfrm>
            <a:off x="960120" y="2898648"/>
            <a:ext cx="4701388" cy="868680"/>
          </a:xfrm>
          <a:prstGeom prst="rect">
            <a:avLst/>
          </a:prstGeom>
          <a:noFill/>
          <a:ln/>
        </p:spPr>
        <p:txBody>
          <a:bodyPr wrap="square" lIns="0" tIns="0" rIns="0" bIns="0" rtlCol="0" anchor="t"/>
          <a:lstStyle/>
          <a:p>
            <a:pPr indent="0" marL="0">
              <a:lnSpc>
                <a:spcPct val="142000"/>
              </a:lnSpc>
              <a:buNone/>
            </a:pPr>
            <a:r>
              <a:rPr lang="en-US" sz="1050" dirty="0">
                <a:solidFill>
                  <a:srgbClr val="6E6B68"/>
                </a:solidFill>
                <a:latin typeface="Pretendard" pitchFamily="34" charset="0"/>
                <a:ea typeface="Pretendard" pitchFamily="34" charset="-122"/>
                <a:cs typeface="Pretendard" pitchFamily="34" charset="-120"/>
              </a:rPr>
              <a:t>매장이 "이 이용권 팔아 주면 몇 %" 를 적어 제안합니다. 수락하면 그 자리에서 내 전용 링크가 나오고, 그 링크로 팔린 건마다 그 %가 쌓입니다. 상한이 없고, 유어딜이 중간에서 떼지 않습니다. 제안에 콘텐츠 조건이나 기간이 붙으면 그 조건을 지킨 건에만 붙습니다.</a:t>
            </a:r>
            <a:endParaRPr lang="en-US" sz="1050" dirty="0"/>
          </a:p>
        </p:txBody>
      </p:sp>
      <p:sp>
        <p:nvSpPr>
          <p:cNvPr id="12" name="Text 8"/>
          <p:cNvSpPr txBox="1"/>
          <p:nvPr/>
        </p:nvSpPr>
        <p:spPr>
          <a:xfrm>
            <a:off x="960120" y="3749040"/>
            <a:ext cx="3008888" cy="237744"/>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재원</a:t>
            </a:r>
            <a:endParaRPr lang="en-US" sz="1150" dirty="0"/>
          </a:p>
        </p:txBody>
      </p:sp>
      <p:sp>
        <p:nvSpPr>
          <p:cNvPr id="13" name="Text 9"/>
          <p:cNvSpPr txBox="1"/>
          <p:nvPr/>
        </p:nvSpPr>
        <p:spPr>
          <a:xfrm>
            <a:off x="3545883" y="3749040"/>
            <a:ext cx="2115624" cy="237744"/>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사장님 몫 안에서</a:t>
            </a:r>
            <a:endParaRPr lang="en-US" sz="1200" dirty="0"/>
          </a:p>
        </p:txBody>
      </p:sp>
      <p:sp>
        <p:nvSpPr>
          <p:cNvPr id="14" name="Text 10"/>
          <p:cNvSpPr txBox="1"/>
          <p:nvPr/>
        </p:nvSpPr>
        <p:spPr>
          <a:xfrm>
            <a:off x="960120" y="4059936"/>
            <a:ext cx="3008888" cy="237744"/>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비율</a:t>
            </a:r>
            <a:endParaRPr lang="en-US" sz="1150" dirty="0"/>
          </a:p>
        </p:txBody>
      </p:sp>
      <p:sp>
        <p:nvSpPr>
          <p:cNvPr id="15" name="Text 11"/>
          <p:cNvSpPr txBox="1"/>
          <p:nvPr/>
        </p:nvSpPr>
        <p:spPr>
          <a:xfrm>
            <a:off x="3545883" y="4059936"/>
            <a:ext cx="2115624" cy="237744"/>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매장이 딜마다 제안</a:t>
            </a:r>
            <a:endParaRPr lang="en-US" sz="1200" dirty="0"/>
          </a:p>
        </p:txBody>
      </p:sp>
      <p:sp>
        <p:nvSpPr>
          <p:cNvPr id="16" name="Text 12"/>
          <p:cNvSpPr txBox="1"/>
          <p:nvPr/>
        </p:nvSpPr>
        <p:spPr>
          <a:xfrm>
            <a:off x="960120" y="4370832"/>
            <a:ext cx="3008888" cy="237744"/>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상한</a:t>
            </a:r>
            <a:endParaRPr lang="en-US" sz="1150" dirty="0"/>
          </a:p>
        </p:txBody>
      </p:sp>
      <p:sp>
        <p:nvSpPr>
          <p:cNvPr id="17" name="Text 13"/>
          <p:cNvSpPr txBox="1"/>
          <p:nvPr/>
        </p:nvSpPr>
        <p:spPr>
          <a:xfrm>
            <a:off x="3545883" y="4370832"/>
            <a:ext cx="2115624" cy="237744"/>
          </a:xfrm>
          <a:prstGeom prst="rect">
            <a:avLst/>
          </a:prstGeom>
          <a:noFill/>
          <a:ln/>
        </p:spPr>
        <p:txBody>
          <a:bodyPr wrap="square" lIns="0" tIns="0" rIns="0" bIns="0" rtlCol="0" anchor="ctr"/>
          <a:lstStyle/>
          <a:p>
            <a:pPr algn="r" indent="0" marL="0">
              <a:buNone/>
            </a:pPr>
            <a:r>
              <a:rPr lang="en-US" sz="1200" b="1" dirty="0">
                <a:solidFill>
                  <a:srgbClr val="1C69EF"/>
                </a:solidFill>
                <a:latin typeface="Pretendard" pitchFamily="34" charset="0"/>
                <a:ea typeface="Pretendard" pitchFamily="34" charset="-122"/>
                <a:cs typeface="Pretendard" pitchFamily="34" charset="-120"/>
              </a:rPr>
              <a:t>없음</a:t>
            </a:r>
            <a:endParaRPr lang="en-US" sz="1200" dirty="0"/>
          </a:p>
        </p:txBody>
      </p:sp>
      <p:sp>
        <p:nvSpPr>
          <p:cNvPr id="18" name="Shape 14"/>
          <p:cNvSpPr/>
          <p:nvPr/>
        </p:nvSpPr>
        <p:spPr>
          <a:xfrm>
            <a:off x="6255868" y="1965960"/>
            <a:ext cx="5250028" cy="2788920"/>
          </a:xfrm>
          <a:prstGeom prst="roundRect">
            <a:avLst>
              <a:gd name="adj" fmla="val 4590"/>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9" name="Shape 15"/>
          <p:cNvSpPr/>
          <p:nvPr/>
        </p:nvSpPr>
        <p:spPr>
          <a:xfrm>
            <a:off x="6530188" y="2240280"/>
            <a:ext cx="420624" cy="420624"/>
          </a:xfrm>
          <a:prstGeom prst="ellipse">
            <a:avLst/>
          </a:prstGeom>
          <a:solidFill>
            <a:srgbClr val="E4EDFD"/>
          </a:solidFill>
          <a:ln w="12700">
            <a:solidFill>
              <a:srgbClr val="E4EDFD"/>
            </a:solidFill>
            <a:prstDash val="solid"/>
          </a:ln>
        </p:spPr>
      </p:sp>
      <p:pic>
        <p:nvPicPr>
          <p:cNvPr id="20" name="Image 2" descr="preencoded.png">    </p:cNvPr>
          <p:cNvPicPr>
            <a:picLocks noChangeAspect="1"/>
          </p:cNvPicPr>
          <p:nvPr/>
        </p:nvPicPr>
        <p:blipFill>
          <a:blip r:embed="rId3"/>
          <a:stretch>
            <a:fillRect/>
          </a:stretch>
        </p:blipFill>
        <p:spPr>
          <a:xfrm>
            <a:off x="6639550" y="2349642"/>
            <a:ext cx="201900" cy="201900"/>
          </a:xfrm>
          <a:prstGeom prst="rect">
            <a:avLst/>
          </a:prstGeom>
        </p:spPr>
      </p:pic>
      <p:sp>
        <p:nvSpPr>
          <p:cNvPr id="21" name="Text 16"/>
          <p:cNvSpPr txBox="1"/>
          <p:nvPr/>
        </p:nvSpPr>
        <p:spPr>
          <a:xfrm>
            <a:off x="7124548" y="2240280"/>
            <a:ext cx="4152748" cy="274320"/>
          </a:xfrm>
          <a:prstGeom prst="rect">
            <a:avLst/>
          </a:prstGeom>
          <a:noFill/>
          <a:ln/>
        </p:spPr>
        <p:txBody>
          <a:bodyPr wrap="square" lIns="0" tIns="0" rIns="0" bIns="0" rtlCol="0" anchor="ctr"/>
          <a:lstStyle/>
          <a:p>
            <a:pPr indent="0" marL="0">
              <a:buNone/>
            </a:pPr>
            <a:r>
              <a:rPr lang="en-US" sz="1450" b="1" spc="-40" kern="0" dirty="0">
                <a:solidFill>
                  <a:srgbClr val="16181C"/>
                </a:solidFill>
                <a:latin typeface="Pretendard" pitchFamily="34" charset="0"/>
                <a:ea typeface="Pretendard" pitchFamily="34" charset="-122"/>
                <a:cs typeface="Pretendard" pitchFamily="34" charset="-120"/>
              </a:rPr>
              <a:t>1년간 붙는 영입 소개비</a:t>
            </a:r>
            <a:endParaRPr lang="en-US" sz="1450" dirty="0"/>
          </a:p>
        </p:txBody>
      </p:sp>
      <p:sp>
        <p:nvSpPr>
          <p:cNvPr id="22" name="Text 17"/>
          <p:cNvSpPr txBox="1"/>
          <p:nvPr/>
        </p:nvSpPr>
        <p:spPr>
          <a:xfrm>
            <a:off x="7124548" y="2514600"/>
            <a:ext cx="4152748" cy="237744"/>
          </a:xfrm>
          <a:prstGeom prst="rect">
            <a:avLst/>
          </a:prstGeom>
          <a:noFill/>
          <a:ln/>
        </p:spPr>
        <p:txBody>
          <a:bodyPr wrap="square" lIns="0" tIns="0" rIns="0" bIns="0" rtlCol="0" anchor="ctr"/>
          <a:lstStyle/>
          <a:p>
            <a:pPr indent="0" marL="0">
              <a:buNone/>
            </a:pPr>
            <a:r>
              <a:rPr lang="en-US" sz="1100" b="1" dirty="0">
                <a:solidFill>
                  <a:srgbClr val="1C69EF"/>
                </a:solidFill>
                <a:latin typeface="Pretendard" pitchFamily="34" charset="0"/>
                <a:ea typeface="Pretendard" pitchFamily="34" charset="-122"/>
                <a:cs typeface="Pretendard" pitchFamily="34" charset="-120"/>
              </a:rPr>
              <a:t>그 매장 매출 × 2%</a:t>
            </a:r>
            <a:endParaRPr lang="en-US" sz="1100" dirty="0"/>
          </a:p>
        </p:txBody>
      </p:sp>
      <p:sp>
        <p:nvSpPr>
          <p:cNvPr id="23" name="Text 18"/>
          <p:cNvSpPr txBox="1"/>
          <p:nvPr/>
        </p:nvSpPr>
        <p:spPr>
          <a:xfrm>
            <a:off x="6530188" y="2898648"/>
            <a:ext cx="4701388" cy="868680"/>
          </a:xfrm>
          <a:prstGeom prst="rect">
            <a:avLst/>
          </a:prstGeom>
          <a:noFill/>
          <a:ln/>
        </p:spPr>
        <p:txBody>
          <a:bodyPr wrap="square" lIns="0" tIns="0" rIns="0" bIns="0" rtlCol="0" anchor="t"/>
          <a:lstStyle/>
          <a:p>
            <a:pPr indent="0" marL="0">
              <a:lnSpc>
                <a:spcPct val="142000"/>
              </a:lnSpc>
              <a:buNone/>
            </a:pPr>
            <a:r>
              <a:rPr lang="en-US" sz="1050" dirty="0">
                <a:solidFill>
                  <a:srgbClr val="6E6B68"/>
                </a:solidFill>
                <a:latin typeface="Pretendard" pitchFamily="34" charset="0"/>
                <a:ea typeface="Pretendard" pitchFamily="34" charset="-122"/>
                <a:cs typeface="Pretendard" pitchFamily="34" charset="-120"/>
              </a:rPr>
              <a:t>내 초대 링크로 사장님이 직접 입점하면, 그 매장의 모든 이용권 매출에서 2%가 1년간 나에게 옵니다. 내가 그 딜을 다시 공유하지 않아도, 다른 사람 링크로 팔려도 쌓입니다. 매장이 주인을 바꿔도 유지됩니다.</a:t>
            </a:r>
            <a:endParaRPr lang="en-US" sz="1050" dirty="0"/>
          </a:p>
        </p:txBody>
      </p:sp>
      <p:sp>
        <p:nvSpPr>
          <p:cNvPr id="24" name="Text 19"/>
          <p:cNvSpPr txBox="1"/>
          <p:nvPr/>
        </p:nvSpPr>
        <p:spPr>
          <a:xfrm>
            <a:off x="6530188" y="3749040"/>
            <a:ext cx="3008888" cy="237744"/>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재원</a:t>
            </a:r>
            <a:endParaRPr lang="en-US" sz="1150" dirty="0"/>
          </a:p>
        </p:txBody>
      </p:sp>
      <p:sp>
        <p:nvSpPr>
          <p:cNvPr id="25" name="Text 20"/>
          <p:cNvSpPr txBox="1"/>
          <p:nvPr/>
        </p:nvSpPr>
        <p:spPr>
          <a:xfrm>
            <a:off x="9115951" y="3749040"/>
            <a:ext cx="2115624" cy="237744"/>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유어딜 몫 10% 안에서</a:t>
            </a:r>
            <a:endParaRPr lang="en-US" sz="1200" dirty="0"/>
          </a:p>
        </p:txBody>
      </p:sp>
      <p:sp>
        <p:nvSpPr>
          <p:cNvPr id="26" name="Text 21"/>
          <p:cNvSpPr txBox="1"/>
          <p:nvPr/>
        </p:nvSpPr>
        <p:spPr>
          <a:xfrm>
            <a:off x="6530188" y="4059936"/>
            <a:ext cx="3008888" cy="237744"/>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조건</a:t>
            </a:r>
            <a:endParaRPr lang="en-US" sz="1150" dirty="0"/>
          </a:p>
        </p:txBody>
      </p:sp>
      <p:sp>
        <p:nvSpPr>
          <p:cNvPr id="27" name="Text 22"/>
          <p:cNvSpPr txBox="1"/>
          <p:nvPr/>
        </p:nvSpPr>
        <p:spPr>
          <a:xfrm>
            <a:off x="9115951" y="4059936"/>
            <a:ext cx="2115624" cy="237744"/>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직접 입점 매장만</a:t>
            </a:r>
            <a:endParaRPr lang="en-US" sz="1200" dirty="0"/>
          </a:p>
        </p:txBody>
      </p:sp>
      <p:sp>
        <p:nvSpPr>
          <p:cNvPr id="28" name="Text 23"/>
          <p:cNvSpPr txBox="1"/>
          <p:nvPr/>
        </p:nvSpPr>
        <p:spPr>
          <a:xfrm>
            <a:off x="6530188" y="4370832"/>
            <a:ext cx="3008888" cy="237744"/>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기간</a:t>
            </a:r>
            <a:endParaRPr lang="en-US" sz="1150" dirty="0"/>
          </a:p>
        </p:txBody>
      </p:sp>
      <p:sp>
        <p:nvSpPr>
          <p:cNvPr id="29" name="Text 24"/>
          <p:cNvSpPr txBox="1"/>
          <p:nvPr/>
        </p:nvSpPr>
        <p:spPr>
          <a:xfrm>
            <a:off x="9115951" y="4370832"/>
            <a:ext cx="2115624" cy="237744"/>
          </a:xfrm>
          <a:prstGeom prst="rect">
            <a:avLst/>
          </a:prstGeom>
          <a:noFill/>
          <a:ln/>
        </p:spPr>
        <p:txBody>
          <a:bodyPr wrap="square" lIns="0" tIns="0" rIns="0" bIns="0" rtlCol="0" anchor="ctr"/>
          <a:lstStyle/>
          <a:p>
            <a:pPr algn="r" indent="0" marL="0">
              <a:buNone/>
            </a:pPr>
            <a:r>
              <a:rPr lang="en-US" sz="1200" b="1" dirty="0">
                <a:solidFill>
                  <a:srgbClr val="1C69EF"/>
                </a:solidFill>
                <a:latin typeface="Pretendard" pitchFamily="34" charset="0"/>
                <a:ea typeface="Pretendard" pitchFamily="34" charset="-122"/>
                <a:cs typeface="Pretendard" pitchFamily="34" charset="-120"/>
              </a:rPr>
              <a:t>입점일부터 1년</a:t>
            </a:r>
            <a:endParaRPr lang="en-US" sz="1200" dirty="0"/>
          </a:p>
        </p:txBody>
      </p:sp>
      <p:sp>
        <p:nvSpPr>
          <p:cNvPr id="30" name="Shape 25"/>
          <p:cNvSpPr/>
          <p:nvPr/>
        </p:nvSpPr>
        <p:spPr>
          <a:xfrm>
            <a:off x="685800" y="4983480"/>
            <a:ext cx="10820095" cy="1051560"/>
          </a:xfrm>
          <a:prstGeom prst="roundRect">
            <a:avLst>
              <a:gd name="adj" fmla="val 12174"/>
            </a:avLst>
          </a:prstGeom>
          <a:solidFill>
            <a:srgbClr val="EEF3FE"/>
          </a:solidFill>
          <a:ln w="12700">
            <a:solidFill>
              <a:srgbClr val="EEF3FE"/>
            </a:solidFill>
            <a:prstDash val="solid"/>
          </a:ln>
        </p:spPr>
      </p:sp>
      <p:sp>
        <p:nvSpPr>
          <p:cNvPr id="31" name="Text 26"/>
          <p:cNvSpPr txBox="1"/>
          <p:nvPr/>
        </p:nvSpPr>
        <p:spPr>
          <a:xfrm>
            <a:off x="960120" y="5120640"/>
            <a:ext cx="10271455" cy="27432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모든 이용권에 소개비가 붙는 것은 아닙니다</a:t>
            </a:r>
            <a:endParaRPr lang="en-US" sz="1250" dirty="0"/>
          </a:p>
        </p:txBody>
      </p:sp>
      <p:sp>
        <p:nvSpPr>
          <p:cNvPr id="32" name="Text 27"/>
          <p:cNvSpPr txBox="1"/>
          <p:nvPr/>
        </p:nvSpPr>
        <p:spPr>
          <a:xfrm>
            <a:off x="960120" y="5413248"/>
            <a:ext cx="10271455" cy="594360"/>
          </a:xfrm>
          <a:prstGeom prst="rect">
            <a:avLst/>
          </a:prstGeom>
          <a:noFill/>
          <a:ln/>
        </p:spPr>
        <p:txBody>
          <a:bodyPr wrap="square" lIns="0" tIns="0" rIns="0" bIns="0" rtlCol="0" anchor="t"/>
          <a:lstStyle/>
          <a:p>
            <a:pPr indent="0" marL="0">
              <a:lnSpc>
                <a:spcPct val="140000"/>
              </a:lnSpc>
              <a:buNone/>
            </a:pPr>
            <a:r>
              <a:rPr lang="en-US" sz="1050" dirty="0">
                <a:solidFill>
                  <a:srgbClr val="16181C"/>
                </a:solidFill>
                <a:latin typeface="Pretendard" pitchFamily="34" charset="0"/>
                <a:ea typeface="Pretendard" pitchFamily="34" charset="-122"/>
                <a:cs typeface="Pretendard" pitchFamily="34" charset="-120"/>
              </a:rPr>
              <a:t>유어샵에 담는 것은 누구나 할 수 있지만, 소개비는 매장과 맺은 딜이 있을 때만 붙습니다. 딜 없이 담아 둔 이용권이 팔리면 0원입니다. 사이트의 소개자 페이지에도 같은 문장이 적혀 있습니다.</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67066" cy="237744"/>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06</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500" b="1" spc="-60" kern="0" dirty="0">
                <a:solidFill>
                  <a:srgbClr val="16181C"/>
                </a:solidFill>
                <a:latin typeface="Pretendard" pitchFamily="34" charset="0"/>
                <a:ea typeface="Pretendard" pitchFamily="34" charset="-122"/>
                <a:cs typeface="Pretendard" pitchFamily="34" charset="-120"/>
              </a:rPr>
              <a:t>계산해 보면 이렇습니다. 지금 팔리는 실제 이용권으로 넣었습니다.</a:t>
            </a:r>
            <a:endParaRPr lang="en-US" sz="2500" dirty="0"/>
          </a:p>
        </p:txBody>
      </p:sp>
      <p:sp>
        <p:nvSpPr>
          <p:cNvPr id="6" name="Shape 3"/>
          <p:cNvSpPr/>
          <p:nvPr/>
        </p:nvSpPr>
        <p:spPr>
          <a:xfrm>
            <a:off x="685800" y="1965960"/>
            <a:ext cx="5394960" cy="4251960"/>
          </a:xfrm>
          <a:prstGeom prst="roundRect">
            <a:avLst>
              <a:gd name="adj" fmla="val 3011"/>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7" name="Text 4"/>
          <p:cNvSpPr txBox="1"/>
          <p:nvPr/>
        </p:nvSpPr>
        <p:spPr>
          <a:xfrm>
            <a:off x="1005840" y="2148840"/>
            <a:ext cx="4754880" cy="237744"/>
          </a:xfrm>
          <a:prstGeom prst="rect">
            <a:avLst/>
          </a:prstGeom>
          <a:noFill/>
          <a:ln/>
        </p:spPr>
        <p:txBody>
          <a:bodyPr wrap="square" lIns="0" tIns="0" rIns="0" bIns="0" rtlCol="0" anchor="ctr"/>
          <a:lstStyle/>
          <a:p>
            <a:pPr indent="0" marL="0">
              <a:buNone/>
            </a:pPr>
            <a:r>
              <a:rPr lang="en-US" sz="1000" b="1" spc="120" kern="0" dirty="0">
                <a:solidFill>
                  <a:srgbClr val="8A8580"/>
                </a:solidFill>
                <a:latin typeface="Pretendard" pitchFamily="34" charset="0"/>
                <a:ea typeface="Pretendard" pitchFamily="34" charset="-122"/>
                <a:cs typeface="Pretendard" pitchFamily="34" charset="-120"/>
              </a:rPr>
              <a:t>가정: 치즈돈가스 2인 세트 이용권을 한 달에 42건 팔았다</a:t>
            </a:r>
            <a:endParaRPr lang="en-US" sz="1000" dirty="0"/>
          </a:p>
        </p:txBody>
      </p:sp>
      <p:sp>
        <p:nvSpPr>
          <p:cNvPr id="8" name="Text 5"/>
          <p:cNvSpPr txBox="1"/>
          <p:nvPr/>
        </p:nvSpPr>
        <p:spPr>
          <a:xfrm>
            <a:off x="1005840" y="2468880"/>
            <a:ext cx="3043123" cy="320040"/>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이용권 판매가 (정가 25,000원의 34% 할인)</a:t>
            </a:r>
            <a:endParaRPr lang="en-US" sz="1150" dirty="0"/>
          </a:p>
        </p:txBody>
      </p:sp>
      <p:sp>
        <p:nvSpPr>
          <p:cNvPr id="9" name="Text 6"/>
          <p:cNvSpPr txBox="1"/>
          <p:nvPr/>
        </p:nvSpPr>
        <p:spPr>
          <a:xfrm>
            <a:off x="3621024" y="2468880"/>
            <a:ext cx="2139696" cy="32004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16,500원</a:t>
            </a:r>
            <a:endParaRPr lang="en-US" sz="1200" dirty="0"/>
          </a:p>
        </p:txBody>
      </p:sp>
      <p:sp>
        <p:nvSpPr>
          <p:cNvPr id="10" name="Text 7"/>
          <p:cNvSpPr txBox="1"/>
          <p:nvPr/>
        </p:nvSpPr>
        <p:spPr>
          <a:xfrm>
            <a:off x="1005840" y="2862072"/>
            <a:ext cx="3043123" cy="320040"/>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42건 판매 금액</a:t>
            </a:r>
            <a:endParaRPr lang="en-US" sz="1150" dirty="0"/>
          </a:p>
        </p:txBody>
      </p:sp>
      <p:sp>
        <p:nvSpPr>
          <p:cNvPr id="11" name="Text 8"/>
          <p:cNvSpPr txBox="1"/>
          <p:nvPr/>
        </p:nvSpPr>
        <p:spPr>
          <a:xfrm>
            <a:off x="3621024" y="2862072"/>
            <a:ext cx="2139696" cy="32004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693,000원</a:t>
            </a:r>
            <a:endParaRPr lang="en-US" sz="1200" dirty="0"/>
          </a:p>
        </p:txBody>
      </p:sp>
      <p:sp>
        <p:nvSpPr>
          <p:cNvPr id="12" name="Shape 9"/>
          <p:cNvSpPr/>
          <p:nvPr/>
        </p:nvSpPr>
        <p:spPr>
          <a:xfrm>
            <a:off x="1005840" y="3227832"/>
            <a:ext cx="4754880" cy="0"/>
          </a:xfrm>
          <a:prstGeom prst="line">
            <a:avLst/>
          </a:prstGeom>
          <a:noFill/>
          <a:ln w="9525">
            <a:solidFill>
              <a:srgbClr val="E6E2DE"/>
            </a:solidFill>
            <a:prstDash val="solid"/>
          </a:ln>
        </p:spPr>
      </p:sp>
      <p:sp>
        <p:nvSpPr>
          <p:cNvPr id="13" name="Text 10"/>
          <p:cNvSpPr txBox="1"/>
          <p:nvPr/>
        </p:nvSpPr>
        <p:spPr>
          <a:xfrm>
            <a:off x="1005840" y="3255264"/>
            <a:ext cx="3043123" cy="320040"/>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매장이 제안한 소개비 12% (가정)</a:t>
            </a:r>
            <a:endParaRPr lang="en-US" sz="1150" dirty="0"/>
          </a:p>
        </p:txBody>
      </p:sp>
      <p:sp>
        <p:nvSpPr>
          <p:cNvPr id="14" name="Text 11"/>
          <p:cNvSpPr txBox="1"/>
          <p:nvPr/>
        </p:nvSpPr>
        <p:spPr>
          <a:xfrm>
            <a:off x="3621024" y="3255264"/>
            <a:ext cx="2139696" cy="32004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83,160원</a:t>
            </a:r>
            <a:endParaRPr lang="en-US" sz="1200" dirty="0"/>
          </a:p>
        </p:txBody>
      </p:sp>
      <p:sp>
        <p:nvSpPr>
          <p:cNvPr id="15" name="Text 12"/>
          <p:cNvSpPr txBox="1"/>
          <p:nvPr/>
        </p:nvSpPr>
        <p:spPr>
          <a:xfrm>
            <a:off x="1005840" y="3648456"/>
            <a:ext cx="3043123" cy="320040"/>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기타소득 원천징수 8.8% (비사업자)</a:t>
            </a:r>
            <a:endParaRPr lang="en-US" sz="1150" dirty="0"/>
          </a:p>
        </p:txBody>
      </p:sp>
      <p:sp>
        <p:nvSpPr>
          <p:cNvPr id="16" name="Text 13"/>
          <p:cNvSpPr txBox="1"/>
          <p:nvPr/>
        </p:nvSpPr>
        <p:spPr>
          <a:xfrm>
            <a:off x="3621024" y="3648456"/>
            <a:ext cx="2139696" cy="32004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7,318원 차감</a:t>
            </a:r>
            <a:endParaRPr lang="en-US" sz="1200" dirty="0"/>
          </a:p>
        </p:txBody>
      </p:sp>
      <p:sp>
        <p:nvSpPr>
          <p:cNvPr id="17" name="Shape 14"/>
          <p:cNvSpPr/>
          <p:nvPr/>
        </p:nvSpPr>
        <p:spPr>
          <a:xfrm>
            <a:off x="1005840" y="4014216"/>
            <a:ext cx="4754880" cy="0"/>
          </a:xfrm>
          <a:prstGeom prst="line">
            <a:avLst/>
          </a:prstGeom>
          <a:noFill/>
          <a:ln w="9525">
            <a:solidFill>
              <a:srgbClr val="E6E2DE"/>
            </a:solidFill>
            <a:prstDash val="solid"/>
          </a:ln>
        </p:spPr>
      </p:sp>
      <p:sp>
        <p:nvSpPr>
          <p:cNvPr id="18" name="Text 15"/>
          <p:cNvSpPr txBox="1"/>
          <p:nvPr/>
        </p:nvSpPr>
        <p:spPr>
          <a:xfrm>
            <a:off x="1005840" y="4041648"/>
            <a:ext cx="3043123" cy="320040"/>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통장에 들어오는 돈</a:t>
            </a:r>
            <a:endParaRPr lang="en-US" sz="1150" dirty="0"/>
          </a:p>
        </p:txBody>
      </p:sp>
      <p:sp>
        <p:nvSpPr>
          <p:cNvPr id="19" name="Text 16"/>
          <p:cNvSpPr txBox="1"/>
          <p:nvPr/>
        </p:nvSpPr>
        <p:spPr>
          <a:xfrm>
            <a:off x="3621024" y="4041648"/>
            <a:ext cx="2139696" cy="320040"/>
          </a:xfrm>
          <a:prstGeom prst="rect">
            <a:avLst/>
          </a:prstGeom>
          <a:noFill/>
          <a:ln/>
        </p:spPr>
        <p:txBody>
          <a:bodyPr wrap="square" lIns="0" tIns="0" rIns="0" bIns="0" rtlCol="0" anchor="ctr"/>
          <a:lstStyle/>
          <a:p>
            <a:pPr algn="r" indent="0" marL="0">
              <a:buNone/>
            </a:pPr>
            <a:r>
              <a:rPr lang="en-US" sz="1200" b="1" dirty="0">
                <a:solidFill>
                  <a:srgbClr val="1C69EF"/>
                </a:solidFill>
                <a:latin typeface="Pretendard" pitchFamily="34" charset="0"/>
                <a:ea typeface="Pretendard" pitchFamily="34" charset="-122"/>
                <a:cs typeface="Pretendard" pitchFamily="34" charset="-120"/>
              </a:rPr>
              <a:t>75,842원</a:t>
            </a:r>
            <a:endParaRPr lang="en-US" sz="1200" dirty="0"/>
          </a:p>
        </p:txBody>
      </p:sp>
      <p:sp>
        <p:nvSpPr>
          <p:cNvPr id="20" name="Text 17"/>
          <p:cNvSpPr txBox="1"/>
          <p:nvPr/>
        </p:nvSpPr>
        <p:spPr>
          <a:xfrm>
            <a:off x="1005840" y="4434840"/>
            <a:ext cx="3043123" cy="320040"/>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내가 데려온 매장이라면 영입 2% 추가</a:t>
            </a:r>
            <a:endParaRPr lang="en-US" sz="1150" dirty="0"/>
          </a:p>
        </p:txBody>
      </p:sp>
      <p:sp>
        <p:nvSpPr>
          <p:cNvPr id="21" name="Text 18"/>
          <p:cNvSpPr txBox="1"/>
          <p:nvPr/>
        </p:nvSpPr>
        <p:spPr>
          <a:xfrm>
            <a:off x="3621024" y="4434840"/>
            <a:ext cx="2139696" cy="320040"/>
          </a:xfrm>
          <a:prstGeom prst="rect">
            <a:avLst/>
          </a:prstGeom>
          <a:noFill/>
          <a:ln/>
        </p:spPr>
        <p:txBody>
          <a:bodyPr wrap="square" lIns="0" tIns="0" rIns="0" bIns="0" rtlCol="0" anchor="ctr"/>
          <a:lstStyle/>
          <a:p>
            <a:pPr algn="r" indent="0" marL="0">
              <a:buNone/>
            </a:pPr>
            <a:r>
              <a:rPr lang="en-US" sz="1200" b="1" dirty="0">
                <a:solidFill>
                  <a:srgbClr val="1C69EF"/>
                </a:solidFill>
                <a:latin typeface="Pretendard" pitchFamily="34" charset="0"/>
                <a:ea typeface="Pretendard" pitchFamily="34" charset="-122"/>
                <a:cs typeface="Pretendard" pitchFamily="34" charset="-120"/>
              </a:rPr>
              <a:t>13,860원</a:t>
            </a:r>
            <a:endParaRPr lang="en-US" sz="1200" dirty="0"/>
          </a:p>
        </p:txBody>
      </p:sp>
      <p:sp>
        <p:nvSpPr>
          <p:cNvPr id="22" name="Text 19"/>
          <p:cNvSpPr txBox="1"/>
          <p:nvPr/>
        </p:nvSpPr>
        <p:spPr>
          <a:xfrm>
            <a:off x="1005840" y="4937760"/>
            <a:ext cx="4754880" cy="640080"/>
          </a:xfrm>
          <a:prstGeom prst="rect">
            <a:avLst/>
          </a:prstGeom>
          <a:noFill/>
          <a:ln/>
        </p:spPr>
        <p:txBody>
          <a:bodyPr wrap="square" lIns="0" tIns="0" rIns="0" bIns="0" rtlCol="0" anchor="t"/>
          <a:lstStyle/>
          <a:p>
            <a:pPr indent="0" marL="0">
              <a:lnSpc>
                <a:spcPct val="140000"/>
              </a:lnSpc>
              <a:buNone/>
            </a:pPr>
            <a:r>
              <a:rPr lang="en-US" sz="1100" dirty="0">
                <a:solidFill>
                  <a:srgbClr val="16181C"/>
                </a:solidFill>
                <a:latin typeface="Pretendard" pitchFamily="34" charset="0"/>
                <a:ea typeface="Pretendard" pitchFamily="34" charset="-122"/>
                <a:cs typeface="Pretendard" pitchFamily="34" charset="-120"/>
              </a:rPr>
              <a:t>소개비 12%와 42건은 가정입니다. 실제 비율은 딜마다 매장이 제시하고, 판매 건수는 내 채널이 정합니다. 사업자라면 원천징수는 3.3%입니다.</a:t>
            </a:r>
            <a:endParaRPr lang="en-US" sz="1100" dirty="0"/>
          </a:p>
        </p:txBody>
      </p:sp>
      <p:sp>
        <p:nvSpPr>
          <p:cNvPr id="23" name="Shape 20"/>
          <p:cNvSpPr/>
          <p:nvPr/>
        </p:nvSpPr>
        <p:spPr>
          <a:xfrm>
            <a:off x="6446520" y="2011680"/>
            <a:ext cx="402336" cy="402336"/>
          </a:xfrm>
          <a:prstGeom prst="ellipse">
            <a:avLst/>
          </a:prstGeom>
          <a:solidFill>
            <a:srgbClr val="E4EDFD"/>
          </a:solidFill>
          <a:ln w="12700">
            <a:solidFill>
              <a:srgbClr val="E4EDFD"/>
            </a:solidFill>
            <a:prstDash val="solid"/>
          </a:ln>
        </p:spPr>
      </p:sp>
      <p:pic>
        <p:nvPicPr>
          <p:cNvPr id="24" name="Image 1" descr="preencoded.png">    </p:cNvPr>
          <p:cNvPicPr>
            <a:picLocks noChangeAspect="1"/>
          </p:cNvPicPr>
          <p:nvPr/>
        </p:nvPicPr>
        <p:blipFill>
          <a:blip r:embed="rId2"/>
          <a:stretch>
            <a:fillRect/>
          </a:stretch>
        </p:blipFill>
        <p:spPr>
          <a:xfrm>
            <a:off x="6551127" y="2116287"/>
            <a:ext cx="193121" cy="193121"/>
          </a:xfrm>
          <a:prstGeom prst="rect">
            <a:avLst/>
          </a:prstGeom>
        </p:spPr>
      </p:pic>
      <p:sp>
        <p:nvSpPr>
          <p:cNvPr id="25" name="Text 21"/>
          <p:cNvSpPr txBox="1"/>
          <p:nvPr/>
        </p:nvSpPr>
        <p:spPr>
          <a:xfrm>
            <a:off x="7040880" y="2011680"/>
            <a:ext cx="4465015"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내가 내는 돈이 없다</a:t>
            </a:r>
            <a:endParaRPr lang="en-US" sz="1350" dirty="0"/>
          </a:p>
        </p:txBody>
      </p:sp>
      <p:sp>
        <p:nvSpPr>
          <p:cNvPr id="26" name="Text 22"/>
          <p:cNvSpPr txBox="1"/>
          <p:nvPr/>
        </p:nvSpPr>
        <p:spPr>
          <a:xfrm>
            <a:off x="7040880" y="2340864"/>
            <a:ext cx="4465015" cy="68580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가입비도 이용료도 없습니다. 소개비는 매장이, 영입비는 유어딜이 냅니다. 내 지출이 생기는 지점이 없습니다.</a:t>
            </a:r>
            <a:endParaRPr lang="en-US" sz="1100" dirty="0"/>
          </a:p>
        </p:txBody>
      </p:sp>
      <p:sp>
        <p:nvSpPr>
          <p:cNvPr id="27" name="Shape 23"/>
          <p:cNvSpPr/>
          <p:nvPr/>
        </p:nvSpPr>
        <p:spPr>
          <a:xfrm>
            <a:off x="6446520" y="3090672"/>
            <a:ext cx="402336" cy="402336"/>
          </a:xfrm>
          <a:prstGeom prst="ellipse">
            <a:avLst/>
          </a:prstGeom>
          <a:solidFill>
            <a:srgbClr val="E4EDFD"/>
          </a:solidFill>
          <a:ln w="12700">
            <a:solidFill>
              <a:srgbClr val="E4EDFD"/>
            </a:solidFill>
            <a:prstDash val="solid"/>
          </a:ln>
        </p:spPr>
      </p:sp>
      <p:pic>
        <p:nvPicPr>
          <p:cNvPr id="28" name="Image 2" descr="preencoded.png">    </p:cNvPr>
          <p:cNvPicPr>
            <a:picLocks noChangeAspect="1"/>
          </p:cNvPicPr>
          <p:nvPr/>
        </p:nvPicPr>
        <p:blipFill>
          <a:blip r:embed="rId3"/>
          <a:stretch>
            <a:fillRect/>
          </a:stretch>
        </p:blipFill>
        <p:spPr>
          <a:xfrm>
            <a:off x="6551127" y="3195279"/>
            <a:ext cx="193121" cy="193121"/>
          </a:xfrm>
          <a:prstGeom prst="rect">
            <a:avLst/>
          </a:prstGeom>
        </p:spPr>
      </p:pic>
      <p:sp>
        <p:nvSpPr>
          <p:cNvPr id="29" name="Text 24"/>
          <p:cNvSpPr txBox="1"/>
          <p:nvPr/>
        </p:nvSpPr>
        <p:spPr>
          <a:xfrm>
            <a:off x="7040880" y="3090672"/>
            <a:ext cx="4465015"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재고, 배송, 반품 응대가 없다</a:t>
            </a:r>
            <a:endParaRPr lang="en-US" sz="1350" dirty="0"/>
          </a:p>
        </p:txBody>
      </p:sp>
      <p:sp>
        <p:nvSpPr>
          <p:cNvPr id="30" name="Text 25"/>
          <p:cNvSpPr txBox="1"/>
          <p:nvPr/>
        </p:nvSpPr>
        <p:spPr>
          <a:xfrm>
            <a:off x="7040880" y="3419856"/>
            <a:ext cx="4465015" cy="68580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이용권은 매장에서 쓰는 권리라 택배가 오가지 않습니다. 공동구매를 열었다가 품절 문의를 혼자 받는 일이 생기지 않습니다.</a:t>
            </a:r>
            <a:endParaRPr lang="en-US" sz="1100" dirty="0"/>
          </a:p>
        </p:txBody>
      </p:sp>
      <p:sp>
        <p:nvSpPr>
          <p:cNvPr id="31" name="Shape 26"/>
          <p:cNvSpPr/>
          <p:nvPr/>
        </p:nvSpPr>
        <p:spPr>
          <a:xfrm>
            <a:off x="6446520" y="4169664"/>
            <a:ext cx="402336" cy="402336"/>
          </a:xfrm>
          <a:prstGeom prst="ellipse">
            <a:avLst/>
          </a:prstGeom>
          <a:solidFill>
            <a:srgbClr val="E4EDFD"/>
          </a:solidFill>
          <a:ln w="12700">
            <a:solidFill>
              <a:srgbClr val="E4EDFD"/>
            </a:solidFill>
            <a:prstDash val="solid"/>
          </a:ln>
        </p:spPr>
      </p:sp>
      <p:pic>
        <p:nvPicPr>
          <p:cNvPr id="32" name="Image 3" descr="preencoded.png">    </p:cNvPr>
          <p:cNvPicPr>
            <a:picLocks noChangeAspect="1"/>
          </p:cNvPicPr>
          <p:nvPr/>
        </p:nvPicPr>
        <p:blipFill>
          <a:blip r:embed="rId4"/>
          <a:stretch>
            <a:fillRect/>
          </a:stretch>
        </p:blipFill>
        <p:spPr>
          <a:xfrm>
            <a:off x="6551127" y="4274271"/>
            <a:ext cx="193121" cy="193121"/>
          </a:xfrm>
          <a:prstGeom prst="rect">
            <a:avLst/>
          </a:prstGeom>
        </p:spPr>
      </p:pic>
      <p:sp>
        <p:nvSpPr>
          <p:cNvPr id="33" name="Text 27"/>
          <p:cNvSpPr txBox="1"/>
          <p:nvPr/>
        </p:nvSpPr>
        <p:spPr>
          <a:xfrm>
            <a:off x="7040880" y="4169664"/>
            <a:ext cx="4465015"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캠페인이 끝나도 내 주소가 남는다</a:t>
            </a:r>
            <a:endParaRPr lang="en-US" sz="1350" dirty="0"/>
          </a:p>
        </p:txBody>
      </p:sp>
      <p:sp>
        <p:nvSpPr>
          <p:cNvPr id="34" name="Text 28"/>
          <p:cNvSpPr txBox="1"/>
          <p:nvPr/>
        </p:nvSpPr>
        <p:spPr>
          <a:xfrm>
            <a:off x="7040880" y="4498848"/>
            <a:ext cx="4465015" cy="68580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유어샵과 거기 담아 둔 이용권은 그대로 남습니다. 매번 새 링크로 시작하는 대신 한 주소에 쌓입니다.</a:t>
            </a:r>
            <a:endParaRPr lang="en-US" sz="1100" dirty="0"/>
          </a:p>
        </p:txBody>
      </p:sp>
      <p:sp>
        <p:nvSpPr>
          <p:cNvPr id="35" name="Shape 29"/>
          <p:cNvSpPr/>
          <p:nvPr/>
        </p:nvSpPr>
        <p:spPr>
          <a:xfrm>
            <a:off x="6446520" y="5248656"/>
            <a:ext cx="402336" cy="402336"/>
          </a:xfrm>
          <a:prstGeom prst="ellipse">
            <a:avLst/>
          </a:prstGeom>
          <a:solidFill>
            <a:srgbClr val="E4EDFD"/>
          </a:solidFill>
          <a:ln w="12700">
            <a:solidFill>
              <a:srgbClr val="E4EDFD"/>
            </a:solidFill>
            <a:prstDash val="solid"/>
          </a:ln>
        </p:spPr>
      </p:sp>
      <p:pic>
        <p:nvPicPr>
          <p:cNvPr id="36" name="Image 4" descr="preencoded.png">    </p:cNvPr>
          <p:cNvPicPr>
            <a:picLocks noChangeAspect="1"/>
          </p:cNvPicPr>
          <p:nvPr/>
        </p:nvPicPr>
        <p:blipFill>
          <a:blip r:embed="rId5"/>
          <a:stretch>
            <a:fillRect/>
          </a:stretch>
        </p:blipFill>
        <p:spPr>
          <a:xfrm>
            <a:off x="6551127" y="5353263"/>
            <a:ext cx="193121" cy="193121"/>
          </a:xfrm>
          <a:prstGeom prst="rect">
            <a:avLst/>
          </a:prstGeom>
        </p:spPr>
      </p:pic>
      <p:sp>
        <p:nvSpPr>
          <p:cNvPr id="37" name="Text 30"/>
          <p:cNvSpPr txBox="1"/>
          <p:nvPr/>
        </p:nvSpPr>
        <p:spPr>
          <a:xfrm>
            <a:off x="7040880" y="5248656"/>
            <a:ext cx="4465015"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환불되면 그 건만 회수된다</a:t>
            </a:r>
            <a:endParaRPr lang="en-US" sz="1350" dirty="0"/>
          </a:p>
        </p:txBody>
      </p:sp>
      <p:sp>
        <p:nvSpPr>
          <p:cNvPr id="38" name="Text 31"/>
          <p:cNvSpPr txBox="1"/>
          <p:nvPr/>
        </p:nvSpPr>
        <p:spPr>
          <a:xfrm>
            <a:off x="7040880" y="5577840"/>
            <a:ext cx="4465015" cy="685800"/>
          </a:xfrm>
          <a:prstGeom prst="rect">
            <a:avLst/>
          </a:prstGeom>
          <a:noFill/>
          <a:ln/>
        </p:spPr>
        <p:txBody>
          <a:bodyPr wrap="square" lIns="0" tIns="0" rIns="0" bIns="0" rtlCol="0" anchor="t"/>
          <a:lstStyle/>
          <a:p>
            <a:pPr indent="0" marL="0">
              <a:lnSpc>
                <a:spcPct val="142000"/>
              </a:lnSpc>
              <a:buNone/>
            </a:pPr>
            <a:r>
              <a:rPr lang="en-US" sz="1100" dirty="0">
                <a:solidFill>
                  <a:srgbClr val="6E6B68"/>
                </a:solidFill>
                <a:latin typeface="Pretendard" pitchFamily="34" charset="0"/>
                <a:ea typeface="Pretendard" pitchFamily="34" charset="-122"/>
                <a:cs typeface="Pretendard" pitchFamily="34" charset="-120"/>
              </a:rPr>
              <a:t>환불이나 취소된 주문의 소개비는 자동으로 회수됩니다. 그래서 확정까지 7일을 기다립니다.</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67066" cy="237744"/>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07</a:t>
            </a:r>
            <a:endParaRPr lang="en-US" sz="950" dirty="0"/>
          </a:p>
        </p:txBody>
      </p:sp>
      <p:sp>
        <p:nvSpPr>
          <p:cNvPr id="5" name="Text 2"/>
          <p:cNvSpPr txBox="1"/>
          <p:nvPr/>
        </p:nvSpPr>
        <p:spPr>
          <a:xfrm>
            <a:off x="685800" y="1051560"/>
            <a:ext cx="7680960"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경로 A. 제안을 받고, 공유합니다.</a:t>
            </a:r>
            <a:endParaRPr lang="en-US" sz="2700" dirty="0"/>
          </a:p>
        </p:txBody>
      </p:sp>
      <p:sp>
        <p:nvSpPr>
          <p:cNvPr id="6" name="Text 3"/>
          <p:cNvSpPr txBox="1"/>
          <p:nvPr/>
        </p:nvSpPr>
        <p:spPr>
          <a:xfrm>
            <a:off x="685800" y="1828800"/>
            <a:ext cx="7498080" cy="59436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매장 섭외가 필요 없습니다. 신청해 두면 조건을 담은 제안이 오고, 수락하면 그 자리에서 팔 수 있습니다. 수락하기 전까지 아무 의무도 생기지 않습니다.</a:t>
            </a:r>
            <a:endParaRPr lang="en-US" sz="1250" dirty="0"/>
          </a:p>
        </p:txBody>
      </p:sp>
      <p:sp>
        <p:nvSpPr>
          <p:cNvPr id="7" name="Shape 4"/>
          <p:cNvSpPr/>
          <p:nvPr/>
        </p:nvSpPr>
        <p:spPr>
          <a:xfrm>
            <a:off x="685800" y="2715768"/>
            <a:ext cx="347472" cy="347472"/>
          </a:xfrm>
          <a:prstGeom prst="ellipse">
            <a:avLst/>
          </a:prstGeom>
          <a:solidFill>
            <a:srgbClr val="1C69EF"/>
          </a:solidFill>
          <a:ln w="15875">
            <a:solidFill>
              <a:srgbClr val="1C69EF"/>
            </a:solidFill>
            <a:prstDash val="solid"/>
          </a:ln>
        </p:spPr>
      </p:sp>
      <p:sp>
        <p:nvSpPr>
          <p:cNvPr id="8" name="Text 5"/>
          <p:cNvSpPr txBox="1"/>
          <p:nvPr/>
        </p:nvSpPr>
        <p:spPr>
          <a:xfrm>
            <a:off x="685800" y="2715768"/>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sp>
        <p:nvSpPr>
          <p:cNvPr id="9" name="Text 6"/>
          <p:cNvSpPr txBox="1"/>
          <p:nvPr/>
        </p:nvSpPr>
        <p:spPr>
          <a:xfrm>
            <a:off x="1188720" y="2697480"/>
            <a:ext cx="6949440"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신청서를 남기고, 프로필을 공개한다</a:t>
            </a:r>
            <a:endParaRPr lang="en-US" sz="1350" dirty="0"/>
          </a:p>
        </p:txBody>
      </p:sp>
      <p:sp>
        <p:nvSpPr>
          <p:cNvPr id="10" name="Text 7"/>
          <p:cNvSpPr txBox="1"/>
          <p:nvPr/>
        </p:nvSpPr>
        <p:spPr>
          <a:xfrm>
            <a:off x="1188720" y="3008376"/>
            <a:ext cx="6949440" cy="50292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urdeal.kr/creators/apply 에 채널과 활동 지역을 적고, 카카오 로그인 뒤 내 정산 화면에서 소개자 프로필을 "공개"로 켭니다. 매장은 공개된 프로필을 보고 제안을 보냅니다. 팔로워 수 하한은 없습니다.</a:t>
            </a:r>
            <a:endParaRPr lang="en-US" sz="1050" dirty="0"/>
          </a:p>
        </p:txBody>
      </p:sp>
      <p:sp>
        <p:nvSpPr>
          <p:cNvPr id="11" name="Shape 8"/>
          <p:cNvSpPr/>
          <p:nvPr/>
        </p:nvSpPr>
        <p:spPr>
          <a:xfrm>
            <a:off x="685800" y="3502152"/>
            <a:ext cx="347472" cy="347472"/>
          </a:xfrm>
          <a:prstGeom prst="ellipse">
            <a:avLst/>
          </a:prstGeom>
          <a:solidFill>
            <a:srgbClr val="1C69EF"/>
          </a:solidFill>
          <a:ln w="15875">
            <a:solidFill>
              <a:srgbClr val="1C69EF"/>
            </a:solidFill>
            <a:prstDash val="solid"/>
          </a:ln>
        </p:spPr>
      </p:sp>
      <p:sp>
        <p:nvSpPr>
          <p:cNvPr id="12" name="Text 9"/>
          <p:cNvSpPr txBox="1"/>
          <p:nvPr/>
        </p:nvSpPr>
        <p:spPr>
          <a:xfrm>
            <a:off x="685800" y="3502152"/>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3" name="Text 10"/>
          <p:cNvSpPr txBox="1"/>
          <p:nvPr/>
        </p:nvSpPr>
        <p:spPr>
          <a:xfrm>
            <a:off x="1188720" y="3483864"/>
            <a:ext cx="6949440"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제안을 보고 수락한다</a:t>
            </a:r>
            <a:endParaRPr lang="en-US" sz="1350" dirty="0"/>
          </a:p>
        </p:txBody>
      </p:sp>
      <p:sp>
        <p:nvSpPr>
          <p:cNvPr id="14" name="Text 11"/>
          <p:cNvSpPr txBox="1"/>
          <p:nvPr/>
        </p:nvSpPr>
        <p:spPr>
          <a:xfrm>
            <a:off x="1188720" y="3794760"/>
            <a:ext cx="6949440" cy="50292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매장이 이용권과 소개비 %, 촬영 지원 여부를 담아 보냅니다. 수락하는 순간 조건이 발효되고 내 전용 링크가 발급됩니다.</a:t>
            </a:r>
            <a:endParaRPr lang="en-US" sz="1050" dirty="0"/>
          </a:p>
        </p:txBody>
      </p:sp>
      <p:sp>
        <p:nvSpPr>
          <p:cNvPr id="15" name="Shape 12"/>
          <p:cNvSpPr/>
          <p:nvPr/>
        </p:nvSpPr>
        <p:spPr>
          <a:xfrm>
            <a:off x="685800" y="4288536"/>
            <a:ext cx="347472" cy="347472"/>
          </a:xfrm>
          <a:prstGeom prst="ellipse">
            <a:avLst/>
          </a:prstGeom>
          <a:solidFill>
            <a:srgbClr val="1C69EF"/>
          </a:solidFill>
          <a:ln w="15875">
            <a:solidFill>
              <a:srgbClr val="1C69EF"/>
            </a:solidFill>
            <a:prstDash val="solid"/>
          </a:ln>
        </p:spPr>
      </p:sp>
      <p:sp>
        <p:nvSpPr>
          <p:cNvPr id="16" name="Text 13"/>
          <p:cNvSpPr txBox="1"/>
          <p:nvPr/>
        </p:nvSpPr>
        <p:spPr>
          <a:xfrm>
            <a:off x="685800" y="4288536"/>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17" name="Text 14"/>
          <p:cNvSpPr txBox="1"/>
          <p:nvPr/>
        </p:nvSpPr>
        <p:spPr>
          <a:xfrm>
            <a:off x="1188720" y="4270248"/>
            <a:ext cx="6949440"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콘텐츠에 링크를 건다</a:t>
            </a:r>
            <a:endParaRPr lang="en-US" sz="1350" dirty="0"/>
          </a:p>
        </p:txBody>
      </p:sp>
      <p:sp>
        <p:nvSpPr>
          <p:cNvPr id="18" name="Text 15"/>
          <p:cNvSpPr txBox="1"/>
          <p:nvPr/>
        </p:nvSpPr>
        <p:spPr>
          <a:xfrm>
            <a:off x="1188720" y="4581144"/>
            <a:ext cx="6949440" cy="50292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스토리, 릴스, 카톡, 유튜브 더보기, 블로그 어디든 됩니다. 유어샵에 담아 두면 콘텐츠가 내려가도 판매는 이어집니다.</a:t>
            </a:r>
            <a:endParaRPr lang="en-US" sz="1050" dirty="0"/>
          </a:p>
        </p:txBody>
      </p:sp>
      <p:sp>
        <p:nvSpPr>
          <p:cNvPr id="19" name="Shape 16"/>
          <p:cNvSpPr/>
          <p:nvPr/>
        </p:nvSpPr>
        <p:spPr>
          <a:xfrm>
            <a:off x="685800" y="5074920"/>
            <a:ext cx="347472" cy="347472"/>
          </a:xfrm>
          <a:prstGeom prst="ellipse">
            <a:avLst/>
          </a:prstGeom>
          <a:solidFill>
            <a:srgbClr val="1C69EF"/>
          </a:solidFill>
          <a:ln w="15875">
            <a:solidFill>
              <a:srgbClr val="1C69EF"/>
            </a:solidFill>
            <a:prstDash val="solid"/>
          </a:ln>
        </p:spPr>
      </p:sp>
      <p:sp>
        <p:nvSpPr>
          <p:cNvPr id="20" name="Text 17"/>
          <p:cNvSpPr txBox="1"/>
          <p:nvPr/>
        </p:nvSpPr>
        <p:spPr>
          <a:xfrm>
            <a:off x="685800" y="5074920"/>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4</a:t>
            </a:r>
            <a:endParaRPr lang="en-US" sz="1150" dirty="0"/>
          </a:p>
        </p:txBody>
      </p:sp>
      <p:sp>
        <p:nvSpPr>
          <p:cNvPr id="21" name="Text 18"/>
          <p:cNvSpPr txBox="1"/>
          <p:nvPr/>
        </p:nvSpPr>
        <p:spPr>
          <a:xfrm>
            <a:off x="1188720" y="5056632"/>
            <a:ext cx="6949440" cy="292608"/>
          </a:xfrm>
          <a:prstGeom prst="rect">
            <a:avLst/>
          </a:prstGeom>
          <a:noFill/>
          <a:ln/>
        </p:spPr>
        <p:txBody>
          <a:bodyPr wrap="square" lIns="0" tIns="0" rIns="0" bIns="0" rtlCol="0" anchor="ctr"/>
          <a:lstStyle/>
          <a:p>
            <a:pPr indent="0" marL="0">
              <a:buNone/>
            </a:pPr>
            <a:r>
              <a:rPr lang="en-US" sz="1350" b="1" spc="-30" kern="0" dirty="0">
                <a:solidFill>
                  <a:srgbClr val="16181C"/>
                </a:solidFill>
                <a:latin typeface="Pretendard" pitchFamily="34" charset="0"/>
                <a:ea typeface="Pretendard" pitchFamily="34" charset="-122"/>
                <a:cs typeface="Pretendard" pitchFamily="34" charset="-120"/>
              </a:rPr>
              <a:t>성과와 정산을 확인한다</a:t>
            </a:r>
            <a:endParaRPr lang="en-US" sz="1350" dirty="0"/>
          </a:p>
        </p:txBody>
      </p:sp>
      <p:sp>
        <p:nvSpPr>
          <p:cNvPr id="22" name="Text 19"/>
          <p:cNvSpPr txBox="1"/>
          <p:nvPr/>
        </p:nvSpPr>
        <p:spPr>
          <a:xfrm>
            <a:off x="1188720" y="5367528"/>
            <a:ext cx="6949440" cy="50292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내 정산 화면에서 딜별 주문과 대기, 확정 금액을 봅니다. 매장에 판매량을 물어볼 일이 없습니다.</a:t>
            </a:r>
            <a:endParaRPr lang="en-US" sz="1050" dirty="0"/>
          </a:p>
        </p:txBody>
      </p:sp>
      <p:sp>
        <p:nvSpPr>
          <p:cNvPr id="23" name="Text 20"/>
          <p:cNvSpPr txBox="1"/>
          <p:nvPr/>
        </p:nvSpPr>
        <p:spPr>
          <a:xfrm>
            <a:off x="685800" y="5861304"/>
            <a:ext cx="7498080" cy="457200"/>
          </a:xfrm>
          <a:prstGeom prst="rect">
            <a:avLst/>
          </a:prstGeom>
          <a:noFill/>
          <a:ln/>
        </p:spPr>
        <p:txBody>
          <a:bodyPr wrap="square" lIns="0" tIns="0" rIns="0" bIns="0" rtlCol="0" anchor="t"/>
          <a:lstStyle/>
          <a:p>
            <a:pPr indent="0" marL="0">
              <a:lnSpc>
                <a:spcPct val="140000"/>
              </a:lnSpc>
              <a:buNone/>
            </a:pPr>
            <a:r>
              <a:rPr lang="en-US" sz="1050" b="1" dirty="0">
                <a:solidFill>
                  <a:srgbClr val="16181C"/>
                </a:solidFill>
                <a:latin typeface="Pretendard" pitchFamily="34" charset="0"/>
                <a:ea typeface="Pretendard" pitchFamily="34" charset="-122"/>
                <a:cs typeface="Pretendard" pitchFamily="34" charset="-120"/>
              </a:rPr>
              <a:t>내가 하지 않아도 되는 일: 가격 협상, 재고 관리, 배송과 포장, 결제 처리, 환불 응대, 세금계산서, 쿠폰 코드 확인.</a:t>
            </a:r>
            <a:endParaRPr lang="en-US" sz="1050" dirty="0"/>
          </a:p>
        </p:txBody>
      </p:sp>
      <p:pic>
        <p:nvPicPr>
          <p:cNvPr id="24" name="Image 1" descr="preencoded.png">    </p:cNvPr>
          <p:cNvPicPr>
            <a:picLocks noChangeAspect="1"/>
          </p:cNvPicPr>
          <p:nvPr/>
        </p:nvPicPr>
        <p:blipFill>
          <a:blip r:embed="rId2"/>
          <a:stretch>
            <a:fillRect/>
          </a:stretch>
        </p:blipFill>
        <p:spPr>
          <a:xfrm>
            <a:off x="8626773" y="717213"/>
            <a:ext cx="2813205" cy="5377855"/>
          </a:xfrm>
          <a:prstGeom prst="rect">
            <a:avLst/>
          </a:prstGeom>
        </p:spPr>
      </p:pic>
      <p:sp>
        <p:nvSpPr>
          <p:cNvPr id="25" name="Text 21"/>
          <p:cNvSpPr txBox="1"/>
          <p:nvPr/>
        </p:nvSpPr>
        <p:spPr>
          <a:xfrm>
            <a:off x="8503920" y="5998464"/>
            <a:ext cx="3058911"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매장이 보낸 제안 (예시 데이터로 렌더한 실제 화면)</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67066" cy="237744"/>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08</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500" b="1" spc="-60" kern="0" dirty="0">
                <a:solidFill>
                  <a:srgbClr val="16181C"/>
                </a:solidFill>
                <a:latin typeface="Pretendard" pitchFamily="34" charset="0"/>
                <a:ea typeface="Pretendard" pitchFamily="34" charset="-122"/>
                <a:cs typeface="Pretendard" pitchFamily="34" charset="-120"/>
              </a:rPr>
              <a:t>경로 B. 내가 아는 가게를 데려옵니다. 영입 2%가 붙는 유일한 경로입니다.</a:t>
            </a:r>
            <a:endParaRPr lang="en-US" sz="2500" dirty="0"/>
          </a:p>
        </p:txBody>
      </p:sp>
      <p:sp>
        <p:nvSpPr>
          <p:cNvPr id="6" name="Text 3"/>
          <p:cNvSpPr txBox="1"/>
          <p:nvPr/>
        </p:nvSpPr>
        <p:spPr>
          <a:xfrm>
            <a:off x="685800" y="1828800"/>
            <a:ext cx="10820095" cy="54864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사장님을 설득하는 일이 아니라, 열어 두면 손해 볼 게 없다는 것을 알려 드리는 일에 가깝습니다. 내 정산 화면의 매장 초대 링크를 보내면 됩니다.</a:t>
            </a:r>
            <a:endParaRPr lang="en-US" sz="1250" dirty="0"/>
          </a:p>
        </p:txBody>
      </p:sp>
      <p:sp>
        <p:nvSpPr>
          <p:cNvPr id="7" name="Shape 4"/>
          <p:cNvSpPr/>
          <p:nvPr/>
        </p:nvSpPr>
        <p:spPr>
          <a:xfrm>
            <a:off x="685800" y="2606040"/>
            <a:ext cx="347472" cy="347472"/>
          </a:xfrm>
          <a:prstGeom prst="ellipse">
            <a:avLst/>
          </a:prstGeom>
          <a:solidFill>
            <a:srgbClr val="1C69EF"/>
          </a:solidFill>
          <a:ln w="15875">
            <a:solidFill>
              <a:srgbClr val="1C69EF"/>
            </a:solidFill>
            <a:prstDash val="solid"/>
          </a:ln>
        </p:spPr>
      </p:sp>
      <p:sp>
        <p:nvSpPr>
          <p:cNvPr id="8" name="Text 5"/>
          <p:cNvSpPr txBox="1"/>
          <p:nvPr/>
        </p:nvSpPr>
        <p:spPr>
          <a:xfrm>
            <a:off x="685800" y="2606040"/>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sp>
        <p:nvSpPr>
          <p:cNvPr id="9" name="Text 6"/>
          <p:cNvSpPr txBox="1"/>
          <p:nvPr/>
        </p:nvSpPr>
        <p:spPr>
          <a:xfrm>
            <a:off x="685800" y="3063240"/>
            <a:ext cx="1691640" cy="548640"/>
          </a:xfrm>
          <a:prstGeom prst="rect">
            <a:avLst/>
          </a:prstGeom>
          <a:noFill/>
          <a:ln/>
        </p:spPr>
        <p:txBody>
          <a:bodyPr wrap="square" lIns="0" tIns="0" rIns="0" bIns="0" rtlCol="0" anchor="t"/>
          <a:lstStyle/>
          <a:p>
            <a:pPr indent="0" marL="0">
              <a:lnSpc>
                <a:spcPct val="120000"/>
              </a:lnSpc>
              <a:buNone/>
            </a:pPr>
            <a:r>
              <a:rPr lang="en-US" sz="1200" b="1" spc="-30" kern="0" dirty="0">
                <a:solidFill>
                  <a:srgbClr val="16181C"/>
                </a:solidFill>
                <a:latin typeface="Pretendard" pitchFamily="34" charset="0"/>
                <a:ea typeface="Pretendard" pitchFamily="34" charset="-122"/>
                <a:cs typeface="Pretendard" pitchFamily="34" charset="-120"/>
              </a:rPr>
              <a:t>매장을 고른다</a:t>
            </a:r>
            <a:endParaRPr lang="en-US" sz="1200" dirty="0"/>
          </a:p>
        </p:txBody>
      </p:sp>
      <p:pic>
        <p:nvPicPr>
          <p:cNvPr id="10" name="Image 1" descr="preencoded.png">    </p:cNvPr>
          <p:cNvPicPr>
            <a:picLocks noChangeAspect="1"/>
          </p:cNvPicPr>
          <p:nvPr/>
        </p:nvPicPr>
        <p:blipFill>
          <a:blip r:embed="rId2"/>
          <a:stretch>
            <a:fillRect/>
          </a:stretch>
        </p:blipFill>
        <p:spPr>
          <a:xfrm>
            <a:off x="2395728" y="2670048"/>
            <a:ext cx="219456" cy="219456"/>
          </a:xfrm>
          <a:prstGeom prst="rect">
            <a:avLst/>
          </a:prstGeom>
        </p:spPr>
      </p:pic>
      <p:sp>
        <p:nvSpPr>
          <p:cNvPr id="11" name="Shape 7"/>
          <p:cNvSpPr/>
          <p:nvPr/>
        </p:nvSpPr>
        <p:spPr>
          <a:xfrm>
            <a:off x="2633472" y="2606040"/>
            <a:ext cx="347472" cy="347472"/>
          </a:xfrm>
          <a:prstGeom prst="ellipse">
            <a:avLst/>
          </a:prstGeom>
          <a:solidFill>
            <a:srgbClr val="1C69EF"/>
          </a:solidFill>
          <a:ln w="15875">
            <a:solidFill>
              <a:srgbClr val="1C69EF"/>
            </a:solidFill>
            <a:prstDash val="solid"/>
          </a:ln>
        </p:spPr>
      </p:sp>
      <p:sp>
        <p:nvSpPr>
          <p:cNvPr id="12" name="Text 8"/>
          <p:cNvSpPr txBox="1"/>
          <p:nvPr/>
        </p:nvSpPr>
        <p:spPr>
          <a:xfrm>
            <a:off x="2633472" y="2606040"/>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3" name="Text 9"/>
          <p:cNvSpPr txBox="1"/>
          <p:nvPr/>
        </p:nvSpPr>
        <p:spPr>
          <a:xfrm>
            <a:off x="2633472" y="3063240"/>
            <a:ext cx="1691640" cy="548640"/>
          </a:xfrm>
          <a:prstGeom prst="rect">
            <a:avLst/>
          </a:prstGeom>
          <a:noFill/>
          <a:ln/>
        </p:spPr>
        <p:txBody>
          <a:bodyPr wrap="square" lIns="0" tIns="0" rIns="0" bIns="0" rtlCol="0" anchor="t"/>
          <a:lstStyle/>
          <a:p>
            <a:pPr indent="0" marL="0">
              <a:lnSpc>
                <a:spcPct val="120000"/>
              </a:lnSpc>
              <a:buNone/>
            </a:pPr>
            <a:r>
              <a:rPr lang="en-US" sz="1200" b="1" spc="-30" kern="0" dirty="0">
                <a:solidFill>
                  <a:srgbClr val="16181C"/>
                </a:solidFill>
                <a:latin typeface="Pretendard" pitchFamily="34" charset="0"/>
                <a:ea typeface="Pretendard" pitchFamily="34" charset="-122"/>
                <a:cs typeface="Pretendard" pitchFamily="34" charset="-120"/>
              </a:rPr>
              <a:t>초대 링크를 보낸다</a:t>
            </a:r>
            <a:endParaRPr lang="en-US" sz="1200" dirty="0"/>
          </a:p>
        </p:txBody>
      </p:sp>
      <p:pic>
        <p:nvPicPr>
          <p:cNvPr id="14" name="Image 2" descr="preencoded.png">    </p:cNvPr>
          <p:cNvPicPr>
            <a:picLocks noChangeAspect="1"/>
          </p:cNvPicPr>
          <p:nvPr/>
        </p:nvPicPr>
        <p:blipFill>
          <a:blip r:embed="rId3"/>
          <a:stretch>
            <a:fillRect/>
          </a:stretch>
        </p:blipFill>
        <p:spPr>
          <a:xfrm>
            <a:off x="4343400" y="2670048"/>
            <a:ext cx="219456" cy="219456"/>
          </a:xfrm>
          <a:prstGeom prst="rect">
            <a:avLst/>
          </a:prstGeom>
        </p:spPr>
      </p:pic>
      <p:sp>
        <p:nvSpPr>
          <p:cNvPr id="15" name="Shape 10"/>
          <p:cNvSpPr/>
          <p:nvPr/>
        </p:nvSpPr>
        <p:spPr>
          <a:xfrm>
            <a:off x="4581144" y="2606040"/>
            <a:ext cx="347472" cy="347472"/>
          </a:xfrm>
          <a:prstGeom prst="ellipse">
            <a:avLst/>
          </a:prstGeom>
          <a:solidFill>
            <a:srgbClr val="1C69EF"/>
          </a:solidFill>
          <a:ln w="15875">
            <a:solidFill>
              <a:srgbClr val="1C69EF"/>
            </a:solidFill>
            <a:prstDash val="solid"/>
          </a:ln>
        </p:spPr>
      </p:sp>
      <p:sp>
        <p:nvSpPr>
          <p:cNvPr id="16" name="Text 11"/>
          <p:cNvSpPr txBox="1"/>
          <p:nvPr/>
        </p:nvSpPr>
        <p:spPr>
          <a:xfrm>
            <a:off x="4581144" y="2606040"/>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17" name="Text 12"/>
          <p:cNvSpPr txBox="1"/>
          <p:nvPr/>
        </p:nvSpPr>
        <p:spPr>
          <a:xfrm>
            <a:off x="4581144" y="3063240"/>
            <a:ext cx="1691640" cy="548640"/>
          </a:xfrm>
          <a:prstGeom prst="rect">
            <a:avLst/>
          </a:prstGeom>
          <a:noFill/>
          <a:ln/>
        </p:spPr>
        <p:txBody>
          <a:bodyPr wrap="square" lIns="0" tIns="0" rIns="0" bIns="0" rtlCol="0" anchor="t"/>
          <a:lstStyle/>
          <a:p>
            <a:pPr indent="0" marL="0">
              <a:lnSpc>
                <a:spcPct val="120000"/>
              </a:lnSpc>
              <a:buNone/>
            </a:pPr>
            <a:r>
              <a:rPr lang="en-US" sz="1200" b="1" spc="-30" kern="0" dirty="0">
                <a:solidFill>
                  <a:srgbClr val="16181C"/>
                </a:solidFill>
                <a:latin typeface="Pretendard" pitchFamily="34" charset="0"/>
                <a:ea typeface="Pretendard" pitchFamily="34" charset="-122"/>
                <a:cs typeface="Pretendard" pitchFamily="34" charset="-120"/>
              </a:rPr>
              <a:t>사장님이 직접 입점한다</a:t>
            </a:r>
            <a:endParaRPr lang="en-US" sz="1200" dirty="0"/>
          </a:p>
        </p:txBody>
      </p:sp>
      <p:pic>
        <p:nvPicPr>
          <p:cNvPr id="18" name="Image 3" descr="preencoded.png">    </p:cNvPr>
          <p:cNvPicPr>
            <a:picLocks noChangeAspect="1"/>
          </p:cNvPicPr>
          <p:nvPr/>
        </p:nvPicPr>
        <p:blipFill>
          <a:blip r:embed="rId4"/>
          <a:stretch>
            <a:fillRect/>
          </a:stretch>
        </p:blipFill>
        <p:spPr>
          <a:xfrm>
            <a:off x="6291072" y="2670048"/>
            <a:ext cx="219456" cy="219456"/>
          </a:xfrm>
          <a:prstGeom prst="rect">
            <a:avLst/>
          </a:prstGeom>
        </p:spPr>
      </p:pic>
      <p:sp>
        <p:nvSpPr>
          <p:cNvPr id="19" name="Shape 13"/>
          <p:cNvSpPr/>
          <p:nvPr/>
        </p:nvSpPr>
        <p:spPr>
          <a:xfrm>
            <a:off x="6528816" y="2606040"/>
            <a:ext cx="347472" cy="347472"/>
          </a:xfrm>
          <a:prstGeom prst="ellipse">
            <a:avLst/>
          </a:prstGeom>
          <a:solidFill>
            <a:srgbClr val="1C69EF"/>
          </a:solidFill>
          <a:ln w="15875">
            <a:solidFill>
              <a:srgbClr val="1C69EF"/>
            </a:solidFill>
            <a:prstDash val="solid"/>
          </a:ln>
        </p:spPr>
      </p:sp>
      <p:sp>
        <p:nvSpPr>
          <p:cNvPr id="20" name="Text 14"/>
          <p:cNvSpPr txBox="1"/>
          <p:nvPr/>
        </p:nvSpPr>
        <p:spPr>
          <a:xfrm>
            <a:off x="6528816" y="2606040"/>
            <a:ext cx="347472"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4</a:t>
            </a:r>
            <a:endParaRPr lang="en-US" sz="1150" dirty="0"/>
          </a:p>
        </p:txBody>
      </p:sp>
      <p:sp>
        <p:nvSpPr>
          <p:cNvPr id="21" name="Text 15"/>
          <p:cNvSpPr txBox="1"/>
          <p:nvPr/>
        </p:nvSpPr>
        <p:spPr>
          <a:xfrm>
            <a:off x="6528816" y="3063240"/>
            <a:ext cx="1691640" cy="548640"/>
          </a:xfrm>
          <a:prstGeom prst="rect">
            <a:avLst/>
          </a:prstGeom>
          <a:noFill/>
          <a:ln/>
        </p:spPr>
        <p:txBody>
          <a:bodyPr wrap="square" lIns="0" tIns="0" rIns="0" bIns="0" rtlCol="0" anchor="t"/>
          <a:lstStyle/>
          <a:p>
            <a:pPr indent="0" marL="0">
              <a:lnSpc>
                <a:spcPct val="120000"/>
              </a:lnSpc>
              <a:buNone/>
            </a:pPr>
            <a:r>
              <a:rPr lang="en-US" sz="1200" b="1" spc="-30" kern="0" dirty="0">
                <a:solidFill>
                  <a:srgbClr val="16181C"/>
                </a:solidFill>
                <a:latin typeface="Pretendard" pitchFamily="34" charset="0"/>
                <a:ea typeface="Pretendard" pitchFamily="34" charset="-122"/>
                <a:cs typeface="Pretendard" pitchFamily="34" charset="-120"/>
              </a:rPr>
              <a:t>제안이 오면 수락한다</a:t>
            </a:r>
            <a:endParaRPr lang="en-US" sz="1200" dirty="0"/>
          </a:p>
        </p:txBody>
      </p:sp>
      <p:sp>
        <p:nvSpPr>
          <p:cNvPr id="22" name="Text 16"/>
          <p:cNvSpPr txBox="1"/>
          <p:nvPr/>
        </p:nvSpPr>
        <p:spPr>
          <a:xfrm>
            <a:off x="685800" y="3657600"/>
            <a:ext cx="7498080" cy="45720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4번부터는 경로 A 와 같습니다. 입점은 카카오 로그인과 사업자 확인이 필요해 사장님이 직접 합니다. 10분이면 끝납니다.</a:t>
            </a:r>
            <a:endParaRPr lang="en-US" sz="1050" dirty="0"/>
          </a:p>
        </p:txBody>
      </p:sp>
      <p:sp>
        <p:nvSpPr>
          <p:cNvPr id="23" name="Shape 17"/>
          <p:cNvSpPr/>
          <p:nvPr/>
        </p:nvSpPr>
        <p:spPr>
          <a:xfrm>
            <a:off x="685800" y="4160520"/>
            <a:ext cx="7498080" cy="2011680"/>
          </a:xfrm>
          <a:prstGeom prst="roundRect">
            <a:avLst>
              <a:gd name="adj" fmla="val 636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24" name="Text 18"/>
          <p:cNvSpPr txBox="1"/>
          <p:nvPr/>
        </p:nvSpPr>
        <p:spPr>
          <a:xfrm>
            <a:off x="960120" y="4343400"/>
            <a:ext cx="6949440" cy="237744"/>
          </a:xfrm>
          <a:prstGeom prst="rect">
            <a:avLst/>
          </a:prstGeom>
          <a:noFill/>
          <a:ln/>
        </p:spPr>
        <p:txBody>
          <a:bodyPr wrap="square" lIns="0" tIns="0" rIns="0" bIns="0" rtlCol="0" anchor="ctr"/>
          <a:lstStyle/>
          <a:p>
            <a:pPr indent="0" marL="0">
              <a:buNone/>
            </a:pPr>
            <a:r>
              <a:rPr lang="en-US" sz="1000" b="1" spc="120" kern="0" dirty="0">
                <a:solidFill>
                  <a:srgbClr val="8A8580"/>
                </a:solidFill>
                <a:latin typeface="Pretendard" pitchFamily="34" charset="0"/>
                <a:ea typeface="Pretendard" pitchFamily="34" charset="-122"/>
                <a:cs typeface="Pretendard" pitchFamily="34" charset="-120"/>
              </a:rPr>
              <a:t>사장님께 이렇게 말하면 됩니다</a:t>
            </a:r>
            <a:endParaRPr lang="en-US" sz="1000" dirty="0"/>
          </a:p>
        </p:txBody>
      </p:sp>
      <p:sp>
        <p:nvSpPr>
          <p:cNvPr id="25" name="Text 19"/>
          <p:cNvSpPr txBox="1"/>
          <p:nvPr/>
        </p:nvSpPr>
        <p:spPr>
          <a:xfrm>
            <a:off x="960120" y="4663440"/>
            <a:ext cx="6949440" cy="329184"/>
          </a:xfrm>
          <a:prstGeom prst="rect">
            <a:avLst/>
          </a:prstGeom>
          <a:noFill/>
          <a:ln/>
        </p:spPr>
        <p:txBody>
          <a:bodyPr wrap="square" lIns="0" tIns="0" rIns="0" bIns="0" rtlCol="0" anchor="ctr"/>
          <a:lstStyle/>
          <a:p>
            <a:pPr indent="0" marL="0">
              <a:buNone/>
            </a:pPr>
            <a:r>
              <a:rPr lang="en-US" sz="1100" b="1" dirty="0">
                <a:solidFill>
                  <a:srgbClr val="16181C"/>
                </a:solidFill>
                <a:latin typeface="Pretendard" pitchFamily="34" charset="0"/>
                <a:ea typeface="Pretendard" pitchFamily="34" charset="-122"/>
                <a:cs typeface="Pretendard" pitchFamily="34" charset="-120"/>
              </a:rPr>
              <a:t>가입비도 월 이용료도 없어요. </a:t>
            </a:r>
            <a:pPr indent="0" marL="0">
              <a:buNone/>
            </a:pPr>
            <a:r>
              <a:rPr lang="en-US" sz="1100" dirty="0">
                <a:solidFill>
                  <a:srgbClr val="6E6B68"/>
                </a:solidFill>
                <a:latin typeface="Pretendard" pitchFamily="34" charset="0"/>
                <a:ea typeface="Pretendard" pitchFamily="34" charset="-122"/>
                <a:cs typeface="Pretendard" pitchFamily="34" charset="-120"/>
              </a:rPr>
              <a:t>팔린 만큼만 수수료가 나갑니다.</a:t>
            </a:r>
            <a:endParaRPr lang="en-US" sz="1100" dirty="0"/>
          </a:p>
        </p:txBody>
      </p:sp>
      <p:sp>
        <p:nvSpPr>
          <p:cNvPr id="26" name="Text 20"/>
          <p:cNvSpPr txBox="1"/>
          <p:nvPr/>
        </p:nvSpPr>
        <p:spPr>
          <a:xfrm>
            <a:off x="960120" y="5029200"/>
            <a:ext cx="6949440" cy="329184"/>
          </a:xfrm>
          <a:prstGeom prst="rect">
            <a:avLst/>
          </a:prstGeom>
          <a:noFill/>
          <a:ln/>
        </p:spPr>
        <p:txBody>
          <a:bodyPr wrap="square" lIns="0" tIns="0" rIns="0" bIns="0" rtlCol="0" anchor="ctr"/>
          <a:lstStyle/>
          <a:p>
            <a:pPr indent="0" marL="0">
              <a:buNone/>
            </a:pPr>
            <a:r>
              <a:rPr lang="en-US" sz="1100" b="1" dirty="0">
                <a:solidFill>
                  <a:srgbClr val="16181C"/>
                </a:solidFill>
                <a:latin typeface="Pretendard" pitchFamily="34" charset="0"/>
                <a:ea typeface="Pretendard" pitchFamily="34" charset="-122"/>
                <a:cs typeface="Pretendard" pitchFamily="34" charset="-120"/>
              </a:rPr>
              <a:t>새 배달앱이 아니에요. </a:t>
            </a:r>
            <a:pPr indent="0" marL="0">
              <a:buNone/>
            </a:pPr>
            <a:r>
              <a:rPr lang="en-US" sz="1100" dirty="0">
                <a:solidFill>
                  <a:srgbClr val="6E6B68"/>
                </a:solidFill>
                <a:latin typeface="Pretendard" pitchFamily="34" charset="0"/>
                <a:ea typeface="Pretendard" pitchFamily="34" charset="-122"/>
                <a:cs typeface="Pretendard" pitchFamily="34" charset="-120"/>
              </a:rPr>
              <a:t>온라인에서 할인가로 미리 팔고, 손님은 가게에 와서 QR 로 씁니다.</a:t>
            </a:r>
            <a:endParaRPr lang="en-US" sz="1100" dirty="0"/>
          </a:p>
        </p:txBody>
      </p:sp>
      <p:sp>
        <p:nvSpPr>
          <p:cNvPr id="27" name="Text 21"/>
          <p:cNvSpPr txBox="1"/>
          <p:nvPr/>
        </p:nvSpPr>
        <p:spPr>
          <a:xfrm>
            <a:off x="960120" y="5394960"/>
            <a:ext cx="6949440" cy="329184"/>
          </a:xfrm>
          <a:prstGeom prst="rect">
            <a:avLst/>
          </a:prstGeom>
          <a:noFill/>
          <a:ln/>
        </p:spPr>
        <p:txBody>
          <a:bodyPr wrap="square" lIns="0" tIns="0" rIns="0" bIns="0" rtlCol="0" anchor="ctr"/>
          <a:lstStyle/>
          <a:p>
            <a:pPr indent="0" marL="0">
              <a:buNone/>
            </a:pPr>
            <a:r>
              <a:rPr lang="en-US" sz="1100" b="1" dirty="0">
                <a:solidFill>
                  <a:srgbClr val="16181C"/>
                </a:solidFill>
                <a:latin typeface="Pretendard" pitchFamily="34" charset="0"/>
                <a:ea typeface="Pretendard" pitchFamily="34" charset="-122"/>
                <a:cs typeface="Pretendard" pitchFamily="34" charset="-120"/>
              </a:rPr>
              <a:t>소개비는 사장님이 정하세요. </a:t>
            </a:r>
            <a:pPr indent="0" marL="0">
              <a:buNone/>
            </a:pPr>
            <a:r>
              <a:rPr lang="en-US" sz="1100" dirty="0">
                <a:solidFill>
                  <a:srgbClr val="6E6B68"/>
                </a:solidFill>
                <a:latin typeface="Pretendard" pitchFamily="34" charset="0"/>
                <a:ea typeface="Pretendard" pitchFamily="34" charset="-122"/>
                <a:cs typeface="Pretendard" pitchFamily="34" charset="-120"/>
              </a:rPr>
              <a:t>미리 나가는 광고비가 없습니다.</a:t>
            </a:r>
            <a:endParaRPr lang="en-US" sz="1100" dirty="0"/>
          </a:p>
        </p:txBody>
      </p:sp>
      <p:sp>
        <p:nvSpPr>
          <p:cNvPr id="28" name="Text 22"/>
          <p:cNvSpPr txBox="1"/>
          <p:nvPr/>
        </p:nvSpPr>
        <p:spPr>
          <a:xfrm>
            <a:off x="960120" y="5760720"/>
            <a:ext cx="6949440" cy="329184"/>
          </a:xfrm>
          <a:prstGeom prst="rect">
            <a:avLst/>
          </a:prstGeom>
          <a:noFill/>
          <a:ln/>
        </p:spPr>
        <p:txBody>
          <a:bodyPr wrap="square" lIns="0" tIns="0" rIns="0" bIns="0" rtlCol="0" anchor="ctr"/>
          <a:lstStyle/>
          <a:p>
            <a:pPr indent="0" marL="0">
              <a:buNone/>
            </a:pPr>
            <a:r>
              <a:rPr lang="en-US" sz="1100" b="1" dirty="0">
                <a:solidFill>
                  <a:srgbClr val="16181C"/>
                </a:solidFill>
                <a:latin typeface="Pretendard" pitchFamily="34" charset="0"/>
                <a:ea typeface="Pretendard" pitchFamily="34" charset="-122"/>
                <a:cs typeface="Pretendard" pitchFamily="34" charset="-120"/>
              </a:rPr>
              <a:t>안 쓴 이용권은 유어딜이 환불해요. </a:t>
            </a:r>
            <a:pPr indent="0" marL="0">
              <a:buNone/>
            </a:pPr>
            <a:r>
              <a:rPr lang="en-US" sz="1100" dirty="0">
                <a:solidFill>
                  <a:srgbClr val="6E6B68"/>
                </a:solidFill>
                <a:latin typeface="Pretendard" pitchFamily="34" charset="0"/>
                <a:ea typeface="Pretendard" pitchFamily="34" charset="-122"/>
                <a:cs typeface="Pretendard" pitchFamily="34" charset="-120"/>
              </a:rPr>
              <a:t>노쇼로 손해 보는 구조가 아닙니다.</a:t>
            </a:r>
            <a:endParaRPr lang="en-US" sz="1100" dirty="0"/>
          </a:p>
        </p:txBody>
      </p:sp>
      <p:sp>
        <p:nvSpPr>
          <p:cNvPr id="29" name="Shape 23"/>
          <p:cNvSpPr/>
          <p:nvPr/>
        </p:nvSpPr>
        <p:spPr>
          <a:xfrm>
            <a:off x="8503920" y="2606040"/>
            <a:ext cx="3001975" cy="3566160"/>
          </a:xfrm>
          <a:prstGeom prst="roundRect">
            <a:avLst>
              <a:gd name="adj" fmla="val 4264"/>
            </a:avLst>
          </a:prstGeom>
          <a:solidFill>
            <a:srgbClr val="EEF3FE"/>
          </a:solidFill>
          <a:ln w="12700">
            <a:solidFill>
              <a:srgbClr val="EEF3FE"/>
            </a:solidFill>
            <a:prstDash val="solid"/>
          </a:ln>
        </p:spPr>
      </p:sp>
      <p:sp>
        <p:nvSpPr>
          <p:cNvPr id="30" name="Text 24"/>
          <p:cNvSpPr txBox="1"/>
          <p:nvPr/>
        </p:nvSpPr>
        <p:spPr>
          <a:xfrm>
            <a:off x="8778240" y="2788920"/>
            <a:ext cx="2453335" cy="274320"/>
          </a:xfrm>
          <a:prstGeom prst="rect">
            <a:avLst/>
          </a:prstGeom>
          <a:noFill/>
          <a:ln/>
        </p:spPr>
        <p:txBody>
          <a:bodyPr wrap="square" lIns="0" tIns="0" rIns="0" bIns="0" rtlCol="0" anchor="ctr"/>
          <a:lstStyle/>
          <a:p>
            <a:pPr indent="0" marL="0">
              <a:buNone/>
            </a:pPr>
            <a:r>
              <a:rPr lang="en-US" sz="1250" b="1" spc="-30" kern="0" dirty="0">
                <a:solidFill>
                  <a:srgbClr val="1C69EF"/>
                </a:solidFill>
                <a:latin typeface="Pretendard" pitchFamily="34" charset="0"/>
                <a:ea typeface="Pretendard" pitchFamily="34" charset="-122"/>
                <a:cs typeface="Pretendard" pitchFamily="34" charset="-120"/>
              </a:rPr>
              <a:t>2%가 붙는 조건</a:t>
            </a:r>
            <a:endParaRPr lang="en-US" sz="1250" dirty="0"/>
          </a:p>
        </p:txBody>
      </p:sp>
      <p:sp>
        <p:nvSpPr>
          <p:cNvPr id="31" name="Text 25"/>
          <p:cNvSpPr txBox="1"/>
          <p:nvPr/>
        </p:nvSpPr>
        <p:spPr>
          <a:xfrm>
            <a:off x="8778240" y="3154680"/>
            <a:ext cx="2453335" cy="237744"/>
          </a:xfrm>
          <a:prstGeom prst="rect">
            <a:avLst/>
          </a:prstGeom>
          <a:noFill/>
          <a:ln/>
        </p:spPr>
        <p:txBody>
          <a:bodyPr wrap="square" lIns="0" tIns="0" rIns="0" bIns="0" rtlCol="0" anchor="ctr"/>
          <a:lstStyle/>
          <a:p>
            <a:pPr indent="0" marL="0">
              <a:buNone/>
            </a:pPr>
            <a:r>
              <a:rPr lang="en-US" sz="1100" b="1" spc="-30" kern="0" dirty="0">
                <a:solidFill>
                  <a:srgbClr val="16181C"/>
                </a:solidFill>
                <a:latin typeface="Pretendard" pitchFamily="34" charset="0"/>
                <a:ea typeface="Pretendard" pitchFamily="34" charset="-122"/>
                <a:cs typeface="Pretendard" pitchFamily="34" charset="-120"/>
              </a:rPr>
              <a:t>직접 입점</a:t>
            </a:r>
            <a:endParaRPr lang="en-US" sz="1100" dirty="0"/>
          </a:p>
        </p:txBody>
      </p:sp>
      <p:sp>
        <p:nvSpPr>
          <p:cNvPr id="32" name="Text 26"/>
          <p:cNvSpPr txBox="1"/>
          <p:nvPr/>
        </p:nvSpPr>
        <p:spPr>
          <a:xfrm>
            <a:off x="8778240" y="3401568"/>
            <a:ext cx="2453335" cy="475488"/>
          </a:xfrm>
          <a:prstGeom prst="rect">
            <a:avLst/>
          </a:prstGeom>
          <a:noFill/>
          <a:ln/>
        </p:spPr>
        <p:txBody>
          <a:bodyPr wrap="square" lIns="0" tIns="0" rIns="0" bIns="0" rtlCol="0" anchor="t"/>
          <a:lstStyle/>
          <a:p>
            <a:pP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사장님이 "내 가게에요" 로 등록한 매장만. 대행사를 통해 등록한 매장은 대상이 아닙니다.</a:t>
            </a:r>
            <a:endParaRPr lang="en-US" sz="950" dirty="0"/>
          </a:p>
        </p:txBody>
      </p:sp>
      <p:sp>
        <p:nvSpPr>
          <p:cNvPr id="33" name="Text 27"/>
          <p:cNvSpPr txBox="1"/>
          <p:nvPr/>
        </p:nvSpPr>
        <p:spPr>
          <a:xfrm>
            <a:off x="8778240" y="3904488"/>
            <a:ext cx="2453335" cy="237744"/>
          </a:xfrm>
          <a:prstGeom prst="rect">
            <a:avLst/>
          </a:prstGeom>
          <a:noFill/>
          <a:ln/>
        </p:spPr>
        <p:txBody>
          <a:bodyPr wrap="square" lIns="0" tIns="0" rIns="0" bIns="0" rtlCol="0" anchor="ctr"/>
          <a:lstStyle/>
          <a:p>
            <a:pPr indent="0" marL="0">
              <a:buNone/>
            </a:pPr>
            <a:r>
              <a:rPr lang="en-US" sz="1100" b="1" spc="-30" kern="0" dirty="0">
                <a:solidFill>
                  <a:srgbClr val="16181C"/>
                </a:solidFill>
                <a:latin typeface="Pretendard" pitchFamily="34" charset="0"/>
                <a:ea typeface="Pretendard" pitchFamily="34" charset="-122"/>
                <a:cs typeface="Pretendard" pitchFamily="34" charset="-120"/>
              </a:rPr>
              <a:t>1년</a:t>
            </a:r>
            <a:endParaRPr lang="en-US" sz="1100" dirty="0"/>
          </a:p>
        </p:txBody>
      </p:sp>
      <p:sp>
        <p:nvSpPr>
          <p:cNvPr id="34" name="Text 28"/>
          <p:cNvSpPr txBox="1"/>
          <p:nvPr/>
        </p:nvSpPr>
        <p:spPr>
          <a:xfrm>
            <a:off x="8778240" y="4151376"/>
            <a:ext cx="2453335" cy="475488"/>
          </a:xfrm>
          <a:prstGeom prst="rect">
            <a:avLst/>
          </a:prstGeom>
          <a:noFill/>
          <a:ln/>
        </p:spPr>
        <p:txBody>
          <a:bodyPr wrap="square" lIns="0" tIns="0" rIns="0" bIns="0" rtlCol="0" anchor="t"/>
          <a:lstStyle/>
          <a:p>
            <a:pP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입점일부터 1년. 매장이 주인을 바꿔도 유지됩니다.</a:t>
            </a:r>
            <a:endParaRPr lang="en-US" sz="950" dirty="0"/>
          </a:p>
        </p:txBody>
      </p:sp>
      <p:sp>
        <p:nvSpPr>
          <p:cNvPr id="35" name="Text 29"/>
          <p:cNvSpPr txBox="1"/>
          <p:nvPr/>
        </p:nvSpPr>
        <p:spPr>
          <a:xfrm>
            <a:off x="8778240" y="4654296"/>
            <a:ext cx="2453335" cy="237744"/>
          </a:xfrm>
          <a:prstGeom prst="rect">
            <a:avLst/>
          </a:prstGeom>
          <a:noFill/>
          <a:ln/>
        </p:spPr>
        <p:txBody>
          <a:bodyPr wrap="square" lIns="0" tIns="0" rIns="0" bIns="0" rtlCol="0" anchor="ctr"/>
          <a:lstStyle/>
          <a:p>
            <a:pPr indent="0" marL="0">
              <a:buNone/>
            </a:pPr>
            <a:r>
              <a:rPr lang="en-US" sz="1100" b="1" spc="-30" kern="0" dirty="0">
                <a:solidFill>
                  <a:srgbClr val="16181C"/>
                </a:solidFill>
                <a:latin typeface="Pretendard" pitchFamily="34" charset="0"/>
                <a:ea typeface="Pretendard" pitchFamily="34" charset="-122"/>
                <a:cs typeface="Pretendard" pitchFamily="34" charset="-120"/>
              </a:rPr>
              <a:t>유어딜 몫에서</a:t>
            </a:r>
            <a:endParaRPr lang="en-US" sz="1100" dirty="0"/>
          </a:p>
        </p:txBody>
      </p:sp>
      <p:sp>
        <p:nvSpPr>
          <p:cNvPr id="36" name="Text 30"/>
          <p:cNvSpPr txBox="1"/>
          <p:nvPr/>
        </p:nvSpPr>
        <p:spPr>
          <a:xfrm>
            <a:off x="8778240" y="4901184"/>
            <a:ext cx="2453335" cy="475488"/>
          </a:xfrm>
          <a:prstGeom prst="rect">
            <a:avLst/>
          </a:prstGeom>
          <a:noFill/>
          <a:ln/>
        </p:spPr>
        <p:txBody>
          <a:bodyPr wrap="square" lIns="0" tIns="0" rIns="0" bIns="0" rtlCol="0" anchor="t"/>
          <a:lstStyle/>
          <a:p>
            <a:pP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사장님 몫에서 떼지 않습니다. 사장님께 부담이 없다고 말씀드려도 됩니다.</a:t>
            </a:r>
            <a:endParaRPr lang="en-US" sz="950" dirty="0"/>
          </a:p>
        </p:txBody>
      </p:sp>
      <p:sp>
        <p:nvSpPr>
          <p:cNvPr id="37" name="Text 31"/>
          <p:cNvSpPr txBox="1"/>
          <p:nvPr/>
        </p:nvSpPr>
        <p:spPr>
          <a:xfrm>
            <a:off x="8778240" y="5404104"/>
            <a:ext cx="2453335" cy="237744"/>
          </a:xfrm>
          <a:prstGeom prst="rect">
            <a:avLst/>
          </a:prstGeom>
          <a:noFill/>
          <a:ln/>
        </p:spPr>
        <p:txBody>
          <a:bodyPr wrap="square" lIns="0" tIns="0" rIns="0" bIns="0" rtlCol="0" anchor="ctr"/>
          <a:lstStyle/>
          <a:p>
            <a:pPr indent="0" marL="0">
              <a:buNone/>
            </a:pPr>
            <a:r>
              <a:rPr lang="en-US" sz="1100" b="1" spc="-30" kern="0" dirty="0">
                <a:solidFill>
                  <a:srgbClr val="16181C"/>
                </a:solidFill>
                <a:latin typeface="Pretendard" pitchFamily="34" charset="0"/>
                <a:ea typeface="Pretendard" pitchFamily="34" charset="-122"/>
                <a:cs typeface="Pretendard" pitchFamily="34" charset="-120"/>
              </a:rPr>
              <a:t>가기 전에 확인</a:t>
            </a:r>
            <a:endParaRPr lang="en-US" sz="1100" dirty="0"/>
          </a:p>
        </p:txBody>
      </p:sp>
      <p:sp>
        <p:nvSpPr>
          <p:cNvPr id="38" name="Text 32"/>
          <p:cNvSpPr txBox="1"/>
          <p:nvPr/>
        </p:nvSpPr>
        <p:spPr>
          <a:xfrm>
            <a:off x="8778240" y="5650992"/>
            <a:ext cx="2453335" cy="475488"/>
          </a:xfrm>
          <a:prstGeom prst="rect">
            <a:avLst/>
          </a:prstGeom>
          <a:noFill/>
          <a:ln/>
        </p:spPr>
        <p:txBody>
          <a:bodyPr wrap="square" lIns="0" tIns="0" rIns="0" bIns="0" rtlCol="0" anchor="t"/>
          <a:lstStyle/>
          <a:p>
            <a:pPr indent="0" marL="0">
              <a:lnSpc>
                <a:spcPct val="135000"/>
              </a:lnSpc>
              <a:buNone/>
            </a:pPr>
            <a:r>
              <a:rPr lang="en-US" sz="950" dirty="0">
                <a:solidFill>
                  <a:srgbClr val="16181C"/>
                </a:solidFill>
                <a:latin typeface="Pretendard" pitchFamily="34" charset="0"/>
                <a:ea typeface="Pretendard" pitchFamily="34" charset="-122"/>
                <a:cs typeface="Pretendard" pitchFamily="34" charset="-120"/>
              </a:rPr>
              <a:t>사업자등록이 있는지, 손님이 방문해 쓰는 업종인지, 할인가에 팔아도 남는 메뉴가 있는지.</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67066" cy="237744"/>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09</a:t>
            </a:r>
            <a:endParaRPr lang="en-US" sz="950" dirty="0"/>
          </a:p>
        </p:txBody>
      </p:sp>
      <p:sp>
        <p:nvSpPr>
          <p:cNvPr id="5" name="Text 2"/>
          <p:cNvSpPr txBox="1"/>
          <p:nvPr/>
        </p:nvSpPr>
        <p:spPr>
          <a:xfrm>
            <a:off x="685800" y="1051560"/>
            <a:ext cx="5303520" cy="822960"/>
          </a:xfrm>
          <a:prstGeom prst="rect">
            <a:avLst/>
          </a:prstGeom>
          <a:noFill/>
          <a:ln/>
        </p:spPr>
        <p:txBody>
          <a:bodyPr wrap="square" lIns="0" tIns="0" rIns="0" bIns="0" rtlCol="0" anchor="t"/>
          <a:lstStyle/>
          <a:p>
            <a:pPr indent="0" marL="0">
              <a:lnSpc>
                <a:spcPct val="115000"/>
              </a:lnSpc>
              <a:buNone/>
            </a:pPr>
            <a:r>
              <a:rPr lang="en-US" sz="2500" b="1" spc="-60" kern="0" dirty="0">
                <a:solidFill>
                  <a:srgbClr val="16181C"/>
                </a:solidFill>
                <a:latin typeface="Pretendard" pitchFamily="34" charset="0"/>
                <a:ea typeface="Pretendard" pitchFamily="34" charset="-122"/>
                <a:cs typeface="Pretendard" pitchFamily="34" charset="-120"/>
              </a:rPr>
              <a:t>링크는 두 곳에 남습니다.</a:t>
            </a:r>
            <a:endParaRPr lang="en-US" sz="2500" dirty="0"/>
          </a:p>
          <a:p>
            <a:pPr indent="0" marL="0">
              <a:lnSpc>
                <a:spcPct val="115000"/>
              </a:lnSpc>
              <a:buNone/>
            </a:pPr>
            <a:r>
              <a:rPr lang="en-US" sz="2500" b="1" spc="-60" kern="0" dirty="0">
                <a:solidFill>
                  <a:srgbClr val="16181C"/>
                </a:solidFill>
                <a:latin typeface="Pretendard" pitchFamily="34" charset="0"/>
                <a:ea typeface="Pretendard" pitchFamily="34" charset="-122"/>
                <a:cs typeface="Pretendard" pitchFamily="34" charset="-120"/>
              </a:rPr>
              <a:t>내 유어샵과 유어쇼츠.</a:t>
            </a:r>
            <a:endParaRPr lang="en-US" sz="2500" dirty="0"/>
          </a:p>
        </p:txBody>
      </p:sp>
      <p:sp>
        <p:nvSpPr>
          <p:cNvPr id="6" name="Shape 3"/>
          <p:cNvSpPr/>
          <p:nvPr/>
        </p:nvSpPr>
        <p:spPr>
          <a:xfrm>
            <a:off x="685800" y="1965960"/>
            <a:ext cx="4754880" cy="4206240"/>
          </a:xfrm>
          <a:prstGeom prst="roundRect">
            <a:avLst>
              <a:gd name="adj" fmla="val 3043"/>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7" name="Shape 4"/>
          <p:cNvSpPr/>
          <p:nvPr/>
        </p:nvSpPr>
        <p:spPr>
          <a:xfrm>
            <a:off x="960120" y="2240280"/>
            <a:ext cx="420624" cy="420624"/>
          </a:xfrm>
          <a:prstGeom prst="ellipse">
            <a:avLst/>
          </a:prstGeom>
          <a:solidFill>
            <a:srgbClr val="E4EDFD"/>
          </a:solidFill>
          <a:ln w="12700">
            <a:solidFill>
              <a:srgbClr val="E4EDFD"/>
            </a:solidFill>
            <a:prstDash val="solid"/>
          </a:ln>
        </p:spPr>
      </p:sp>
      <p:pic>
        <p:nvPicPr>
          <p:cNvPr id="8" name="Image 1" descr="preencoded.png">    </p:cNvPr>
          <p:cNvPicPr>
            <a:picLocks noChangeAspect="1"/>
          </p:cNvPicPr>
          <p:nvPr/>
        </p:nvPicPr>
        <p:blipFill>
          <a:blip r:embed="rId2"/>
          <a:stretch>
            <a:fillRect/>
          </a:stretch>
        </p:blipFill>
        <p:spPr>
          <a:xfrm>
            <a:off x="1069482" y="2349642"/>
            <a:ext cx="201900" cy="201900"/>
          </a:xfrm>
          <a:prstGeom prst="rect">
            <a:avLst/>
          </a:prstGeom>
        </p:spPr>
      </p:pic>
      <p:sp>
        <p:nvSpPr>
          <p:cNvPr id="9" name="Text 5"/>
          <p:cNvSpPr txBox="1"/>
          <p:nvPr/>
        </p:nvSpPr>
        <p:spPr>
          <a:xfrm>
            <a:off x="1554480" y="2286000"/>
            <a:ext cx="3657600" cy="310896"/>
          </a:xfrm>
          <a:prstGeom prst="rect">
            <a:avLst/>
          </a:prstGeom>
          <a:noFill/>
          <a:ln/>
        </p:spPr>
        <p:txBody>
          <a:bodyPr wrap="square" lIns="0" tIns="0" rIns="0" bIns="0" rtlCol="0" anchor="ctr"/>
          <a:lstStyle/>
          <a:p>
            <a:pPr indent="0" marL="0">
              <a:buNone/>
            </a:pPr>
            <a:r>
              <a:rPr lang="en-US" sz="1450" b="1" spc="-40" kern="0" dirty="0">
                <a:solidFill>
                  <a:srgbClr val="16181C"/>
                </a:solidFill>
                <a:latin typeface="Pretendard" pitchFamily="34" charset="0"/>
                <a:ea typeface="Pretendard" pitchFamily="34" charset="-122"/>
                <a:cs typeface="Pretendard" pitchFamily="34" charset="-120"/>
              </a:rPr>
              <a:t>유어샵 urdeal.kr/u/내주소</a:t>
            </a:r>
            <a:endParaRPr lang="en-US" sz="1450" dirty="0"/>
          </a:p>
        </p:txBody>
      </p:sp>
      <p:sp>
        <p:nvSpPr>
          <p:cNvPr id="10" name="Text 6"/>
          <p:cNvSpPr txBox="1"/>
          <p:nvPr/>
        </p:nvSpPr>
        <p:spPr>
          <a:xfrm>
            <a:off x="960120" y="2788920"/>
            <a:ext cx="4206240" cy="914400"/>
          </a:xfrm>
          <a:prstGeom prst="rect">
            <a:avLst/>
          </a:prstGeom>
          <a:noFill/>
          <a:ln/>
        </p:spPr>
        <p:txBody>
          <a:bodyPr wrap="square" lIns="0" tIns="0" rIns="0" bIns="0" rtlCol="0" anchor="t"/>
          <a:lstStyle/>
          <a:p>
            <a:pPr indent="0" marL="0">
              <a:lnSpc>
                <a:spcPct val="142000"/>
              </a:lnSpc>
              <a:buNone/>
            </a:pPr>
            <a:r>
              <a:rPr lang="en-US" sz="1050" dirty="0">
                <a:solidFill>
                  <a:srgbClr val="6E6B68"/>
                </a:solidFill>
                <a:latin typeface="Pretendard" pitchFamily="34" charset="0"/>
                <a:ea typeface="Pretendard" pitchFamily="34" charset="-122"/>
                <a:cs typeface="Pretendard" pitchFamily="34" charset="-120"/>
              </a:rPr>
              <a:t>가입하면 자동으로 생기는 내 페이지입니다. 이용권을 담아 두면 한 곳에 진열되고, 프로필 링크는 이 주소 하나면 됩니다. 콘텐츠가 내려가도 여기서는 계속 팔립니다.</a:t>
            </a:r>
            <a:endParaRPr lang="en-US" sz="1050" dirty="0"/>
          </a:p>
        </p:txBody>
      </p:sp>
      <p:sp>
        <p:nvSpPr>
          <p:cNvPr id="11" name="Text 7"/>
          <p:cNvSpPr txBox="1"/>
          <p:nvPr/>
        </p:nvSpPr>
        <p:spPr>
          <a:xfrm>
            <a:off x="960120" y="3794760"/>
            <a:ext cx="2691994" cy="274320"/>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담기</a:t>
            </a:r>
            <a:endParaRPr lang="en-US" sz="1150" dirty="0"/>
          </a:p>
        </p:txBody>
      </p:sp>
      <p:sp>
        <p:nvSpPr>
          <p:cNvPr id="12" name="Text 8"/>
          <p:cNvSpPr txBox="1"/>
          <p:nvPr/>
        </p:nvSpPr>
        <p:spPr>
          <a:xfrm>
            <a:off x="3273552" y="3794760"/>
            <a:ext cx="1892808" cy="27432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누구나, 어떤 이용권이든</a:t>
            </a:r>
            <a:endParaRPr lang="en-US" sz="1200" dirty="0"/>
          </a:p>
        </p:txBody>
      </p:sp>
      <p:sp>
        <p:nvSpPr>
          <p:cNvPr id="13" name="Text 9"/>
          <p:cNvSpPr txBox="1"/>
          <p:nvPr/>
        </p:nvSpPr>
        <p:spPr>
          <a:xfrm>
            <a:off x="960120" y="4142232"/>
            <a:ext cx="2691994" cy="274320"/>
          </a:xfrm>
          <a:prstGeom prst="rect">
            <a:avLst/>
          </a:prstGeom>
          <a:noFill/>
          <a:ln/>
        </p:spPr>
        <p:txBody>
          <a:bodyPr wrap="square" lIns="0" tIns="0" rIns="0" bIns="0" rtlCol="0" anchor="ctr"/>
          <a:lstStyle/>
          <a:p>
            <a:pPr indent="0" marL="0">
              <a:buNone/>
            </a:pPr>
            <a:r>
              <a:rPr lang="en-US" sz="1150" b="1" dirty="0">
                <a:solidFill>
                  <a:srgbClr val="16181C"/>
                </a:solidFill>
                <a:latin typeface="Pretendard" pitchFamily="34" charset="0"/>
                <a:ea typeface="Pretendard" pitchFamily="34" charset="-122"/>
                <a:cs typeface="Pretendard" pitchFamily="34" charset="-120"/>
              </a:rPr>
              <a:t>소개비</a:t>
            </a:r>
            <a:endParaRPr lang="en-US" sz="1150" dirty="0"/>
          </a:p>
        </p:txBody>
      </p:sp>
      <p:sp>
        <p:nvSpPr>
          <p:cNvPr id="14" name="Text 10"/>
          <p:cNvSpPr txBox="1"/>
          <p:nvPr/>
        </p:nvSpPr>
        <p:spPr>
          <a:xfrm>
            <a:off x="3273552" y="4142232"/>
            <a:ext cx="1892808" cy="27432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매장과 딜이 있는 것만</a:t>
            </a:r>
            <a:endParaRPr lang="en-US" sz="1200" dirty="0"/>
          </a:p>
        </p:txBody>
      </p:sp>
      <p:sp>
        <p:nvSpPr>
          <p:cNvPr id="15" name="Text 11"/>
          <p:cNvSpPr txBox="1"/>
          <p:nvPr/>
        </p:nvSpPr>
        <p:spPr>
          <a:xfrm>
            <a:off x="960120" y="4489704"/>
            <a:ext cx="2691994" cy="274320"/>
          </a:xfrm>
          <a:prstGeom prst="rect">
            <a:avLst/>
          </a:prstGeom>
          <a:noFill/>
          <a:ln/>
        </p:spPr>
        <p:txBody>
          <a:bodyPr wrap="square" lIns="0" tIns="0" rIns="0" bIns="0" rtlCol="0" anchor="ctr"/>
          <a:lstStyle/>
          <a:p>
            <a:pPr indent="0" marL="0">
              <a:buNone/>
            </a:pPr>
            <a:r>
              <a:rPr lang="en-US" sz="1150" dirty="0">
                <a:solidFill>
                  <a:srgbClr val="6E6B68"/>
                </a:solidFill>
                <a:latin typeface="Pretendard" pitchFamily="34" charset="0"/>
                <a:ea typeface="Pretendard" pitchFamily="34" charset="-122"/>
                <a:cs typeface="Pretendard" pitchFamily="34" charset="-120"/>
              </a:rPr>
              <a:t>카톡 공유</a:t>
            </a:r>
            <a:endParaRPr lang="en-US" sz="1150" dirty="0"/>
          </a:p>
        </p:txBody>
      </p:sp>
      <p:sp>
        <p:nvSpPr>
          <p:cNvPr id="16" name="Text 12"/>
          <p:cNvSpPr txBox="1"/>
          <p:nvPr/>
        </p:nvSpPr>
        <p:spPr>
          <a:xfrm>
            <a:off x="3273552" y="4489704"/>
            <a:ext cx="1892808" cy="274320"/>
          </a:xfrm>
          <a:prstGeom prst="rect">
            <a:avLst/>
          </a:prstGeom>
          <a:noFill/>
          <a:ln/>
        </p:spPr>
        <p:txBody>
          <a:bodyPr wrap="square" lIns="0" tIns="0" rIns="0" bIns="0" rtlCol="0" anchor="ctr"/>
          <a:lstStyle/>
          <a:p>
            <a:pPr algn="r" indent="0" marL="0">
              <a:buNone/>
            </a:pPr>
            <a:r>
              <a:rPr lang="en-US" sz="1200" b="1" dirty="0">
                <a:solidFill>
                  <a:srgbClr val="16181C"/>
                </a:solidFill>
                <a:latin typeface="Pretendard" pitchFamily="34" charset="0"/>
                <a:ea typeface="Pretendard" pitchFamily="34" charset="-122"/>
                <a:cs typeface="Pretendard" pitchFamily="34" charset="-120"/>
              </a:rPr>
              <a:t>미리보기 카드 자동</a:t>
            </a:r>
            <a:endParaRPr lang="en-US" sz="1200" dirty="0"/>
          </a:p>
        </p:txBody>
      </p:sp>
      <p:sp>
        <p:nvSpPr>
          <p:cNvPr id="17" name="Shape 13"/>
          <p:cNvSpPr/>
          <p:nvPr/>
        </p:nvSpPr>
        <p:spPr>
          <a:xfrm>
            <a:off x="960120" y="4983480"/>
            <a:ext cx="420624" cy="420624"/>
          </a:xfrm>
          <a:prstGeom prst="ellipse">
            <a:avLst/>
          </a:prstGeom>
          <a:solidFill>
            <a:srgbClr val="E4EDFD"/>
          </a:solidFill>
          <a:ln w="12700">
            <a:solidFill>
              <a:srgbClr val="E4EDFD"/>
            </a:solidFill>
            <a:prstDash val="solid"/>
          </a:ln>
        </p:spPr>
      </p:sp>
      <p:pic>
        <p:nvPicPr>
          <p:cNvPr id="18" name="Image 2" descr="preencoded.png">    </p:cNvPr>
          <p:cNvPicPr>
            <a:picLocks noChangeAspect="1"/>
          </p:cNvPicPr>
          <p:nvPr/>
        </p:nvPicPr>
        <p:blipFill>
          <a:blip r:embed="rId3"/>
          <a:stretch>
            <a:fillRect/>
          </a:stretch>
        </p:blipFill>
        <p:spPr>
          <a:xfrm>
            <a:off x="1069482" y="5092842"/>
            <a:ext cx="201900" cy="201900"/>
          </a:xfrm>
          <a:prstGeom prst="rect">
            <a:avLst/>
          </a:prstGeom>
        </p:spPr>
      </p:pic>
      <p:sp>
        <p:nvSpPr>
          <p:cNvPr id="19" name="Text 14"/>
          <p:cNvSpPr txBox="1"/>
          <p:nvPr/>
        </p:nvSpPr>
        <p:spPr>
          <a:xfrm>
            <a:off x="1554480" y="5029200"/>
            <a:ext cx="3657600" cy="310896"/>
          </a:xfrm>
          <a:prstGeom prst="rect">
            <a:avLst/>
          </a:prstGeom>
          <a:noFill/>
          <a:ln/>
        </p:spPr>
        <p:txBody>
          <a:bodyPr wrap="square" lIns="0" tIns="0" rIns="0" bIns="0" rtlCol="0" anchor="ctr"/>
          <a:lstStyle/>
          <a:p>
            <a:pPr indent="0" marL="0">
              <a:buNone/>
            </a:pPr>
            <a:r>
              <a:rPr lang="en-US" sz="1450" b="1" spc="-40" kern="0" dirty="0">
                <a:solidFill>
                  <a:srgbClr val="16181C"/>
                </a:solidFill>
                <a:latin typeface="Pretendard" pitchFamily="34" charset="0"/>
                <a:ea typeface="Pretendard" pitchFamily="34" charset="-122"/>
                <a:cs typeface="Pretendard" pitchFamily="34" charset="-120"/>
              </a:rPr>
              <a:t>유어쇼츠</a:t>
            </a:r>
            <a:endParaRPr lang="en-US" sz="1450" dirty="0"/>
          </a:p>
        </p:txBody>
      </p:sp>
      <p:sp>
        <p:nvSpPr>
          <p:cNvPr id="20" name="Text 15"/>
          <p:cNvSpPr txBox="1"/>
          <p:nvPr/>
        </p:nvSpPr>
        <p:spPr>
          <a:xfrm>
            <a:off x="960120" y="5394960"/>
            <a:ext cx="4206240" cy="68580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세로 영상 아래 구매 버튼이 붙는 자리입니다. 영상 자체에 대한 몫은 없고, 그 이용권에 매장과 맺은 딜이 있을 때 소개비가 붙습니다.</a:t>
            </a:r>
            <a:endParaRPr lang="en-US" sz="1050" dirty="0"/>
          </a:p>
        </p:txBody>
      </p:sp>
      <p:pic>
        <p:nvPicPr>
          <p:cNvPr id="21" name="Image 3" descr="preencoded.png">    </p:cNvPr>
          <p:cNvPicPr>
            <a:picLocks noChangeAspect="1"/>
          </p:cNvPicPr>
          <p:nvPr/>
        </p:nvPicPr>
        <p:blipFill>
          <a:blip r:embed="rId4"/>
          <a:stretch>
            <a:fillRect/>
          </a:stretch>
        </p:blipFill>
        <p:spPr>
          <a:xfrm>
            <a:off x="5876762" y="756122"/>
            <a:ext cx="2892080" cy="5528636"/>
          </a:xfrm>
          <a:prstGeom prst="rect">
            <a:avLst/>
          </a:prstGeom>
        </p:spPr>
      </p:pic>
      <p:sp>
        <p:nvSpPr>
          <p:cNvPr id="22" name="Text 16"/>
          <p:cNvSpPr txBox="1"/>
          <p:nvPr/>
        </p:nvSpPr>
        <p:spPr>
          <a:xfrm>
            <a:off x="5760720" y="6181344"/>
            <a:ext cx="3124165"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유어샵 (라이브 화면)</a:t>
            </a:r>
            <a:endParaRPr lang="en-US" sz="1050" dirty="0"/>
          </a:p>
        </p:txBody>
      </p:sp>
      <p:sp>
        <p:nvSpPr>
          <p:cNvPr id="23" name="Text 17"/>
          <p:cNvSpPr txBox="1"/>
          <p:nvPr/>
        </p:nvSpPr>
        <p:spPr>
          <a:xfrm>
            <a:off x="9281160" y="2011680"/>
            <a:ext cx="2224735" cy="237744"/>
          </a:xfrm>
          <a:prstGeom prst="rect">
            <a:avLst/>
          </a:prstGeom>
          <a:noFill/>
          <a:ln/>
        </p:spPr>
        <p:txBody>
          <a:bodyPr wrap="square" lIns="0" tIns="0" rIns="0" bIns="0" rtlCol="0" anchor="ctr"/>
          <a:lstStyle/>
          <a:p>
            <a:pPr indent="0" marL="0">
              <a:buNone/>
            </a:pPr>
            <a:r>
              <a:rPr lang="en-US" sz="1000" b="1" spc="120" kern="0" dirty="0">
                <a:solidFill>
                  <a:srgbClr val="8A8580"/>
                </a:solidFill>
                <a:latin typeface="Pretendard" pitchFamily="34" charset="0"/>
                <a:ea typeface="Pretendard" pitchFamily="34" charset="-122"/>
                <a:cs typeface="Pretendard" pitchFamily="34" charset="-120"/>
              </a:rPr>
              <a:t>담는 방법</a:t>
            </a:r>
            <a:endParaRPr lang="en-US" sz="1000" dirty="0"/>
          </a:p>
        </p:txBody>
      </p:sp>
      <p:sp>
        <p:nvSpPr>
          <p:cNvPr id="24" name="Shape 18"/>
          <p:cNvSpPr/>
          <p:nvPr/>
        </p:nvSpPr>
        <p:spPr>
          <a:xfrm>
            <a:off x="9281160" y="2331720"/>
            <a:ext cx="329184" cy="329184"/>
          </a:xfrm>
          <a:prstGeom prst="ellipse">
            <a:avLst/>
          </a:prstGeom>
          <a:solidFill>
            <a:srgbClr val="1C69EF"/>
          </a:solidFill>
          <a:ln w="15875">
            <a:solidFill>
              <a:srgbClr val="1C69EF"/>
            </a:solidFill>
            <a:prstDash val="solid"/>
          </a:ln>
        </p:spPr>
      </p:sp>
      <p:sp>
        <p:nvSpPr>
          <p:cNvPr id="25" name="Text 19"/>
          <p:cNvSpPr txBox="1"/>
          <p:nvPr/>
        </p:nvSpPr>
        <p:spPr>
          <a:xfrm>
            <a:off x="9281160" y="2331720"/>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sp>
        <p:nvSpPr>
          <p:cNvPr id="26" name="Text 20"/>
          <p:cNvSpPr txBox="1"/>
          <p:nvPr/>
        </p:nvSpPr>
        <p:spPr>
          <a:xfrm>
            <a:off x="9738360" y="2313432"/>
            <a:ext cx="1767535" cy="329184"/>
          </a:xfrm>
          <a:prstGeom prst="rect">
            <a:avLst/>
          </a:prstGeom>
          <a:noFill/>
          <a:ln/>
        </p:spPr>
        <p:txBody>
          <a:bodyPr wrap="square" lIns="0" tIns="0" rIns="0" bIns="0" rtlCol="0" anchor="ctr"/>
          <a:lstStyle/>
          <a:p>
            <a:pPr indent="0" marL="0">
              <a:buNone/>
            </a:pPr>
            <a:r>
              <a:rPr lang="en-US" sz="1200" b="1" spc="-30" kern="0" dirty="0">
                <a:solidFill>
                  <a:srgbClr val="16181C"/>
                </a:solidFill>
                <a:latin typeface="Pretendard" pitchFamily="34" charset="0"/>
                <a:ea typeface="Pretendard" pitchFamily="34" charset="-122"/>
                <a:cs typeface="Pretendard" pitchFamily="34" charset="-120"/>
              </a:rPr>
              <a:t>이용권 상세에서 담기</a:t>
            </a:r>
            <a:endParaRPr lang="en-US" sz="1200" dirty="0"/>
          </a:p>
        </p:txBody>
      </p:sp>
      <p:sp>
        <p:nvSpPr>
          <p:cNvPr id="27" name="Text 21"/>
          <p:cNvSpPr txBox="1"/>
          <p:nvPr/>
        </p:nvSpPr>
        <p:spPr>
          <a:xfrm>
            <a:off x="9281160" y="2715768"/>
            <a:ext cx="2224735" cy="548640"/>
          </a:xfrm>
          <a:prstGeom prst="rect">
            <a:avLst/>
          </a:prstGeom>
          <a:noFill/>
          <a:ln/>
        </p:spPr>
        <p:txBody>
          <a:bodyPr wrap="square" lIns="0" tIns="0" rIns="0" bIns="0" rtlCol="0" anchor="t"/>
          <a:lstStyle/>
          <a:p>
            <a:pPr indent="0" marL="0">
              <a:lnSpc>
                <a:spcPct val="138000"/>
              </a:lnSpc>
              <a:buNone/>
            </a:pPr>
            <a:r>
              <a:rPr lang="en-US" sz="1000" dirty="0">
                <a:solidFill>
                  <a:srgbClr val="6E6B68"/>
                </a:solidFill>
                <a:latin typeface="Pretendard" pitchFamily="34" charset="0"/>
                <a:ea typeface="Pretendard" pitchFamily="34" charset="-122"/>
                <a:cs typeface="Pretendard" pitchFamily="34" charset="-120"/>
              </a:rPr>
              <a:t>마음에 드는 이용권 상세 화면의 담기 버튼을 누릅니다.</a:t>
            </a:r>
            <a:endParaRPr lang="en-US" sz="1000" dirty="0"/>
          </a:p>
        </p:txBody>
      </p:sp>
      <p:sp>
        <p:nvSpPr>
          <p:cNvPr id="28" name="Shape 22"/>
          <p:cNvSpPr/>
          <p:nvPr/>
        </p:nvSpPr>
        <p:spPr>
          <a:xfrm>
            <a:off x="9281160" y="3383280"/>
            <a:ext cx="329184" cy="329184"/>
          </a:xfrm>
          <a:prstGeom prst="ellipse">
            <a:avLst/>
          </a:prstGeom>
          <a:solidFill>
            <a:srgbClr val="1C69EF"/>
          </a:solidFill>
          <a:ln w="15875">
            <a:solidFill>
              <a:srgbClr val="1C69EF"/>
            </a:solidFill>
            <a:prstDash val="solid"/>
          </a:ln>
        </p:spPr>
      </p:sp>
      <p:sp>
        <p:nvSpPr>
          <p:cNvPr id="29" name="Text 23"/>
          <p:cNvSpPr txBox="1"/>
          <p:nvPr/>
        </p:nvSpPr>
        <p:spPr>
          <a:xfrm>
            <a:off x="9281160" y="3383280"/>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30" name="Text 24"/>
          <p:cNvSpPr txBox="1"/>
          <p:nvPr/>
        </p:nvSpPr>
        <p:spPr>
          <a:xfrm>
            <a:off x="9738360" y="3364992"/>
            <a:ext cx="1767535" cy="329184"/>
          </a:xfrm>
          <a:prstGeom prst="rect">
            <a:avLst/>
          </a:prstGeom>
          <a:noFill/>
          <a:ln/>
        </p:spPr>
        <p:txBody>
          <a:bodyPr wrap="square" lIns="0" tIns="0" rIns="0" bIns="0" rtlCol="0" anchor="ctr"/>
          <a:lstStyle/>
          <a:p>
            <a:pPr indent="0" marL="0">
              <a:buNone/>
            </a:pPr>
            <a:r>
              <a:rPr lang="en-US" sz="1200" b="1" spc="-30" kern="0" dirty="0">
                <a:solidFill>
                  <a:srgbClr val="16181C"/>
                </a:solidFill>
                <a:latin typeface="Pretendard" pitchFamily="34" charset="0"/>
                <a:ea typeface="Pretendard" pitchFamily="34" charset="-122"/>
                <a:cs typeface="Pretendard" pitchFamily="34" charset="-120"/>
              </a:rPr>
              <a:t>유어샵에 진열</a:t>
            </a:r>
            <a:endParaRPr lang="en-US" sz="1200" dirty="0"/>
          </a:p>
        </p:txBody>
      </p:sp>
      <p:sp>
        <p:nvSpPr>
          <p:cNvPr id="31" name="Text 25"/>
          <p:cNvSpPr txBox="1"/>
          <p:nvPr/>
        </p:nvSpPr>
        <p:spPr>
          <a:xfrm>
            <a:off x="9281160" y="3767328"/>
            <a:ext cx="2224735" cy="548640"/>
          </a:xfrm>
          <a:prstGeom prst="rect">
            <a:avLst/>
          </a:prstGeom>
          <a:noFill/>
          <a:ln/>
        </p:spPr>
        <p:txBody>
          <a:bodyPr wrap="square" lIns="0" tIns="0" rIns="0" bIns="0" rtlCol="0" anchor="t"/>
          <a:lstStyle/>
          <a:p>
            <a:pPr indent="0" marL="0">
              <a:lnSpc>
                <a:spcPct val="138000"/>
              </a:lnSpc>
              <a:buNone/>
            </a:pPr>
            <a:r>
              <a:rPr lang="en-US" sz="1000" dirty="0">
                <a:solidFill>
                  <a:srgbClr val="6E6B68"/>
                </a:solidFill>
                <a:latin typeface="Pretendard" pitchFamily="34" charset="0"/>
                <a:ea typeface="Pretendard" pitchFamily="34" charset="-122"/>
                <a:cs typeface="Pretendard" pitchFamily="34" charset="-120"/>
              </a:rPr>
              <a:t>담은 순서대로 내 유어샵 카드가 됩니다. 순서는 바꿀 수 있습니다.</a:t>
            </a:r>
            <a:endParaRPr lang="en-US" sz="1000" dirty="0"/>
          </a:p>
        </p:txBody>
      </p:sp>
      <p:sp>
        <p:nvSpPr>
          <p:cNvPr id="32" name="Shape 26"/>
          <p:cNvSpPr/>
          <p:nvPr/>
        </p:nvSpPr>
        <p:spPr>
          <a:xfrm>
            <a:off x="9281160" y="4434840"/>
            <a:ext cx="329184" cy="329184"/>
          </a:xfrm>
          <a:prstGeom prst="ellipse">
            <a:avLst/>
          </a:prstGeom>
          <a:solidFill>
            <a:srgbClr val="1C69EF"/>
          </a:solidFill>
          <a:ln w="15875">
            <a:solidFill>
              <a:srgbClr val="1C69EF"/>
            </a:solidFill>
            <a:prstDash val="solid"/>
          </a:ln>
        </p:spPr>
      </p:sp>
      <p:sp>
        <p:nvSpPr>
          <p:cNvPr id="33" name="Text 27"/>
          <p:cNvSpPr txBox="1"/>
          <p:nvPr/>
        </p:nvSpPr>
        <p:spPr>
          <a:xfrm>
            <a:off x="9281160" y="4434840"/>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34" name="Text 28"/>
          <p:cNvSpPr txBox="1"/>
          <p:nvPr/>
        </p:nvSpPr>
        <p:spPr>
          <a:xfrm>
            <a:off x="9738360" y="4416552"/>
            <a:ext cx="1767535" cy="329184"/>
          </a:xfrm>
          <a:prstGeom prst="rect">
            <a:avLst/>
          </a:prstGeom>
          <a:noFill/>
          <a:ln/>
        </p:spPr>
        <p:txBody>
          <a:bodyPr wrap="square" lIns="0" tIns="0" rIns="0" bIns="0" rtlCol="0" anchor="ctr"/>
          <a:lstStyle/>
          <a:p>
            <a:pPr indent="0" marL="0">
              <a:buNone/>
            </a:pPr>
            <a:r>
              <a:rPr lang="en-US" sz="1200" b="1" spc="-30" kern="0" dirty="0">
                <a:solidFill>
                  <a:srgbClr val="16181C"/>
                </a:solidFill>
                <a:latin typeface="Pretendard" pitchFamily="34" charset="0"/>
                <a:ea typeface="Pretendard" pitchFamily="34" charset="-122"/>
                <a:cs typeface="Pretendard" pitchFamily="34" charset="-120"/>
              </a:rPr>
              <a:t>주소 하나만 공유</a:t>
            </a:r>
            <a:endParaRPr lang="en-US" sz="1200" dirty="0"/>
          </a:p>
        </p:txBody>
      </p:sp>
      <p:sp>
        <p:nvSpPr>
          <p:cNvPr id="35" name="Text 29"/>
          <p:cNvSpPr txBox="1"/>
          <p:nvPr/>
        </p:nvSpPr>
        <p:spPr>
          <a:xfrm>
            <a:off x="9281160" y="4818888"/>
            <a:ext cx="2224735" cy="548640"/>
          </a:xfrm>
          <a:prstGeom prst="rect">
            <a:avLst/>
          </a:prstGeom>
          <a:noFill/>
          <a:ln/>
        </p:spPr>
        <p:txBody>
          <a:bodyPr wrap="square" lIns="0" tIns="0" rIns="0" bIns="0" rtlCol="0" anchor="t"/>
          <a:lstStyle/>
          <a:p>
            <a:pPr indent="0" marL="0">
              <a:lnSpc>
                <a:spcPct val="138000"/>
              </a:lnSpc>
              <a:buNone/>
            </a:pPr>
            <a:r>
              <a:rPr lang="en-US" sz="1000" dirty="0">
                <a:solidFill>
                  <a:srgbClr val="6E6B68"/>
                </a:solidFill>
                <a:latin typeface="Pretendard" pitchFamily="34" charset="0"/>
                <a:ea typeface="Pretendard" pitchFamily="34" charset="-122"/>
                <a:cs typeface="Pretendard" pitchFamily="34" charset="-120"/>
              </a:rPr>
              <a:t>프로필, 스토리, 더보기에 내 유어샵 주소를 겁니다.</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67066" cy="237744"/>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10</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정산은 이렇게 됩니다. 매장에 돈을 달라고 할 일이 없습니다.</a:t>
            </a:r>
            <a:endParaRPr lang="en-US" sz="2700" dirty="0"/>
          </a:p>
        </p:txBody>
      </p:sp>
      <p:sp>
        <p:nvSpPr>
          <p:cNvPr id="6" name="Text 3"/>
          <p:cNvSpPr txBox="1"/>
          <p:nvPr/>
        </p:nvSpPr>
        <p:spPr>
          <a:xfrm>
            <a:off x="685800" y="1828800"/>
            <a:ext cx="10820095" cy="36576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귀속부터 송금까지 유어딜이 처리합니다. 화면에서 대기, 확정, 지급을 그대로 봅니다.</a:t>
            </a:r>
            <a:endParaRPr lang="en-US" sz="1250" dirty="0"/>
          </a:p>
        </p:txBody>
      </p:sp>
      <p:sp>
        <p:nvSpPr>
          <p:cNvPr id="7" name="Shape 4"/>
          <p:cNvSpPr/>
          <p:nvPr/>
        </p:nvSpPr>
        <p:spPr>
          <a:xfrm>
            <a:off x="685800" y="2606040"/>
            <a:ext cx="365760" cy="365760"/>
          </a:xfrm>
          <a:prstGeom prst="ellipse">
            <a:avLst/>
          </a:prstGeom>
          <a:solidFill>
            <a:srgbClr val="1C69EF"/>
          </a:solidFill>
          <a:ln w="15875">
            <a:solidFill>
              <a:srgbClr val="1C69EF"/>
            </a:solidFill>
            <a:prstDash val="solid"/>
          </a:ln>
        </p:spPr>
      </p:sp>
      <p:sp>
        <p:nvSpPr>
          <p:cNvPr id="8" name="Text 5"/>
          <p:cNvSpPr txBox="1"/>
          <p:nvPr/>
        </p:nvSpPr>
        <p:spPr>
          <a:xfrm>
            <a:off x="685800" y="260604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sp>
        <p:nvSpPr>
          <p:cNvPr id="9" name="Text 6"/>
          <p:cNvSpPr txBox="1"/>
          <p:nvPr/>
        </p:nvSpPr>
        <p:spPr>
          <a:xfrm>
            <a:off x="685800" y="3108960"/>
            <a:ext cx="1783080" cy="548640"/>
          </a:xfrm>
          <a:prstGeom prst="rect">
            <a:avLst/>
          </a:prstGeom>
          <a:noFill/>
          <a:ln/>
        </p:spPr>
        <p:txBody>
          <a:bodyPr wrap="square" lIns="0" tIns="0" rIns="0" bIns="0" rtlCol="0" anchor="t"/>
          <a:lstStyle/>
          <a:p>
            <a:pPr indent="0" marL="0">
              <a:lnSpc>
                <a:spcPct val="120000"/>
              </a:lnSpc>
              <a:buNone/>
            </a:pPr>
            <a:r>
              <a:rPr lang="en-US" sz="1250" b="1" spc="-30" kern="0" dirty="0">
                <a:solidFill>
                  <a:srgbClr val="16181C"/>
                </a:solidFill>
                <a:latin typeface="Pretendard" pitchFamily="34" charset="0"/>
                <a:ea typeface="Pretendard" pitchFamily="34" charset="-122"/>
                <a:cs typeface="Pretendard" pitchFamily="34" charset="-120"/>
              </a:rPr>
              <a:t>링크로 귀속</a:t>
            </a:r>
            <a:endParaRPr lang="en-US" sz="1250" dirty="0"/>
          </a:p>
        </p:txBody>
      </p:sp>
      <p:sp>
        <p:nvSpPr>
          <p:cNvPr id="10" name="Text 7"/>
          <p:cNvSpPr txBox="1"/>
          <p:nvPr/>
        </p:nvSpPr>
        <p:spPr>
          <a:xfrm>
            <a:off x="685800" y="3657600"/>
            <a:ext cx="1783080" cy="1188720"/>
          </a:xfrm>
          <a:prstGeom prst="rect">
            <a:avLst/>
          </a:prstGeom>
          <a:noFill/>
          <a:ln/>
        </p:spPr>
        <p:txBody>
          <a:bodyPr wrap="square" lIns="0" tIns="0" rIns="0" bIns="0" rtlCol="0" anchor="t"/>
          <a:lstStyle/>
          <a:p>
            <a:pPr indent="0" marL="0">
              <a:lnSpc>
                <a:spcPct val="142000"/>
              </a:lnSpc>
              <a:buNone/>
            </a:pPr>
            <a:r>
              <a:rPr lang="en-US" sz="1000" dirty="0">
                <a:solidFill>
                  <a:srgbClr val="6E6B68"/>
                </a:solidFill>
                <a:latin typeface="Pretendard" pitchFamily="34" charset="0"/>
                <a:ea typeface="Pretendard" pitchFamily="34" charset="-122"/>
                <a:cs typeface="Pretendard" pitchFamily="34" charset="-120"/>
              </a:rPr>
              <a:t>내 링크로 들어온 주문에 자동으로 연결됩니다. 코드를 확인할 일이 없습니다.</a:t>
            </a:r>
            <a:endParaRPr lang="en-US" sz="1000" dirty="0"/>
          </a:p>
        </p:txBody>
      </p:sp>
      <p:pic>
        <p:nvPicPr>
          <p:cNvPr id="11" name="Image 1" descr="preencoded.png">    </p:cNvPr>
          <p:cNvPicPr>
            <a:picLocks noChangeAspect="1"/>
          </p:cNvPicPr>
          <p:nvPr/>
        </p:nvPicPr>
        <p:blipFill>
          <a:blip r:embed="rId2"/>
          <a:stretch>
            <a:fillRect/>
          </a:stretch>
        </p:blipFill>
        <p:spPr>
          <a:xfrm>
            <a:off x="2487168" y="2679192"/>
            <a:ext cx="219456" cy="219456"/>
          </a:xfrm>
          <a:prstGeom prst="rect">
            <a:avLst/>
          </a:prstGeom>
        </p:spPr>
      </p:pic>
      <p:sp>
        <p:nvSpPr>
          <p:cNvPr id="12" name="Shape 8"/>
          <p:cNvSpPr/>
          <p:nvPr/>
        </p:nvSpPr>
        <p:spPr>
          <a:xfrm>
            <a:off x="2724912" y="2606040"/>
            <a:ext cx="365760" cy="365760"/>
          </a:xfrm>
          <a:prstGeom prst="ellipse">
            <a:avLst/>
          </a:prstGeom>
          <a:solidFill>
            <a:srgbClr val="1C69EF"/>
          </a:solidFill>
          <a:ln w="15875">
            <a:solidFill>
              <a:srgbClr val="1C69EF"/>
            </a:solidFill>
            <a:prstDash val="solid"/>
          </a:ln>
        </p:spPr>
      </p:sp>
      <p:sp>
        <p:nvSpPr>
          <p:cNvPr id="13" name="Text 9"/>
          <p:cNvSpPr txBox="1"/>
          <p:nvPr/>
        </p:nvSpPr>
        <p:spPr>
          <a:xfrm>
            <a:off x="2724912" y="260604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4" name="Text 10"/>
          <p:cNvSpPr txBox="1"/>
          <p:nvPr/>
        </p:nvSpPr>
        <p:spPr>
          <a:xfrm>
            <a:off x="2724912" y="3108960"/>
            <a:ext cx="1783080" cy="548640"/>
          </a:xfrm>
          <a:prstGeom prst="rect">
            <a:avLst/>
          </a:prstGeom>
          <a:noFill/>
          <a:ln/>
        </p:spPr>
        <p:txBody>
          <a:bodyPr wrap="square" lIns="0" tIns="0" rIns="0" bIns="0" rtlCol="0" anchor="t"/>
          <a:lstStyle/>
          <a:p>
            <a:pPr indent="0" marL="0">
              <a:lnSpc>
                <a:spcPct val="120000"/>
              </a:lnSpc>
              <a:buNone/>
            </a:pPr>
            <a:r>
              <a:rPr lang="en-US" sz="1250" b="1" spc="-30" kern="0" dirty="0">
                <a:solidFill>
                  <a:srgbClr val="16181C"/>
                </a:solidFill>
                <a:latin typeface="Pretendard" pitchFamily="34" charset="0"/>
                <a:ea typeface="Pretendard" pitchFamily="34" charset="-122"/>
                <a:cs typeface="Pretendard" pitchFamily="34" charset="-120"/>
              </a:rPr>
              <a:t>7일 뒤 확정</a:t>
            </a:r>
            <a:endParaRPr lang="en-US" sz="1250" dirty="0"/>
          </a:p>
        </p:txBody>
      </p:sp>
      <p:sp>
        <p:nvSpPr>
          <p:cNvPr id="15" name="Text 11"/>
          <p:cNvSpPr txBox="1"/>
          <p:nvPr/>
        </p:nvSpPr>
        <p:spPr>
          <a:xfrm>
            <a:off x="2724912" y="3657600"/>
            <a:ext cx="1783080" cy="1188720"/>
          </a:xfrm>
          <a:prstGeom prst="rect">
            <a:avLst/>
          </a:prstGeom>
          <a:noFill/>
          <a:ln/>
        </p:spPr>
        <p:txBody>
          <a:bodyPr wrap="square" lIns="0" tIns="0" rIns="0" bIns="0" rtlCol="0" anchor="t"/>
          <a:lstStyle/>
          <a:p>
            <a:pPr indent="0" marL="0">
              <a:lnSpc>
                <a:spcPct val="142000"/>
              </a:lnSpc>
              <a:buNone/>
            </a:pPr>
            <a:r>
              <a:rPr lang="en-US" sz="1000" dirty="0">
                <a:solidFill>
                  <a:srgbClr val="6E6B68"/>
                </a:solidFill>
                <a:latin typeface="Pretendard" pitchFamily="34" charset="0"/>
                <a:ea typeface="Pretendard" pitchFamily="34" charset="-122"/>
                <a:cs typeface="Pretendard" pitchFamily="34" charset="-120"/>
              </a:rPr>
              <a:t>환불 가능 기간이 지나면 지급 가능 상태가 됩니다. 환불된 건은 그 건만 회수됩니다.</a:t>
            </a:r>
            <a:endParaRPr lang="en-US" sz="1000" dirty="0"/>
          </a:p>
        </p:txBody>
      </p:sp>
      <p:pic>
        <p:nvPicPr>
          <p:cNvPr id="16" name="Image 2" descr="preencoded.png">    </p:cNvPr>
          <p:cNvPicPr>
            <a:picLocks noChangeAspect="1"/>
          </p:cNvPicPr>
          <p:nvPr/>
        </p:nvPicPr>
        <p:blipFill>
          <a:blip r:embed="rId3"/>
          <a:stretch>
            <a:fillRect/>
          </a:stretch>
        </p:blipFill>
        <p:spPr>
          <a:xfrm>
            <a:off x="4526280" y="2679192"/>
            <a:ext cx="219456" cy="219456"/>
          </a:xfrm>
          <a:prstGeom prst="rect">
            <a:avLst/>
          </a:prstGeom>
        </p:spPr>
      </p:pic>
      <p:sp>
        <p:nvSpPr>
          <p:cNvPr id="17" name="Shape 12"/>
          <p:cNvSpPr/>
          <p:nvPr/>
        </p:nvSpPr>
        <p:spPr>
          <a:xfrm>
            <a:off x="4764024" y="2606040"/>
            <a:ext cx="365760" cy="365760"/>
          </a:xfrm>
          <a:prstGeom prst="ellipse">
            <a:avLst/>
          </a:prstGeom>
          <a:solidFill>
            <a:srgbClr val="1C69EF"/>
          </a:solidFill>
          <a:ln w="15875">
            <a:solidFill>
              <a:srgbClr val="1C69EF"/>
            </a:solidFill>
            <a:prstDash val="solid"/>
          </a:ln>
        </p:spPr>
      </p:sp>
      <p:sp>
        <p:nvSpPr>
          <p:cNvPr id="18" name="Text 13"/>
          <p:cNvSpPr txBox="1"/>
          <p:nvPr/>
        </p:nvSpPr>
        <p:spPr>
          <a:xfrm>
            <a:off x="4764024" y="260604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19" name="Text 14"/>
          <p:cNvSpPr txBox="1"/>
          <p:nvPr/>
        </p:nvSpPr>
        <p:spPr>
          <a:xfrm>
            <a:off x="4764024" y="3108960"/>
            <a:ext cx="1783080" cy="548640"/>
          </a:xfrm>
          <a:prstGeom prst="rect">
            <a:avLst/>
          </a:prstGeom>
          <a:noFill/>
          <a:ln/>
        </p:spPr>
        <p:txBody>
          <a:bodyPr wrap="square" lIns="0" tIns="0" rIns="0" bIns="0" rtlCol="0" anchor="t"/>
          <a:lstStyle/>
          <a:p>
            <a:pPr indent="0" marL="0">
              <a:lnSpc>
                <a:spcPct val="120000"/>
              </a:lnSpc>
              <a:buNone/>
            </a:pPr>
            <a:r>
              <a:rPr lang="en-US" sz="1250" b="1" spc="-30" kern="0" dirty="0">
                <a:solidFill>
                  <a:srgbClr val="16181C"/>
                </a:solidFill>
                <a:latin typeface="Pretendard" pitchFamily="34" charset="0"/>
                <a:ea typeface="Pretendard" pitchFamily="34" charset="-122"/>
                <a:cs typeface="Pretendard" pitchFamily="34" charset="-120"/>
              </a:rPr>
              <a:t>매월 1일 집계</a:t>
            </a:r>
            <a:endParaRPr lang="en-US" sz="1250" dirty="0"/>
          </a:p>
        </p:txBody>
      </p:sp>
      <p:sp>
        <p:nvSpPr>
          <p:cNvPr id="20" name="Text 15"/>
          <p:cNvSpPr txBox="1"/>
          <p:nvPr/>
        </p:nvSpPr>
        <p:spPr>
          <a:xfrm>
            <a:off x="4764024" y="3657600"/>
            <a:ext cx="1783080" cy="1188720"/>
          </a:xfrm>
          <a:prstGeom prst="rect">
            <a:avLst/>
          </a:prstGeom>
          <a:noFill/>
          <a:ln/>
        </p:spPr>
        <p:txBody>
          <a:bodyPr wrap="square" lIns="0" tIns="0" rIns="0" bIns="0" rtlCol="0" anchor="t"/>
          <a:lstStyle/>
          <a:p>
            <a:pPr indent="0" marL="0">
              <a:lnSpc>
                <a:spcPct val="142000"/>
              </a:lnSpc>
              <a:buNone/>
            </a:pPr>
            <a:r>
              <a:rPr lang="en-US" sz="1000" dirty="0">
                <a:solidFill>
                  <a:srgbClr val="6E6B68"/>
                </a:solidFill>
                <a:latin typeface="Pretendard" pitchFamily="34" charset="0"/>
                <a:ea typeface="Pretendard" pitchFamily="34" charset="-122"/>
                <a:cs typeface="Pretendard" pitchFamily="34" charset="-120"/>
              </a:rPr>
              <a:t>지급 가능 금액을 모아 정산 대기로 올립니다. 화면에서 바로 보입니다.</a:t>
            </a:r>
            <a:endParaRPr lang="en-US" sz="1000" dirty="0"/>
          </a:p>
        </p:txBody>
      </p:sp>
      <p:pic>
        <p:nvPicPr>
          <p:cNvPr id="21" name="Image 3" descr="preencoded.png">    </p:cNvPr>
          <p:cNvPicPr>
            <a:picLocks noChangeAspect="1"/>
          </p:cNvPicPr>
          <p:nvPr/>
        </p:nvPicPr>
        <p:blipFill>
          <a:blip r:embed="rId4"/>
          <a:stretch>
            <a:fillRect/>
          </a:stretch>
        </p:blipFill>
        <p:spPr>
          <a:xfrm>
            <a:off x="6565392" y="2679192"/>
            <a:ext cx="219456" cy="219456"/>
          </a:xfrm>
          <a:prstGeom prst="rect">
            <a:avLst/>
          </a:prstGeom>
        </p:spPr>
      </p:pic>
      <p:sp>
        <p:nvSpPr>
          <p:cNvPr id="22" name="Shape 16"/>
          <p:cNvSpPr/>
          <p:nvPr/>
        </p:nvSpPr>
        <p:spPr>
          <a:xfrm>
            <a:off x="6803136" y="2606040"/>
            <a:ext cx="365760" cy="365760"/>
          </a:xfrm>
          <a:prstGeom prst="ellipse">
            <a:avLst/>
          </a:prstGeom>
          <a:solidFill>
            <a:srgbClr val="1C69EF"/>
          </a:solidFill>
          <a:ln w="15875">
            <a:solidFill>
              <a:srgbClr val="1C69EF"/>
            </a:solidFill>
            <a:prstDash val="solid"/>
          </a:ln>
        </p:spPr>
      </p:sp>
      <p:sp>
        <p:nvSpPr>
          <p:cNvPr id="23" name="Text 17"/>
          <p:cNvSpPr txBox="1"/>
          <p:nvPr/>
        </p:nvSpPr>
        <p:spPr>
          <a:xfrm>
            <a:off x="6803136" y="260604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4</a:t>
            </a:r>
            <a:endParaRPr lang="en-US" sz="1150" dirty="0"/>
          </a:p>
        </p:txBody>
      </p:sp>
      <p:sp>
        <p:nvSpPr>
          <p:cNvPr id="24" name="Text 18"/>
          <p:cNvSpPr txBox="1"/>
          <p:nvPr/>
        </p:nvSpPr>
        <p:spPr>
          <a:xfrm>
            <a:off x="6803136" y="3108960"/>
            <a:ext cx="1783080" cy="548640"/>
          </a:xfrm>
          <a:prstGeom prst="rect">
            <a:avLst/>
          </a:prstGeom>
          <a:noFill/>
          <a:ln/>
        </p:spPr>
        <p:txBody>
          <a:bodyPr wrap="square" lIns="0" tIns="0" rIns="0" bIns="0" rtlCol="0" anchor="t"/>
          <a:lstStyle/>
          <a:p>
            <a:pPr indent="0" marL="0">
              <a:lnSpc>
                <a:spcPct val="120000"/>
              </a:lnSpc>
              <a:buNone/>
            </a:pPr>
            <a:r>
              <a:rPr lang="en-US" sz="1250" b="1" spc="-30" kern="0" dirty="0">
                <a:solidFill>
                  <a:srgbClr val="16181C"/>
                </a:solidFill>
                <a:latin typeface="Pretendard" pitchFamily="34" charset="0"/>
                <a:ea typeface="Pretendard" pitchFamily="34" charset="-122"/>
                <a:cs typeface="Pretendard" pitchFamily="34" charset="-120"/>
              </a:rPr>
              <a:t>유어딜이 확인 후 지급</a:t>
            </a:r>
            <a:endParaRPr lang="en-US" sz="1250" dirty="0"/>
          </a:p>
        </p:txBody>
      </p:sp>
      <p:sp>
        <p:nvSpPr>
          <p:cNvPr id="25" name="Text 19"/>
          <p:cNvSpPr txBox="1"/>
          <p:nvPr/>
        </p:nvSpPr>
        <p:spPr>
          <a:xfrm>
            <a:off x="6803136" y="3657600"/>
            <a:ext cx="1783080" cy="1188720"/>
          </a:xfrm>
          <a:prstGeom prst="rect">
            <a:avLst/>
          </a:prstGeom>
          <a:noFill/>
          <a:ln/>
        </p:spPr>
        <p:txBody>
          <a:bodyPr wrap="square" lIns="0" tIns="0" rIns="0" bIns="0" rtlCol="0" anchor="t"/>
          <a:lstStyle/>
          <a:p>
            <a:pPr indent="0" marL="0">
              <a:lnSpc>
                <a:spcPct val="142000"/>
              </a:lnSpc>
              <a:buNone/>
            </a:pPr>
            <a:r>
              <a:rPr lang="en-US" sz="1000" dirty="0">
                <a:solidFill>
                  <a:srgbClr val="6E6B68"/>
                </a:solidFill>
                <a:latin typeface="Pretendard" pitchFamily="34" charset="0"/>
                <a:ea typeface="Pretendard" pitchFamily="34" charset="-122"/>
                <a:cs typeface="Pretendard" pitchFamily="34" charset="-120"/>
              </a:rPr>
              <a:t>현금은 10만원부터, 원천징수를 뗀 뒤 등록 계좌로. 딜로 받으면 하한 없이 유어딜 잔액으로.</a:t>
            </a:r>
            <a:endParaRPr lang="en-US" sz="1000" dirty="0"/>
          </a:p>
        </p:txBody>
      </p:sp>
      <p:sp>
        <p:nvSpPr>
          <p:cNvPr id="26" name="Shape 20"/>
          <p:cNvSpPr/>
          <p:nvPr/>
        </p:nvSpPr>
        <p:spPr>
          <a:xfrm>
            <a:off x="685800" y="4937760"/>
            <a:ext cx="7863840" cy="1234440"/>
          </a:xfrm>
          <a:prstGeom prst="roundRect">
            <a:avLst>
              <a:gd name="adj" fmla="val 10370"/>
            </a:avLst>
          </a:prstGeom>
          <a:solidFill>
            <a:srgbClr val="EEF3FE"/>
          </a:solidFill>
          <a:ln w="12700">
            <a:solidFill>
              <a:srgbClr val="EEF3FE"/>
            </a:solidFill>
            <a:prstDash val="solid"/>
          </a:ln>
        </p:spPr>
      </p:sp>
      <p:sp>
        <p:nvSpPr>
          <p:cNvPr id="27" name="Text 21"/>
          <p:cNvSpPr txBox="1"/>
          <p:nvPr/>
        </p:nvSpPr>
        <p:spPr>
          <a:xfrm>
            <a:off x="960120" y="5074920"/>
            <a:ext cx="7315200" cy="274320"/>
          </a:xfrm>
          <a:prstGeom prst="rect">
            <a:avLst/>
          </a:prstGeom>
          <a:noFill/>
          <a:ln/>
        </p:spPr>
        <p:txBody>
          <a:bodyPr wrap="square" lIns="0" tIns="0" rIns="0" bIns="0" rtlCol="0" anchor="ctr"/>
          <a:lstStyle/>
          <a:p>
            <a:pPr indent="0" marL="0">
              <a:buNone/>
            </a:pPr>
            <a:r>
              <a:rPr lang="en-US" sz="1200" b="1" spc="-30" kern="0" dirty="0">
                <a:solidFill>
                  <a:srgbClr val="16181C"/>
                </a:solidFill>
                <a:latin typeface="Pretendard" pitchFamily="34" charset="0"/>
                <a:ea typeface="Pretendard" pitchFamily="34" charset="-122"/>
                <a:cs typeface="Pretendard" pitchFamily="34" charset="-120"/>
              </a:rPr>
              <a:t>원천징수는 법대로, 대신 계산은 유어딜이</a:t>
            </a:r>
            <a:endParaRPr lang="en-US" sz="1200" dirty="0"/>
          </a:p>
        </p:txBody>
      </p:sp>
      <p:sp>
        <p:nvSpPr>
          <p:cNvPr id="28" name="Text 22"/>
          <p:cNvSpPr txBox="1"/>
          <p:nvPr/>
        </p:nvSpPr>
        <p:spPr>
          <a:xfrm>
            <a:off x="960120" y="5367528"/>
            <a:ext cx="7315200" cy="731520"/>
          </a:xfrm>
          <a:prstGeom prst="rect">
            <a:avLst/>
          </a:prstGeom>
          <a:noFill/>
          <a:ln/>
        </p:spPr>
        <p:txBody>
          <a:bodyPr wrap="square" lIns="0" tIns="0" rIns="0" bIns="0" rtlCol="0" anchor="t"/>
          <a:lstStyle/>
          <a:p>
            <a:pPr indent="0" marL="0">
              <a:lnSpc>
                <a:spcPct val="140000"/>
              </a:lnSpc>
              <a:buNone/>
            </a:pPr>
            <a:r>
              <a:rPr lang="en-US" sz="1050" dirty="0">
                <a:solidFill>
                  <a:srgbClr val="6E6B68"/>
                </a:solidFill>
                <a:latin typeface="Pretendard" pitchFamily="34" charset="0"/>
                <a:ea typeface="Pretendard" pitchFamily="34" charset="-122"/>
                <a:cs typeface="Pretendard" pitchFamily="34" charset="-120"/>
              </a:rPr>
              <a:t>사업자는 사업소득 3.3%, 비사업자는 기타소득 8.8%를 떼고 보냅니다. 8.8%는 이듬해 5월 종합소득세 신고에서 정산되며 돌려받을 수 있습니다. 10만원에 못 미치면 다음 달로 이월되고 사라지지 않습니다. 계좌와 사업자번호는 내 정산 화면에서 직접 넣습니다.</a:t>
            </a:r>
            <a:endParaRPr lang="en-US" sz="1050" dirty="0"/>
          </a:p>
        </p:txBody>
      </p:sp>
      <p:pic>
        <p:nvPicPr>
          <p:cNvPr id="29" name="Image 4" descr="preencoded.png">    </p:cNvPr>
          <p:cNvPicPr>
            <a:picLocks noChangeAspect="1"/>
          </p:cNvPicPr>
          <p:nvPr/>
        </p:nvPicPr>
        <p:blipFill>
          <a:blip r:embed="rId5"/>
          <a:stretch>
            <a:fillRect/>
          </a:stretch>
        </p:blipFill>
        <p:spPr>
          <a:xfrm>
            <a:off x="8901093" y="717213"/>
            <a:ext cx="2813205" cy="5377855"/>
          </a:xfrm>
          <a:prstGeom prst="rect">
            <a:avLst/>
          </a:prstGeom>
        </p:spPr>
      </p:pic>
      <p:sp>
        <p:nvSpPr>
          <p:cNvPr id="30" name="Text 23"/>
          <p:cNvSpPr txBox="1"/>
          <p:nvPr/>
        </p:nvSpPr>
        <p:spPr>
          <a:xfrm>
            <a:off x="8778240" y="5998464"/>
            <a:ext cx="3058911"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내 정산 화면 (예시 데이터)</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67066" cy="237744"/>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11</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협찬은 한 번 받고 끝나지만, 이 구조는 남습니다.</a:t>
            </a:r>
            <a:endParaRPr lang="en-US" sz="2700" dirty="0"/>
          </a:p>
        </p:txBody>
      </p:sp>
      <p:sp>
        <p:nvSpPr>
          <p:cNvPr id="6" name="Shape 3"/>
          <p:cNvSpPr/>
          <p:nvPr/>
        </p:nvSpPr>
        <p:spPr>
          <a:xfrm>
            <a:off x="685800" y="1965960"/>
            <a:ext cx="10820095" cy="1417320"/>
          </a:xfrm>
          <a:prstGeom prst="roundRect">
            <a:avLst>
              <a:gd name="adj" fmla="val 9032"/>
            </a:avLst>
          </a:prstGeom>
          <a:solidFill>
            <a:srgbClr val="EEF3FE"/>
          </a:solidFill>
          <a:ln w="12700">
            <a:solidFill>
              <a:srgbClr val="EEF3FE"/>
            </a:solidFill>
            <a:prstDash val="solid"/>
          </a:ln>
        </p:spPr>
      </p:sp>
      <p:sp>
        <p:nvSpPr>
          <p:cNvPr id="7" name="Text 4"/>
          <p:cNvSpPr txBox="1"/>
          <p:nvPr/>
        </p:nvSpPr>
        <p:spPr>
          <a:xfrm>
            <a:off x="960120" y="2130552"/>
            <a:ext cx="10271455" cy="27432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정직하게 말씀드립니다</a:t>
            </a:r>
            <a:endParaRPr lang="en-US" sz="1250" dirty="0"/>
          </a:p>
        </p:txBody>
      </p:sp>
      <p:sp>
        <p:nvSpPr>
          <p:cNvPr id="8" name="Text 5"/>
          <p:cNvSpPr txBox="1"/>
          <p:nvPr/>
        </p:nvSpPr>
        <p:spPr>
          <a:xfrm>
            <a:off x="960120" y="2441448"/>
            <a:ext cx="10271455" cy="850392"/>
          </a:xfrm>
          <a:prstGeom prst="rect">
            <a:avLst/>
          </a:prstGeom>
          <a:noFill/>
          <a:ln/>
        </p:spPr>
        <p:txBody>
          <a:bodyPr wrap="square" lIns="0" tIns="0" rIns="0" bIns="0" rtlCol="0" anchor="t"/>
          <a:lstStyle/>
          <a:p>
            <a:pPr indent="0" marL="0">
              <a:lnSpc>
                <a:spcPct val="145000"/>
              </a:lnSpc>
              <a:buNone/>
            </a:pPr>
            <a:r>
              <a:rPr lang="en-US" sz="1050" dirty="0">
                <a:solidFill>
                  <a:srgbClr val="16181C"/>
                </a:solidFill>
                <a:latin typeface="Pretendard" pitchFamily="34" charset="0"/>
                <a:ea typeface="Pretendard" pitchFamily="34" charset="-122"/>
                <a:cs typeface="Pretendard" pitchFamily="34" charset="-120"/>
              </a:rPr>
              <a:t>유어딜은 초기 서비스입니다. 2026-09-13 기준 판매 중인 이용권 337건 가운데 실제 매장이 등록한 것은 1건이고, 매장이 제안한 딜로 소개비가 지급된 건은 아직 없습니다. 트래픽을 약속하는 대신 조건과 정산 방식을 숫자로 먼저 공개합니다. 비어 있는 지역과 카테고리는 먼저 들어온 채널이 가져갑니다.</a:t>
            </a:r>
            <a:endParaRPr lang="en-US" sz="1050" dirty="0"/>
          </a:p>
        </p:txBody>
      </p:sp>
      <p:sp>
        <p:nvSpPr>
          <p:cNvPr id="9" name="Shape 6"/>
          <p:cNvSpPr/>
          <p:nvPr/>
        </p:nvSpPr>
        <p:spPr>
          <a:xfrm>
            <a:off x="685800" y="3657600"/>
            <a:ext cx="3454298" cy="1161288"/>
          </a:xfrm>
          <a:prstGeom prst="roundRect">
            <a:avLst>
              <a:gd name="adj" fmla="val 1102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0" name="Text 7"/>
          <p:cNvSpPr txBox="1"/>
          <p:nvPr/>
        </p:nvSpPr>
        <p:spPr>
          <a:xfrm>
            <a:off x="923544" y="3803904"/>
            <a:ext cx="2978810"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팔로워가 적어도 되나요?</a:t>
            </a:r>
            <a:endParaRPr lang="en-US" sz="1150" dirty="0"/>
          </a:p>
        </p:txBody>
      </p:sp>
      <p:sp>
        <p:nvSpPr>
          <p:cNvPr id="11" name="Text 8"/>
          <p:cNvSpPr txBox="1"/>
          <p:nvPr/>
        </p:nvSpPr>
        <p:spPr>
          <a:xfrm>
            <a:off x="923544" y="4087368"/>
            <a:ext cx="2978810" cy="694944"/>
          </a:xfrm>
          <a:prstGeom prst="rect">
            <a:avLst/>
          </a:prstGeom>
          <a:noFill/>
          <a:ln/>
        </p:spPr>
        <p:txBody>
          <a:bodyPr wrap="square" lIns="0" tIns="0" rIns="0" bIns="0" rtlCol="0" anchor="t"/>
          <a:lstStyle/>
          <a:p>
            <a:pPr indent="0" marL="0">
              <a:lnSpc>
                <a:spcPct val="136000"/>
              </a:lnSpc>
              <a:buNone/>
            </a:pPr>
            <a:r>
              <a:rPr lang="en-US" sz="980" dirty="0">
                <a:solidFill>
                  <a:srgbClr val="6E6B68"/>
                </a:solidFill>
                <a:latin typeface="Pretendard" pitchFamily="34" charset="0"/>
                <a:ea typeface="Pretendard" pitchFamily="34" charset="-122"/>
                <a:cs typeface="Pretendard" pitchFamily="34" charset="-120"/>
              </a:rPr>
              <a:t>하한이 없습니다. 오히려 지역과 카테고리가 뚜렷한 채널이 동네 이용권과 잘 맞습니다.</a:t>
            </a:r>
            <a:endParaRPr lang="en-US" sz="980" dirty="0"/>
          </a:p>
        </p:txBody>
      </p:sp>
      <p:sp>
        <p:nvSpPr>
          <p:cNvPr id="12" name="Shape 9"/>
          <p:cNvSpPr/>
          <p:nvPr/>
        </p:nvSpPr>
        <p:spPr>
          <a:xfrm>
            <a:off x="4368698" y="3657600"/>
            <a:ext cx="3454298" cy="1161288"/>
          </a:xfrm>
          <a:prstGeom prst="roundRect">
            <a:avLst>
              <a:gd name="adj" fmla="val 1102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3" name="Text 10"/>
          <p:cNvSpPr txBox="1"/>
          <p:nvPr/>
        </p:nvSpPr>
        <p:spPr>
          <a:xfrm>
            <a:off x="4606442" y="3803904"/>
            <a:ext cx="2978810"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비용이 드나요?</a:t>
            </a:r>
            <a:endParaRPr lang="en-US" sz="1150" dirty="0"/>
          </a:p>
        </p:txBody>
      </p:sp>
      <p:sp>
        <p:nvSpPr>
          <p:cNvPr id="14" name="Text 11"/>
          <p:cNvSpPr txBox="1"/>
          <p:nvPr/>
        </p:nvSpPr>
        <p:spPr>
          <a:xfrm>
            <a:off x="4606442" y="4087368"/>
            <a:ext cx="2978810" cy="694944"/>
          </a:xfrm>
          <a:prstGeom prst="rect">
            <a:avLst/>
          </a:prstGeom>
          <a:noFill/>
          <a:ln/>
        </p:spPr>
        <p:txBody>
          <a:bodyPr wrap="square" lIns="0" tIns="0" rIns="0" bIns="0" rtlCol="0" anchor="t"/>
          <a:lstStyle/>
          <a:p>
            <a:pPr indent="0" marL="0">
              <a:lnSpc>
                <a:spcPct val="136000"/>
              </a:lnSpc>
              <a:buNone/>
            </a:pPr>
            <a:r>
              <a:rPr lang="en-US" sz="980" dirty="0">
                <a:solidFill>
                  <a:srgbClr val="6E6B68"/>
                </a:solidFill>
                <a:latin typeface="Pretendard" pitchFamily="34" charset="0"/>
                <a:ea typeface="Pretendard" pitchFamily="34" charset="-122"/>
                <a:cs typeface="Pretendard" pitchFamily="34" charset="-120"/>
              </a:rPr>
              <a:t>가입비도 이용료도 없습니다. 소개비는 매장이, 영입비는 유어딜이 냅니다.</a:t>
            </a:r>
            <a:endParaRPr lang="en-US" sz="980" dirty="0"/>
          </a:p>
        </p:txBody>
      </p:sp>
      <p:sp>
        <p:nvSpPr>
          <p:cNvPr id="15" name="Shape 12"/>
          <p:cNvSpPr/>
          <p:nvPr/>
        </p:nvSpPr>
        <p:spPr>
          <a:xfrm>
            <a:off x="8051597" y="3657600"/>
            <a:ext cx="3454298" cy="1161288"/>
          </a:xfrm>
          <a:prstGeom prst="roundRect">
            <a:avLst>
              <a:gd name="adj" fmla="val 1102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6" name="Text 13"/>
          <p:cNvSpPr txBox="1"/>
          <p:nvPr/>
        </p:nvSpPr>
        <p:spPr>
          <a:xfrm>
            <a:off x="8289341" y="3803904"/>
            <a:ext cx="2978810"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콘텐츠 형식이 정해져 있나요?</a:t>
            </a:r>
            <a:endParaRPr lang="en-US" sz="1150" dirty="0"/>
          </a:p>
        </p:txBody>
      </p:sp>
      <p:sp>
        <p:nvSpPr>
          <p:cNvPr id="17" name="Text 14"/>
          <p:cNvSpPr txBox="1"/>
          <p:nvPr/>
        </p:nvSpPr>
        <p:spPr>
          <a:xfrm>
            <a:off x="8289341" y="4087368"/>
            <a:ext cx="2978810" cy="694944"/>
          </a:xfrm>
          <a:prstGeom prst="rect">
            <a:avLst/>
          </a:prstGeom>
          <a:noFill/>
          <a:ln/>
        </p:spPr>
        <p:txBody>
          <a:bodyPr wrap="square" lIns="0" tIns="0" rIns="0" bIns="0" rtlCol="0" anchor="t"/>
          <a:lstStyle/>
          <a:p>
            <a:pPr indent="0" marL="0">
              <a:lnSpc>
                <a:spcPct val="136000"/>
              </a:lnSpc>
              <a:buNone/>
            </a:pPr>
            <a:r>
              <a:rPr lang="en-US" sz="980" dirty="0">
                <a:solidFill>
                  <a:srgbClr val="6E6B68"/>
                </a:solidFill>
                <a:latin typeface="Pretendard" pitchFamily="34" charset="0"/>
                <a:ea typeface="Pretendard" pitchFamily="34" charset="-122"/>
                <a:cs typeface="Pretendard" pitchFamily="34" charset="-120"/>
              </a:rPr>
              <a:t>자유입니다. 제안에 조건이 붙어 있으면 그 조건을 지켜야 그 소개비가 발효됩니다.</a:t>
            </a:r>
            <a:endParaRPr lang="en-US" sz="980" dirty="0"/>
          </a:p>
        </p:txBody>
      </p:sp>
      <p:sp>
        <p:nvSpPr>
          <p:cNvPr id="18" name="Shape 15"/>
          <p:cNvSpPr/>
          <p:nvPr/>
        </p:nvSpPr>
        <p:spPr>
          <a:xfrm>
            <a:off x="685800" y="4983480"/>
            <a:ext cx="3454298" cy="1161288"/>
          </a:xfrm>
          <a:prstGeom prst="roundRect">
            <a:avLst>
              <a:gd name="adj" fmla="val 1102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19" name="Text 16"/>
          <p:cNvSpPr txBox="1"/>
          <p:nvPr/>
        </p:nvSpPr>
        <p:spPr>
          <a:xfrm>
            <a:off x="923544" y="5129784"/>
            <a:ext cx="2978810"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소개비가 안 붙는 이용권도 있나요?</a:t>
            </a:r>
            <a:endParaRPr lang="en-US" sz="1150" dirty="0"/>
          </a:p>
        </p:txBody>
      </p:sp>
      <p:sp>
        <p:nvSpPr>
          <p:cNvPr id="20" name="Text 17"/>
          <p:cNvSpPr txBox="1"/>
          <p:nvPr/>
        </p:nvSpPr>
        <p:spPr>
          <a:xfrm>
            <a:off x="923544" y="5413248"/>
            <a:ext cx="2978810" cy="694944"/>
          </a:xfrm>
          <a:prstGeom prst="rect">
            <a:avLst/>
          </a:prstGeom>
          <a:noFill/>
          <a:ln/>
        </p:spPr>
        <p:txBody>
          <a:bodyPr wrap="square" lIns="0" tIns="0" rIns="0" bIns="0" rtlCol="0" anchor="t"/>
          <a:lstStyle/>
          <a:p>
            <a:pPr indent="0" marL="0">
              <a:lnSpc>
                <a:spcPct val="136000"/>
              </a:lnSpc>
              <a:buNone/>
            </a:pPr>
            <a:r>
              <a:rPr lang="en-US" sz="980" dirty="0">
                <a:solidFill>
                  <a:srgbClr val="6E6B68"/>
                </a:solidFill>
                <a:latin typeface="Pretendard" pitchFamily="34" charset="0"/>
                <a:ea typeface="Pretendard" pitchFamily="34" charset="-122"/>
                <a:cs typeface="Pretendard" pitchFamily="34" charset="-120"/>
              </a:rPr>
              <a:t>있습니다. 매장과 맺은 딜이 없는 이용권은 담아 둘 수는 있지만 소개비가 0 입니다.</a:t>
            </a:r>
            <a:endParaRPr lang="en-US" sz="980" dirty="0"/>
          </a:p>
        </p:txBody>
      </p:sp>
      <p:sp>
        <p:nvSpPr>
          <p:cNvPr id="21" name="Shape 18"/>
          <p:cNvSpPr/>
          <p:nvPr/>
        </p:nvSpPr>
        <p:spPr>
          <a:xfrm>
            <a:off x="4368698" y="4983480"/>
            <a:ext cx="3454298" cy="1161288"/>
          </a:xfrm>
          <a:prstGeom prst="roundRect">
            <a:avLst>
              <a:gd name="adj" fmla="val 1102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22" name="Text 19"/>
          <p:cNvSpPr txBox="1"/>
          <p:nvPr/>
        </p:nvSpPr>
        <p:spPr>
          <a:xfrm>
            <a:off x="4606442" y="5129784"/>
            <a:ext cx="2978810"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광고 표시를 해야 하나요?</a:t>
            </a:r>
            <a:endParaRPr lang="en-US" sz="1150" dirty="0"/>
          </a:p>
        </p:txBody>
      </p:sp>
      <p:sp>
        <p:nvSpPr>
          <p:cNvPr id="23" name="Text 20"/>
          <p:cNvSpPr txBox="1"/>
          <p:nvPr/>
        </p:nvSpPr>
        <p:spPr>
          <a:xfrm>
            <a:off x="4606442" y="5413248"/>
            <a:ext cx="2978810" cy="694944"/>
          </a:xfrm>
          <a:prstGeom prst="rect">
            <a:avLst/>
          </a:prstGeom>
          <a:noFill/>
          <a:ln/>
        </p:spPr>
        <p:txBody>
          <a:bodyPr wrap="square" lIns="0" tIns="0" rIns="0" bIns="0" rtlCol="0" anchor="t"/>
          <a:lstStyle/>
          <a:p>
            <a:pPr indent="0" marL="0">
              <a:lnSpc>
                <a:spcPct val="136000"/>
              </a:lnSpc>
              <a:buNone/>
            </a:pPr>
            <a:r>
              <a:rPr lang="en-US" sz="980" dirty="0">
                <a:solidFill>
                  <a:srgbClr val="6E6B68"/>
                </a:solidFill>
                <a:latin typeface="Pretendard" pitchFamily="34" charset="0"/>
                <a:ea typeface="Pretendard" pitchFamily="34" charset="-122"/>
                <a:cs typeface="Pretendard" pitchFamily="34" charset="-120"/>
              </a:rPr>
              <a:t>네. 소개비를 받는 콘텐츠에는 "광고" 처럼 경제적 대가를 받았다는 표시가 법으로 필요합니다. 표시 없이 올린 콘텐츠의 책임은 유어딜이 대신 질 수 없습니다.</a:t>
            </a:r>
            <a:endParaRPr lang="en-US" sz="980" dirty="0"/>
          </a:p>
        </p:txBody>
      </p:sp>
      <p:sp>
        <p:nvSpPr>
          <p:cNvPr id="24" name="Shape 21"/>
          <p:cNvSpPr/>
          <p:nvPr/>
        </p:nvSpPr>
        <p:spPr>
          <a:xfrm>
            <a:off x="8051597" y="4983480"/>
            <a:ext cx="3454298" cy="1161288"/>
          </a:xfrm>
          <a:prstGeom prst="roundRect">
            <a:avLst>
              <a:gd name="adj" fmla="val 11024"/>
            </a:avLst>
          </a:prstGeom>
          <a:solidFill>
            <a:srgbClr val="FFFFFF"/>
          </a:solidFill>
          <a:ln w="12700">
            <a:solidFill>
              <a:srgbClr val="FFFFFF"/>
            </a:solidFill>
            <a:prstDash val="solid"/>
          </a:ln>
          <a:effectLst>
            <a:outerShdw sx="100000" sy="100000" kx="0" ky="0" algn="bl" rotWithShape="0" blurRad="101600" dist="25400" dir="5400000">
              <a:srgbClr val="1A2C42">
                <a:alpha val="7000"/>
              </a:srgbClr>
            </a:outerShdw>
          </a:effectLst>
        </p:spPr>
      </p:sp>
      <p:sp>
        <p:nvSpPr>
          <p:cNvPr id="25" name="Text 22"/>
          <p:cNvSpPr txBox="1"/>
          <p:nvPr/>
        </p:nvSpPr>
        <p:spPr>
          <a:xfrm>
            <a:off x="8289341" y="5129784"/>
            <a:ext cx="2978810" cy="256032"/>
          </a:xfrm>
          <a:prstGeom prst="rect">
            <a:avLst/>
          </a:prstGeom>
          <a:noFill/>
          <a:ln/>
        </p:spPr>
        <p:txBody>
          <a:bodyPr wrap="square" lIns="0" tIns="0" rIns="0" bIns="0" rtlCol="0" anchor="ctr"/>
          <a:lstStyle/>
          <a:p>
            <a:pPr indent="0" marL="0">
              <a:buNone/>
            </a:pPr>
            <a:r>
              <a:rPr lang="en-US" sz="1150" b="1" spc="-30" kern="0" dirty="0">
                <a:solidFill>
                  <a:srgbClr val="16181C"/>
                </a:solidFill>
                <a:latin typeface="Pretendard" pitchFamily="34" charset="0"/>
                <a:ea typeface="Pretendard" pitchFamily="34" charset="-122"/>
                <a:cs typeface="Pretendard" pitchFamily="34" charset="-120"/>
              </a:rPr>
              <a:t>제안은 어떻게 오나요?</a:t>
            </a:r>
            <a:endParaRPr lang="en-US" sz="1150" dirty="0"/>
          </a:p>
        </p:txBody>
      </p:sp>
      <p:sp>
        <p:nvSpPr>
          <p:cNvPr id="26" name="Text 23"/>
          <p:cNvSpPr txBox="1"/>
          <p:nvPr/>
        </p:nvSpPr>
        <p:spPr>
          <a:xfrm>
            <a:off x="8289341" y="5413248"/>
            <a:ext cx="2978810" cy="694944"/>
          </a:xfrm>
          <a:prstGeom prst="rect">
            <a:avLst/>
          </a:prstGeom>
          <a:noFill/>
          <a:ln/>
        </p:spPr>
        <p:txBody>
          <a:bodyPr wrap="square" lIns="0" tIns="0" rIns="0" bIns="0" rtlCol="0" anchor="t"/>
          <a:lstStyle/>
          <a:p>
            <a:pPr indent="0" marL="0">
              <a:lnSpc>
                <a:spcPct val="136000"/>
              </a:lnSpc>
              <a:buNone/>
            </a:pPr>
            <a:r>
              <a:rPr lang="en-US" sz="980" dirty="0">
                <a:solidFill>
                  <a:srgbClr val="6E6B68"/>
                </a:solidFill>
                <a:latin typeface="Pretendard" pitchFamily="34" charset="0"/>
                <a:ea typeface="Pretendard" pitchFamily="34" charset="-122"/>
                <a:cs typeface="Pretendard" pitchFamily="34" charset="-120"/>
              </a:rPr>
              <a:t>신청서는 유어딜 담당자가 보고, 매장은 내가 공개해 둔 소개자 프로필을 보고 직접 보냅니다. 둘 다 해 두는 것이 빠릅니다.</a:t>
            </a:r>
            <a:endParaRPr lang="en-US" sz="9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7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457200"/>
            <a:ext cx="867066" cy="237744"/>
          </a:xfrm>
          <a:prstGeom prst="rect">
            <a:avLst/>
          </a:prstGeom>
        </p:spPr>
      </p:pic>
      <p:sp>
        <p:nvSpPr>
          <p:cNvPr id="3" name="Text 0"/>
          <p:cNvSpPr txBox="1"/>
          <p:nvPr/>
        </p:nvSpPr>
        <p:spPr>
          <a:xfrm>
            <a:off x="685800" y="6291072"/>
            <a:ext cx="5486400" cy="228600"/>
          </a:xfrm>
          <a:prstGeom prst="rect">
            <a:avLst/>
          </a:prstGeom>
          <a:noFill/>
          <a:ln/>
        </p:spPr>
        <p:txBody>
          <a:bodyPr wrap="square" lIns="0" tIns="0" rIns="0" bIns="0" rtlCol="0" anchor="ctr"/>
          <a:lstStyle/>
          <a:p>
            <a:pPr indent="0" marL="0">
              <a:buNone/>
            </a:pPr>
            <a:r>
              <a:rPr lang="en-US" sz="900" spc="50" kern="0" dirty="0">
                <a:solidFill>
                  <a:srgbClr val="8A8580"/>
                </a:solidFill>
                <a:latin typeface="Pretendard" pitchFamily="34" charset="0"/>
                <a:ea typeface="Pretendard" pitchFamily="34" charset="-122"/>
                <a:cs typeface="Pretendard" pitchFamily="34" charset="-120"/>
              </a:rPr>
              <a:t>유어딜 인플루언서 제휴 소개</a:t>
            </a:r>
            <a:endParaRPr lang="en-US" sz="900" dirty="0"/>
          </a:p>
        </p:txBody>
      </p:sp>
      <p:sp>
        <p:nvSpPr>
          <p:cNvPr id="4" name="Text 1"/>
          <p:cNvSpPr txBox="1"/>
          <p:nvPr/>
        </p:nvSpPr>
        <p:spPr>
          <a:xfrm>
            <a:off x="10774375" y="6291072"/>
            <a:ext cx="731520" cy="228600"/>
          </a:xfrm>
          <a:prstGeom prst="rect">
            <a:avLst/>
          </a:prstGeom>
          <a:noFill/>
          <a:ln/>
        </p:spPr>
        <p:txBody>
          <a:bodyPr wrap="square" lIns="0" tIns="0" rIns="0" bIns="0" rtlCol="0" anchor="ctr"/>
          <a:lstStyle/>
          <a:p>
            <a:pPr algn="r" indent="0" marL="0">
              <a:buNone/>
            </a:pPr>
            <a:r>
              <a:rPr lang="en-US" sz="950" b="1" dirty="0">
                <a:solidFill>
                  <a:srgbClr val="16181C"/>
                </a:solidFill>
                <a:latin typeface="Pretendard" pitchFamily="34" charset="0"/>
                <a:ea typeface="Pretendard" pitchFamily="34" charset="-122"/>
                <a:cs typeface="Pretendard" pitchFamily="34" charset="-120"/>
              </a:rPr>
              <a:t>12</a:t>
            </a:r>
            <a:endParaRPr lang="en-US" sz="950" dirty="0"/>
          </a:p>
        </p:txBody>
      </p:sp>
      <p:sp>
        <p:nvSpPr>
          <p:cNvPr id="5" name="Text 2"/>
          <p:cNvSpPr txBox="1"/>
          <p:nvPr/>
        </p:nvSpPr>
        <p:spPr>
          <a:xfrm>
            <a:off x="685800" y="1051560"/>
            <a:ext cx="10820095" cy="822960"/>
          </a:xfrm>
          <a:prstGeom prst="rect">
            <a:avLst/>
          </a:prstGeom>
          <a:noFill/>
          <a:ln/>
        </p:spPr>
        <p:txBody>
          <a:bodyPr wrap="square" lIns="0" tIns="0" rIns="0" bIns="0" rtlCol="0" anchor="t"/>
          <a:lstStyle/>
          <a:p>
            <a:pPr indent="0" marL="0">
              <a:lnSpc>
                <a:spcPct val="115000"/>
              </a:lnSpc>
              <a:buNone/>
            </a:pPr>
            <a:r>
              <a:rPr lang="en-US" sz="2700" b="1" spc="-60" kern="0" dirty="0">
                <a:solidFill>
                  <a:srgbClr val="16181C"/>
                </a:solidFill>
                <a:latin typeface="Pretendard" pitchFamily="34" charset="0"/>
                <a:ea typeface="Pretendard" pitchFamily="34" charset="-122"/>
                <a:cs typeface="Pretendard" pitchFamily="34" charset="-120"/>
              </a:rPr>
              <a:t>지금 하실 일은 신청서를 남기는 것, 그것뿐입니다.</a:t>
            </a:r>
            <a:endParaRPr lang="en-US" sz="2700" dirty="0"/>
          </a:p>
        </p:txBody>
      </p:sp>
      <p:sp>
        <p:nvSpPr>
          <p:cNvPr id="6" name="Text 3"/>
          <p:cNvSpPr txBox="1"/>
          <p:nvPr/>
        </p:nvSpPr>
        <p:spPr>
          <a:xfrm>
            <a:off x="685800" y="1828800"/>
            <a:ext cx="6949440" cy="365760"/>
          </a:xfrm>
          <a:prstGeom prst="rect">
            <a:avLst/>
          </a:prstGeom>
          <a:noFill/>
          <a:ln/>
        </p:spPr>
        <p:txBody>
          <a:bodyPr wrap="square" lIns="0" tIns="0" rIns="0" bIns="0" rtlCol="0" anchor="t"/>
          <a:lstStyle/>
          <a:p>
            <a:pPr indent="0" marL="0">
              <a:lnSpc>
                <a:spcPct val="150000"/>
              </a:lnSpc>
              <a:buNone/>
            </a:pPr>
            <a:r>
              <a:rPr lang="en-US" sz="1250" dirty="0">
                <a:solidFill>
                  <a:srgbClr val="6E6B68"/>
                </a:solidFill>
                <a:latin typeface="Pretendard" pitchFamily="34" charset="0"/>
                <a:ea typeface="Pretendard" pitchFamily="34" charset="-122"/>
                <a:cs typeface="Pretendard" pitchFamily="34" charset="-120"/>
              </a:rPr>
              <a:t>수락하기 전까지 아무 의무도 생기지 않습니다. 조건을 보고 마음에 들지 않으면 수락하지 않으면 됩니다.</a:t>
            </a:r>
            <a:endParaRPr lang="en-US" sz="1250" dirty="0"/>
          </a:p>
        </p:txBody>
      </p:sp>
      <p:sp>
        <p:nvSpPr>
          <p:cNvPr id="7" name="Shape 4"/>
          <p:cNvSpPr/>
          <p:nvPr/>
        </p:nvSpPr>
        <p:spPr>
          <a:xfrm>
            <a:off x="685800" y="2514600"/>
            <a:ext cx="329184" cy="329184"/>
          </a:xfrm>
          <a:prstGeom prst="ellipse">
            <a:avLst/>
          </a:prstGeom>
          <a:solidFill>
            <a:srgbClr val="1C69EF"/>
          </a:solidFill>
          <a:ln w="15875">
            <a:solidFill>
              <a:srgbClr val="1C69EF"/>
            </a:solidFill>
            <a:prstDash val="solid"/>
          </a:ln>
        </p:spPr>
      </p:sp>
      <p:sp>
        <p:nvSpPr>
          <p:cNvPr id="8" name="Text 5"/>
          <p:cNvSpPr txBox="1"/>
          <p:nvPr/>
        </p:nvSpPr>
        <p:spPr>
          <a:xfrm>
            <a:off x="685800" y="2514600"/>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1</a:t>
            </a:r>
            <a:endParaRPr lang="en-US" sz="1150" dirty="0"/>
          </a:p>
        </p:txBody>
      </p:sp>
      <p:sp>
        <p:nvSpPr>
          <p:cNvPr id="9" name="Text 6"/>
          <p:cNvSpPr txBox="1"/>
          <p:nvPr/>
        </p:nvSpPr>
        <p:spPr>
          <a:xfrm>
            <a:off x="1143000" y="2496312"/>
            <a:ext cx="2011680" cy="36576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신청 (3분)</a:t>
            </a:r>
            <a:endParaRPr lang="en-US" sz="1250" dirty="0"/>
          </a:p>
        </p:txBody>
      </p:sp>
      <p:sp>
        <p:nvSpPr>
          <p:cNvPr id="10" name="Text 7"/>
          <p:cNvSpPr txBox="1"/>
          <p:nvPr/>
        </p:nvSpPr>
        <p:spPr>
          <a:xfrm>
            <a:off x="3154680" y="2496312"/>
            <a:ext cx="4480560" cy="365760"/>
          </a:xfrm>
          <a:prstGeom prst="rect">
            <a:avLst/>
          </a:prstGeom>
          <a:noFill/>
          <a:ln/>
        </p:spPr>
        <p:txBody>
          <a:bodyPr wrap="square" lIns="0" tIns="0" rIns="0" bIns="0" rtlCol="0" anchor="ctr"/>
          <a:lstStyle/>
          <a:p>
            <a:pPr indent="0" marL="0">
              <a:buNone/>
            </a:pPr>
            <a:r>
              <a:rPr lang="en-US" sz="1050" dirty="0">
                <a:solidFill>
                  <a:srgbClr val="6E6B68"/>
                </a:solidFill>
                <a:latin typeface="Pretendard" pitchFamily="34" charset="0"/>
                <a:ea typeface="Pretendard" pitchFamily="34" charset="-122"/>
                <a:cs typeface="Pretendard" pitchFamily="34" charset="-120"/>
              </a:rPr>
              <a:t>urdeal.kr/creators/apply 에 신청하고, 로그인 뒤 내 정산 화면에서 소개자 프로필을 공개합니다.</a:t>
            </a:r>
            <a:endParaRPr lang="en-US" sz="1050" dirty="0"/>
          </a:p>
        </p:txBody>
      </p:sp>
      <p:sp>
        <p:nvSpPr>
          <p:cNvPr id="11" name="Shape 8"/>
          <p:cNvSpPr/>
          <p:nvPr/>
        </p:nvSpPr>
        <p:spPr>
          <a:xfrm>
            <a:off x="685800" y="3172968"/>
            <a:ext cx="329184" cy="329184"/>
          </a:xfrm>
          <a:prstGeom prst="ellipse">
            <a:avLst/>
          </a:prstGeom>
          <a:solidFill>
            <a:srgbClr val="1C69EF"/>
          </a:solidFill>
          <a:ln w="15875">
            <a:solidFill>
              <a:srgbClr val="1C69EF"/>
            </a:solidFill>
            <a:prstDash val="solid"/>
          </a:ln>
        </p:spPr>
      </p:sp>
      <p:sp>
        <p:nvSpPr>
          <p:cNvPr id="12" name="Text 9"/>
          <p:cNvSpPr txBox="1"/>
          <p:nvPr/>
        </p:nvSpPr>
        <p:spPr>
          <a:xfrm>
            <a:off x="685800" y="3172968"/>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3" name="Text 10"/>
          <p:cNvSpPr txBox="1"/>
          <p:nvPr/>
        </p:nvSpPr>
        <p:spPr>
          <a:xfrm>
            <a:off x="1143000" y="3154680"/>
            <a:ext cx="2011680" cy="36576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제안 수신</a:t>
            </a:r>
            <a:endParaRPr lang="en-US" sz="1250" dirty="0"/>
          </a:p>
        </p:txBody>
      </p:sp>
      <p:sp>
        <p:nvSpPr>
          <p:cNvPr id="14" name="Text 11"/>
          <p:cNvSpPr txBox="1"/>
          <p:nvPr/>
        </p:nvSpPr>
        <p:spPr>
          <a:xfrm>
            <a:off x="3154680" y="3154680"/>
            <a:ext cx="4480560" cy="365760"/>
          </a:xfrm>
          <a:prstGeom prst="rect">
            <a:avLst/>
          </a:prstGeom>
          <a:noFill/>
          <a:ln/>
        </p:spPr>
        <p:txBody>
          <a:bodyPr wrap="square" lIns="0" tIns="0" rIns="0" bIns="0" rtlCol="0" anchor="ctr"/>
          <a:lstStyle/>
          <a:p>
            <a:pPr indent="0" marL="0">
              <a:buNone/>
            </a:pPr>
            <a:r>
              <a:rPr lang="en-US" sz="1050" dirty="0">
                <a:solidFill>
                  <a:srgbClr val="6E6B68"/>
                </a:solidFill>
                <a:latin typeface="Pretendard" pitchFamily="34" charset="0"/>
                <a:ea typeface="Pretendard" pitchFamily="34" charset="-122"/>
                <a:cs typeface="Pretendard" pitchFamily="34" charset="-120"/>
              </a:rPr>
              <a:t>조건이 맞는 매장의 제안을 받습니다. 수락 여부는 매번 내가 정합니다.</a:t>
            </a:r>
            <a:endParaRPr lang="en-US" sz="1050" dirty="0"/>
          </a:p>
        </p:txBody>
      </p:sp>
      <p:sp>
        <p:nvSpPr>
          <p:cNvPr id="15" name="Shape 12"/>
          <p:cNvSpPr/>
          <p:nvPr/>
        </p:nvSpPr>
        <p:spPr>
          <a:xfrm>
            <a:off x="685800" y="3831336"/>
            <a:ext cx="329184" cy="329184"/>
          </a:xfrm>
          <a:prstGeom prst="ellipse">
            <a:avLst/>
          </a:prstGeom>
          <a:solidFill>
            <a:srgbClr val="1C69EF"/>
          </a:solidFill>
          <a:ln w="15875">
            <a:solidFill>
              <a:srgbClr val="1C69EF"/>
            </a:solidFill>
            <a:prstDash val="solid"/>
          </a:ln>
        </p:spPr>
      </p:sp>
      <p:sp>
        <p:nvSpPr>
          <p:cNvPr id="16" name="Text 13"/>
          <p:cNvSpPr txBox="1"/>
          <p:nvPr/>
        </p:nvSpPr>
        <p:spPr>
          <a:xfrm>
            <a:off x="685800" y="3831336"/>
            <a:ext cx="329184"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17" name="Text 14"/>
          <p:cNvSpPr txBox="1"/>
          <p:nvPr/>
        </p:nvSpPr>
        <p:spPr>
          <a:xfrm>
            <a:off x="1143000" y="3813048"/>
            <a:ext cx="2011680" cy="365760"/>
          </a:xfrm>
          <a:prstGeom prst="rect">
            <a:avLst/>
          </a:prstGeom>
          <a:noFill/>
          <a:ln/>
        </p:spPr>
        <p:txBody>
          <a:bodyPr wrap="square" lIns="0" tIns="0" rIns="0" bIns="0" rtlCol="0" anchor="ctr"/>
          <a:lstStyle/>
          <a:p>
            <a:pPr indent="0" marL="0">
              <a:buNone/>
            </a:pPr>
            <a:r>
              <a:rPr lang="en-US" sz="1250" b="1" spc="-30" kern="0" dirty="0">
                <a:solidFill>
                  <a:srgbClr val="16181C"/>
                </a:solidFill>
                <a:latin typeface="Pretendard" pitchFamily="34" charset="0"/>
                <a:ea typeface="Pretendard" pitchFamily="34" charset="-122"/>
                <a:cs typeface="Pretendard" pitchFamily="34" charset="-120"/>
              </a:rPr>
              <a:t>공유와 정산</a:t>
            </a:r>
            <a:endParaRPr lang="en-US" sz="1250" dirty="0"/>
          </a:p>
        </p:txBody>
      </p:sp>
      <p:sp>
        <p:nvSpPr>
          <p:cNvPr id="18" name="Text 15"/>
          <p:cNvSpPr txBox="1"/>
          <p:nvPr/>
        </p:nvSpPr>
        <p:spPr>
          <a:xfrm>
            <a:off x="3154680" y="3813048"/>
            <a:ext cx="4480560" cy="365760"/>
          </a:xfrm>
          <a:prstGeom prst="rect">
            <a:avLst/>
          </a:prstGeom>
          <a:noFill/>
          <a:ln/>
        </p:spPr>
        <p:txBody>
          <a:bodyPr wrap="square" lIns="0" tIns="0" rIns="0" bIns="0" rtlCol="0" anchor="ctr"/>
          <a:lstStyle/>
          <a:p>
            <a:pPr indent="0" marL="0">
              <a:buNone/>
            </a:pPr>
            <a:r>
              <a:rPr lang="en-US" sz="1050" dirty="0">
                <a:solidFill>
                  <a:srgbClr val="6E6B68"/>
                </a:solidFill>
                <a:latin typeface="Pretendard" pitchFamily="34" charset="0"/>
                <a:ea typeface="Pretendard" pitchFamily="34" charset="-122"/>
                <a:cs typeface="Pretendard" pitchFamily="34" charset="-120"/>
              </a:rPr>
              <a:t>링크를 걸고, 성과와 정산은 내 정산 화면에서 확인합니다.</a:t>
            </a:r>
            <a:endParaRPr lang="en-US" sz="1050" dirty="0"/>
          </a:p>
        </p:txBody>
      </p:sp>
      <p:sp>
        <p:nvSpPr>
          <p:cNvPr id="19" name="Shape 16"/>
          <p:cNvSpPr/>
          <p:nvPr/>
        </p:nvSpPr>
        <p:spPr>
          <a:xfrm>
            <a:off x="685800" y="4617720"/>
            <a:ext cx="4206240" cy="1600200"/>
          </a:xfrm>
          <a:prstGeom prst="roundRect">
            <a:avLst>
              <a:gd name="adj" fmla="val 8000"/>
            </a:avLst>
          </a:prstGeom>
          <a:solidFill>
            <a:srgbClr val="16181C"/>
          </a:solidFill>
          <a:ln w="12700">
            <a:solidFill>
              <a:srgbClr val="16181C"/>
            </a:solidFill>
            <a:prstDash val="solid"/>
          </a:ln>
        </p:spPr>
      </p:sp>
      <p:pic>
        <p:nvPicPr>
          <p:cNvPr id="20" name="Image 1" descr="preencoded.png">    </p:cNvPr>
          <p:cNvPicPr>
            <a:picLocks noChangeAspect="1"/>
          </p:cNvPicPr>
          <p:nvPr/>
        </p:nvPicPr>
        <p:blipFill>
          <a:blip r:embed="rId2"/>
          <a:stretch>
            <a:fillRect/>
          </a:stretch>
        </p:blipFill>
        <p:spPr>
          <a:xfrm>
            <a:off x="960120" y="4873752"/>
            <a:ext cx="201168" cy="201168"/>
          </a:xfrm>
          <a:prstGeom prst="rect">
            <a:avLst/>
          </a:prstGeom>
        </p:spPr>
      </p:pic>
      <p:sp>
        <p:nvSpPr>
          <p:cNvPr id="21" name="Text 17"/>
          <p:cNvSpPr txBox="1"/>
          <p:nvPr/>
        </p:nvSpPr>
        <p:spPr>
          <a:xfrm>
            <a:off x="1280160" y="4818888"/>
            <a:ext cx="3383280" cy="274320"/>
          </a:xfrm>
          <a:prstGeom prst="rect">
            <a:avLst/>
          </a:prstGeom>
          <a:noFill/>
          <a:ln/>
        </p:spPr>
        <p:txBody>
          <a:bodyPr wrap="square" lIns="0" tIns="0" rIns="0" bIns="0" rtlCol="0" anchor="ctr"/>
          <a:lstStyle/>
          <a:p>
            <a:pPr indent="0" marL="0">
              <a:buNone/>
            </a:pPr>
            <a:r>
              <a:rPr lang="en-US" sz="1200" b="1" spc="-30" kern="0" dirty="0">
                <a:solidFill>
                  <a:srgbClr val="F8F7FC"/>
                </a:solidFill>
                <a:latin typeface="Pretendard" pitchFamily="34" charset="0"/>
                <a:ea typeface="Pretendard" pitchFamily="34" charset="-122"/>
                <a:cs typeface="Pretendard" pitchFamily="34" charset="-120"/>
              </a:rPr>
              <a:t>urdeal.kr/creators/apply</a:t>
            </a:r>
            <a:endParaRPr lang="en-US" sz="1200" dirty="0"/>
          </a:p>
        </p:txBody>
      </p:sp>
      <p:sp>
        <p:nvSpPr>
          <p:cNvPr id="22" name="Text 18"/>
          <p:cNvSpPr txBox="1"/>
          <p:nvPr/>
        </p:nvSpPr>
        <p:spPr>
          <a:xfrm>
            <a:off x="1280160" y="5065776"/>
            <a:ext cx="3383280" cy="182880"/>
          </a:xfrm>
          <a:prstGeom prst="rect">
            <a:avLst/>
          </a:prstGeom>
          <a:noFill/>
          <a:ln/>
        </p:spPr>
        <p:txBody>
          <a:bodyPr wrap="square" lIns="0" tIns="0" rIns="0" bIns="0" rtlCol="0" anchor="ctr"/>
          <a:lstStyle/>
          <a:p>
            <a:pPr indent="0" marL="0">
              <a:buNone/>
            </a:pPr>
            <a:r>
              <a:rPr lang="en-US" sz="850" dirty="0">
                <a:solidFill>
                  <a:srgbClr val="A9A6A2"/>
                </a:solidFill>
                <a:latin typeface="Pretendard" pitchFamily="34" charset="0"/>
                <a:ea typeface="Pretendard" pitchFamily="34" charset="-122"/>
                <a:cs typeface="Pretendard" pitchFamily="34" charset="-120"/>
              </a:rPr>
              <a:t>신청</a:t>
            </a:r>
            <a:endParaRPr lang="en-US" sz="850" dirty="0"/>
          </a:p>
        </p:txBody>
      </p:sp>
      <p:pic>
        <p:nvPicPr>
          <p:cNvPr id="23" name="Image 2" descr="preencoded.png">    </p:cNvPr>
          <p:cNvPicPr>
            <a:picLocks noChangeAspect="1"/>
          </p:cNvPicPr>
          <p:nvPr/>
        </p:nvPicPr>
        <p:blipFill>
          <a:blip r:embed="rId3"/>
          <a:stretch>
            <a:fillRect/>
          </a:stretch>
        </p:blipFill>
        <p:spPr>
          <a:xfrm>
            <a:off x="960120" y="5330952"/>
            <a:ext cx="201168" cy="201168"/>
          </a:xfrm>
          <a:prstGeom prst="rect">
            <a:avLst/>
          </a:prstGeom>
        </p:spPr>
      </p:pic>
      <p:sp>
        <p:nvSpPr>
          <p:cNvPr id="24" name="Text 19"/>
          <p:cNvSpPr txBox="1"/>
          <p:nvPr/>
        </p:nvSpPr>
        <p:spPr>
          <a:xfrm>
            <a:off x="1280160" y="5276088"/>
            <a:ext cx="3383280" cy="274320"/>
          </a:xfrm>
          <a:prstGeom prst="rect">
            <a:avLst/>
          </a:prstGeom>
          <a:noFill/>
          <a:ln/>
        </p:spPr>
        <p:txBody>
          <a:bodyPr wrap="square" lIns="0" tIns="0" rIns="0" bIns="0" rtlCol="0" anchor="ctr"/>
          <a:lstStyle/>
          <a:p>
            <a:pPr indent="0" marL="0">
              <a:buNone/>
            </a:pPr>
            <a:r>
              <a:rPr lang="en-US" sz="1200" b="1" spc="-30" kern="0" dirty="0">
                <a:solidFill>
                  <a:srgbClr val="F8F7FC"/>
                </a:solidFill>
                <a:latin typeface="Pretendard" pitchFamily="34" charset="0"/>
                <a:ea typeface="Pretendard" pitchFamily="34" charset="-122"/>
                <a:cs typeface="Pretendard" pitchFamily="34" charset="-120"/>
              </a:rPr>
              <a:t>pf.kakao.com/_AITdn</a:t>
            </a:r>
            <a:endParaRPr lang="en-US" sz="1200" dirty="0"/>
          </a:p>
        </p:txBody>
      </p:sp>
      <p:sp>
        <p:nvSpPr>
          <p:cNvPr id="25" name="Text 20"/>
          <p:cNvSpPr txBox="1"/>
          <p:nvPr/>
        </p:nvSpPr>
        <p:spPr>
          <a:xfrm>
            <a:off x="1280160" y="5522976"/>
            <a:ext cx="3383280" cy="182880"/>
          </a:xfrm>
          <a:prstGeom prst="rect">
            <a:avLst/>
          </a:prstGeom>
          <a:noFill/>
          <a:ln/>
        </p:spPr>
        <p:txBody>
          <a:bodyPr wrap="square" lIns="0" tIns="0" rIns="0" bIns="0" rtlCol="0" anchor="ctr"/>
          <a:lstStyle/>
          <a:p>
            <a:pPr indent="0" marL="0">
              <a:buNone/>
            </a:pPr>
            <a:r>
              <a:rPr lang="en-US" sz="850" dirty="0">
                <a:solidFill>
                  <a:srgbClr val="A9A6A2"/>
                </a:solidFill>
                <a:latin typeface="Pretendard" pitchFamily="34" charset="0"/>
                <a:ea typeface="Pretendard" pitchFamily="34" charset="-122"/>
                <a:cs typeface="Pretendard" pitchFamily="34" charset="-120"/>
              </a:rPr>
              <a:t>카카오톡 채널 상담</a:t>
            </a:r>
            <a:endParaRPr lang="en-US" sz="850" dirty="0"/>
          </a:p>
        </p:txBody>
      </p:sp>
      <p:pic>
        <p:nvPicPr>
          <p:cNvPr id="26" name="Image 3" descr="preencoded.png">    </p:cNvPr>
          <p:cNvPicPr>
            <a:picLocks noChangeAspect="1"/>
          </p:cNvPicPr>
          <p:nvPr/>
        </p:nvPicPr>
        <p:blipFill>
          <a:blip r:embed="rId4"/>
          <a:stretch>
            <a:fillRect/>
          </a:stretch>
        </p:blipFill>
        <p:spPr>
          <a:xfrm>
            <a:off x="960120" y="5788152"/>
            <a:ext cx="201168" cy="201168"/>
          </a:xfrm>
          <a:prstGeom prst="rect">
            <a:avLst/>
          </a:prstGeom>
        </p:spPr>
      </p:pic>
      <p:sp>
        <p:nvSpPr>
          <p:cNvPr id="27" name="Text 21"/>
          <p:cNvSpPr txBox="1"/>
          <p:nvPr/>
        </p:nvSpPr>
        <p:spPr>
          <a:xfrm>
            <a:off x="1280160" y="5733288"/>
            <a:ext cx="3383280" cy="274320"/>
          </a:xfrm>
          <a:prstGeom prst="rect">
            <a:avLst/>
          </a:prstGeom>
          <a:noFill/>
          <a:ln/>
        </p:spPr>
        <p:txBody>
          <a:bodyPr wrap="square" lIns="0" tIns="0" rIns="0" bIns="0" rtlCol="0" anchor="ctr"/>
          <a:lstStyle/>
          <a:p>
            <a:pPr indent="0" marL="0">
              <a:buNone/>
            </a:pPr>
            <a:r>
              <a:rPr lang="en-US" sz="1200" b="1" spc="-30" kern="0" dirty="0">
                <a:solidFill>
                  <a:srgbClr val="F8F7FC"/>
                </a:solidFill>
                <a:latin typeface="Pretendard" pitchFamily="34" charset="0"/>
                <a:ea typeface="Pretendard" pitchFamily="34" charset="-122"/>
                <a:cs typeface="Pretendard" pitchFamily="34" charset="-120"/>
              </a:rPr>
              <a:t>jiwon@ur-team.com</a:t>
            </a:r>
            <a:endParaRPr lang="en-US" sz="1200" dirty="0"/>
          </a:p>
        </p:txBody>
      </p:sp>
      <p:sp>
        <p:nvSpPr>
          <p:cNvPr id="28" name="Text 22"/>
          <p:cNvSpPr txBox="1"/>
          <p:nvPr/>
        </p:nvSpPr>
        <p:spPr>
          <a:xfrm>
            <a:off x="1280160" y="5980176"/>
            <a:ext cx="3383280" cy="182880"/>
          </a:xfrm>
          <a:prstGeom prst="rect">
            <a:avLst/>
          </a:prstGeom>
          <a:noFill/>
          <a:ln/>
        </p:spPr>
        <p:txBody>
          <a:bodyPr wrap="square" lIns="0" tIns="0" rIns="0" bIns="0" rtlCol="0" anchor="ctr"/>
          <a:lstStyle/>
          <a:p>
            <a:pPr indent="0" marL="0">
              <a:buNone/>
            </a:pPr>
            <a:r>
              <a:rPr lang="en-US" sz="850" dirty="0">
                <a:solidFill>
                  <a:srgbClr val="A9A6A2"/>
                </a:solidFill>
                <a:latin typeface="Pretendard" pitchFamily="34" charset="0"/>
                <a:ea typeface="Pretendard" pitchFamily="34" charset="-122"/>
                <a:cs typeface="Pretendard" pitchFamily="34" charset="-120"/>
              </a:rPr>
              <a:t>제휴 문의</a:t>
            </a:r>
            <a:endParaRPr lang="en-US" sz="850" dirty="0"/>
          </a:p>
        </p:txBody>
      </p:sp>
      <p:sp>
        <p:nvSpPr>
          <p:cNvPr id="29" name="Text 23"/>
          <p:cNvSpPr txBox="1"/>
          <p:nvPr/>
        </p:nvSpPr>
        <p:spPr>
          <a:xfrm>
            <a:off x="5166360" y="5943600"/>
            <a:ext cx="2926080" cy="237744"/>
          </a:xfrm>
          <a:prstGeom prst="rect">
            <a:avLst/>
          </a:prstGeom>
          <a:noFill/>
          <a:ln/>
        </p:spPr>
        <p:txBody>
          <a:bodyPr wrap="square" lIns="0" tIns="0" rIns="0" bIns="0" rtlCol="0" anchor="ctr"/>
          <a:lstStyle/>
          <a:p>
            <a:pPr indent="0" marL="0">
              <a:buNone/>
            </a:pPr>
            <a:r>
              <a:rPr lang="en-US" sz="900" dirty="0">
                <a:solidFill>
                  <a:srgbClr val="8A8580"/>
                </a:solidFill>
                <a:latin typeface="Pretendard" pitchFamily="34" charset="0"/>
                <a:ea typeface="Pretendard" pitchFamily="34" charset="-122"/>
                <a:cs typeface="Pretendard" pitchFamily="34" charset="-120"/>
              </a:rPr>
              <a:t>리스터코퍼레이션 · 사업자등록번호 479-09-02930</a:t>
            </a:r>
            <a:endParaRPr lang="en-US" sz="900" dirty="0"/>
          </a:p>
        </p:txBody>
      </p:sp>
      <p:pic>
        <p:nvPicPr>
          <p:cNvPr id="30" name="Image 4" descr="preencoded.png">    </p:cNvPr>
          <p:cNvPicPr>
            <a:picLocks noChangeAspect="1"/>
          </p:cNvPicPr>
          <p:nvPr/>
        </p:nvPicPr>
        <p:blipFill>
          <a:blip r:embed="rId5"/>
          <a:stretch>
            <a:fillRect/>
          </a:stretch>
        </p:blipFill>
        <p:spPr>
          <a:xfrm>
            <a:off x="8626773" y="717213"/>
            <a:ext cx="2813205" cy="5377855"/>
          </a:xfrm>
          <a:prstGeom prst="rect">
            <a:avLst/>
          </a:prstGeom>
        </p:spPr>
      </p:pic>
      <p:sp>
        <p:nvSpPr>
          <p:cNvPr id="31" name="Text 24"/>
          <p:cNvSpPr txBox="1"/>
          <p:nvPr/>
        </p:nvSpPr>
        <p:spPr>
          <a:xfrm>
            <a:off x="8503920" y="5998464"/>
            <a:ext cx="3058911" cy="274320"/>
          </a:xfrm>
          <a:prstGeom prst="rect">
            <a:avLst/>
          </a:prstGeom>
          <a:noFill/>
          <a:ln/>
        </p:spPr>
        <p:txBody>
          <a:bodyPr wrap="square" lIns="0" tIns="0" rIns="0" bIns="0" rtlCol="0" anchor="ctr"/>
          <a:lstStyle/>
          <a:p>
            <a:pPr algn="ctr" indent="0" marL="0">
              <a:buNone/>
            </a:pPr>
            <a:r>
              <a:rPr lang="en-US" sz="1050" dirty="0">
                <a:solidFill>
                  <a:srgbClr val="6E6B68"/>
                </a:solidFill>
                <a:latin typeface="Pretendard" pitchFamily="34" charset="0"/>
                <a:ea typeface="Pretendard" pitchFamily="34" charset="-122"/>
                <a:cs typeface="Pretendard" pitchFamily="34" charset="-120"/>
              </a:rPr>
              <a:t>신청 폼 (라이브 화면)</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function title(slide, text, { dark = false, y = 1.15, size = 27, w = W - 2 * M } = {}) {
    T(slide, text, { x: M, y, w, h: 0.9, fontSize: size, bold: true, color: dark ? C.darkText : C.ink, valign: 'top', lineSpacingMultiple: 1.15, charSpacing: -0.6 });
  }</dc:title>
  <dc:subject>PptxGenJS Presentation</dc:subject>
  <dc:creator>리스터코퍼레이션</dc:creator>
  <cp:lastModifiedBy>리스터코퍼레이션</cp:lastModifiedBy>
  <cp:revision>1</cp:revision>
  <dcterms:created xsi:type="dcterms:W3CDTF">2026-09-14T05:57:10Z</dcterms:created>
  <dcterms:modified xsi:type="dcterms:W3CDTF">2026-09-14T05:57:10Z</dcterms:modified>
</cp:coreProperties>
</file>